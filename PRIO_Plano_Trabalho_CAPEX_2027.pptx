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CAPEX</c:v>
                </c:pt>
              </c:strCache>
            </c:strRef>
          </c:tx>
          <c:spPr>
            <a:solidFill>
              <a:srgbClr val="0B2A3D"/>
            </a:solidFill>
            <a:effectLst/>
          </c:spPr>
          <c:invertIfNegative val="0"/>
          <c:dLbls>
            <c:numFmt formatCode="0.0&quot;mi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B2A3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B2A3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45C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E7D6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3E5C8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A5A2E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A67C3D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FPSO Peregrino</c:v>
                  </c:pt>
                  <c:pt idx="1">
                    <c:v>WHPA</c:v>
                  </c:pt>
                  <c:pt idx="2">
                    <c:v>WHPB</c:v>
                  </c:pt>
                  <c:pt idx="3">
                    <c:v>WHPC</c:v>
                  </c:pt>
                  <c:pt idx="4">
                    <c:v>FPSO Bravo</c:v>
                  </c:pt>
                  <c:pt idx="5">
                    <c:v>Polvo 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14.82</c:v>
                </c:pt>
                <c:pt idx="1">
                  <c:v>6.29</c:v>
                </c:pt>
                <c:pt idx="2">
                  <c:v>2.35</c:v>
                </c:pt>
                <c:pt idx="3">
                  <c:v>2.55</c:v>
                </c:pt>
                <c:pt idx="4">
                  <c:v>13.98</c:v>
                </c:pt>
                <c:pt idx="5">
                  <c:v>4.28</c:v>
                </c:pt>
              </c:numCache>
            </c:numRef>
          </c:val>
        </c:ser>
        <c:dLbls>
          <c:numFmt formatCode="0.0&quot;mi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0B2A3D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3E8E9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C2B3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3E8E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E3E8E9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B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A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6CE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EXECUTIVA · 2027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33172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&amp;</a:t>
            </a:r>
            <a:endParaRPr lang="en-US" sz="44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Orçamento CAPEX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160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 Peregrino &amp; Cluster Sul  ·  FPSO Peregrino · PLAT A (WHPA) · PLAT B (WHPB) · PLAT C (WHPC) · FPSO Bravo · Polvo A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22960" y="4709160"/>
            <a:ext cx="1005840" cy="0"/>
          </a:xfrm>
          <a:prstGeom prst="line">
            <a:avLst/>
          </a:prstGeom>
          <a:noFill/>
          <a:ln w="31750">
            <a:solidFill>
              <a:srgbClr val="A6CE3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489204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Consolidação do plano de trabalho por frente estratégica e da composição do orçamento de CAPEX 2027, para leitura executiva.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6309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8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Gerado em 25/09/2026  ·  Confidencial – Uso Interno PRIO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E8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EXECUTIVA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21792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Consolidado · Campo Peregrino &amp; Cluster Sul 2027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627120" cy="1234440"/>
          </a:xfrm>
          <a:prstGeom prst="roundRect">
            <a:avLst>
              <a:gd name="adj" fmla="val 5926"/>
            </a:avLst>
          </a:prstGeom>
          <a:solidFill>
            <a:srgbClr val="F0F4F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21792" y="1563624"/>
            <a:ext cx="3297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US$ 44,3 mi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2093976"/>
            <a:ext cx="3297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2313432"/>
            <a:ext cx="3297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· TA por ativo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267200" y="1417320"/>
            <a:ext cx="3627120" cy="1234440"/>
          </a:xfrm>
          <a:prstGeom prst="roundRect">
            <a:avLst>
              <a:gd name="adj" fmla="val 5926"/>
            </a:avLst>
          </a:prstGeom>
          <a:solidFill>
            <a:srgbClr val="F0F4F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431792" y="1563624"/>
            <a:ext cx="3297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142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4431792" y="2093976"/>
            <a:ext cx="3297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ESCOPOS DE CAPEX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4431792" y="2313432"/>
            <a:ext cx="3297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itens em análise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8077200" y="1417320"/>
            <a:ext cx="3627120" cy="1234440"/>
          </a:xfrm>
          <a:prstGeom prst="roundRect">
            <a:avLst>
              <a:gd name="adj" fmla="val 5926"/>
            </a:avLst>
          </a:prstGeom>
          <a:solidFill>
            <a:srgbClr val="F0F4F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41792" y="1563624"/>
            <a:ext cx="3297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115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8241792" y="2093976"/>
            <a:ext cx="3297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NO PLANO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8241792" y="2313432"/>
            <a:ext cx="3297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ativos · 5 frentes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2971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2027 POR ATIVO (US$ milhões)</a:t>
            </a:r>
            <a:endParaRPr lang="en-US" sz="105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365760" y="3291840"/>
          <a:ext cx="576072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46520" y="3291840"/>
          <a:ext cx="5287975" cy="914400"/>
        </p:xfrm>
        <a:graphic>
          <a:graphicData uri="http://schemas.openxmlformats.org/drawingml/2006/table">
            <a:tbl>
              <a:tblPr/>
              <a:tblGrid>
                <a:gridCol w="2220950"/>
                <a:gridCol w="1692152"/>
                <a:gridCol w="1374874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ATIVO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CAPEX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ESCOPOS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</a:rPr>
                        <a:t>FPSO Peregrino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US$ 14,8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23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</a:rPr>
                        <a:t>WHPA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US$ 6,3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10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</a:rPr>
                        <a:t>WHPB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US$ 2,3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7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</a:rPr>
                        <a:t>WHPC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US$ 2,5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8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</a:rPr>
                        <a:t>FPSO Bravo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US$ 14,0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59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</a:rPr>
                        <a:t>Polvo A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US$ 4,3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35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</a:rPr>
                        <a:t>TOTAL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</a:rPr>
                        <a:t>US$ 44,3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</a:rPr>
                        <a:t>142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19" name="Text 15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base 'Geral - Em análise' (aba do arquivo Plano Integrado), somando itens com status 'Contar'. Para FPSO Bravo e Polvo A o total também inclui Parada Programada (status 'TA', com custo aberto no slide de cada ativo); nos demais ativos, TA não está incluído. Nenhum total considera a categoria Desenvolvimento de Produção.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FPSO Peregrino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29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fpso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8784" y="1143000"/>
            <a:ext cx="7914128" cy="53492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· CAPEX · FPSO Peregrino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749040" cy="1600200"/>
          </a:xfrm>
          <a:prstGeom prst="roundRect">
            <a:avLst>
              <a:gd name="adj" fmla="val 5714"/>
            </a:avLst>
          </a:prstGeom>
          <a:solidFill>
            <a:srgbClr val="E4EA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99032"/>
            <a:ext cx="323697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US$ 14,8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13055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048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e Parada Programada (TA)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0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9432" y="160020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US$ 5,1 mi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2167128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138160" y="114300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0F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02752" y="160020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US$ 9,7 mi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8302752" y="2167128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692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77372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US$ 7,5 mi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Processos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377372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US$ 3,8 mi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MNT – Manutenção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377372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US$ 2,4 mi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692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- Construção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377372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US$ 1,0 mi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486460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de Processos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3773729" y="486460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US$ 138,5 mil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7200" y="523036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66928" y="52303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Químicos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3773729" y="52303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US$ 40,0 mil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635508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35508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46480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967160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US$ 5,9 mi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35508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46480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967160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US$ 5,5 mi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646480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Rotina Operacional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967160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US$ 2,9 mi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35508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46480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967160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US$ 643,5 mil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'Contar'. Não inclui itens de Parada Programada (status 'TA') nem a categoria Desenvolvimento de Produção (US$ 0, mantida na lista de Categoria apenas para referência).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FPSO Peregrino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23 itens no total</a:t>
            </a:r>
            <a:endParaRPr lang="en-US" sz="12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PLC das Turbinas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de Internos do Coalescer (TAR)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Overhaul da Bomba Framo (SWLP)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Caldeira 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Modificações Degasser — Conversão Flotadora (TAR)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US$ 950,0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Novo Header de Vapor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US$ 882,9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do Analisador de TOG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US$ 699,3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Overhaul da STG-B e Gerador Elétrico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US$ 698,8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 Sistema Meteoceanográfico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US$ 634,7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dos Transformadores dos Coalescers — DF3 para DF4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US$ 590,2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PLC Caldeiras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US$ 520,4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Ampliação de Cobertura CCTV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US$ 465,4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145C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11 escopos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US$ 1,9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(não inclui Parada Programada, status 'TA').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45C6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PLAT A (WHPA)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24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plata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26352" y="1143000"/>
            <a:ext cx="7938991" cy="53492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45C6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· CAPEX · PLAT A (WHPA)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749040" cy="1600200"/>
          </a:xfrm>
          <a:prstGeom prst="roundRect">
            <a:avLst>
              <a:gd name="adj" fmla="val 5714"/>
            </a:avLst>
          </a:prstGeom>
          <a:solidFill>
            <a:srgbClr val="E4EA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99032"/>
            <a:ext cx="323697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US$ 6,3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13055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048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e Parada Programada (TA)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0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9432" y="160020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US$ 5,1 mi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2167128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138160" y="114300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0F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02752" y="160020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US$ 1,2 mi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8302752" y="2167128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692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MNT – Manutenção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77372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US$ 3,5 mi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377372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US$ 2,2 mi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- Construção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377372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US$ 603,5 mil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692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Químicos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377372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US$ 30,0 mil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486460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de Processos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3773729" y="486460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US$ 4,0 mil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635508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35508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46480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967160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US$ 3,5 mi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35508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46480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967160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US$ 1,2 mi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46480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967160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US$ 1,1 mi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35508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46480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Rotina Operacional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967160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US$ 465,5 mil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'Contar'. Não inclui itens de Parada Programada (status 'TA') nem a categoria Desenvolvimento de Produção (US$ 0, mantida na lista de Categoria apenas para referência).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45C6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PLAT A (WHPA)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10 itens no total</a:t>
            </a:r>
            <a:endParaRPr lang="en-US" sz="12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da lança do Guindaste Oeste 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US$ 3,5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Detectores H2S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US$ 603,5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 PAGA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US$ 564,1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Ampliação de Cobertura CCTV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US$ 465,5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dos HVACs das Salas de VFDs - Fase III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US$ 382,1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800XA - Fase II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US$ 305,7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800XA - Fase 3 Firmware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US$ 266,9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 DE ENGENHARIA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US$ 169,5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Implementação metodologia offshore para medição residual de polímero na água produzida 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Químicos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Implementação do BRAlarm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Segurança de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(não inclui Parada Programada, status 'TA').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2E7D6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PLAT B (WHPB)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19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platb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288" y="1143000"/>
            <a:ext cx="11247120" cy="51735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2E7D6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· CAPEX · PLAT B (WHPB)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749040" cy="1600200"/>
          </a:xfrm>
          <a:prstGeom prst="roundRect">
            <a:avLst>
              <a:gd name="adj" fmla="val 5714"/>
            </a:avLst>
          </a:prstGeom>
          <a:solidFill>
            <a:srgbClr val="E4EA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99032"/>
            <a:ext cx="323697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US$ 2,3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13055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048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e Parada Programada (TA)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0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9432" y="160020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US$ 1,2 mi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2167128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138160" y="114300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0F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02752" y="160020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US$ 1,1 mi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8302752" y="2167128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692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77372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US$ 2,3 mi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de Processos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377372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US$ 4,0 mil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35508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35508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6480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967160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US$ 1,7 mi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5508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46480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67160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US$ 596,5 mil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646480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967160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US$ 4,0 mil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'Contar'. Não inclui itens de Parada Programada (status 'TA') nem a categoria Desenvolvimento de Produção (US$ 0, mantida na lista de Categoria apenas para referência).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2E7D6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PLAT B (WHPB)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7 itens no total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detectores H2S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US$ 603,5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 nova unidade de Osmose Reversa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US$ 509,4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CCTV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US$ 465,4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800XA - Fase 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US$ 328,2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800XA - Fase 3 Firmware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US$ 268,3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 DE ENGENHARIA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US$ 169,5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Implementação do BRAlarm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Segurança de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(não inclui Parada Programada, status 'TA').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3E5C8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PLAT C (WHPC)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19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platc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288" y="1143000"/>
            <a:ext cx="11247120" cy="488311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3E5C8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· CAPEX · PLAT C (WHPC)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749040" cy="1600200"/>
          </a:xfrm>
          <a:prstGeom prst="roundRect">
            <a:avLst>
              <a:gd name="adj" fmla="val 5714"/>
            </a:avLst>
          </a:prstGeom>
          <a:solidFill>
            <a:srgbClr val="E4EA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99032"/>
            <a:ext cx="323697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US$ 2,5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13055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048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e Parada Programada (TA)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0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9432" y="160020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US$ 1,5 mi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2167128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138160" y="114300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0F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02752" y="160020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US$ 1,0 mi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8302752" y="2167128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692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77372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US$ 1,8 mi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Processos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377372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US$ 707,6 mil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de Processos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377372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US$ 4,0 mil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635508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35508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46480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967160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US$ 1,9 mi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35508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46480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967160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US$ 596,5 mil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646480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967160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US$ 4,0 mil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'Contar'. Não inclui itens de Parada Programada (status 'TA') nem a categoria Desenvolvimento de Produção (US$ 0, mantida na lista de Categoria apenas para referência).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3E5C8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PLAT C (WHPC)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8 itens no total</a:t>
            </a:r>
            <a:endParaRPr lang="en-US" sz="12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Isolamento Térmico e Heat Tracing — Linha de FG (WHP-C)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US$ 707,6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detectores H2S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US$ 603,5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CCTV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US$ 465,4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800XA - Fase 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US$ 328,2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800XA - Fase 3 Firmware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US$ 268,3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 DE ENGENHARIA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US$ 169,5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Implementação do BRAlarm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Segurança de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Sistema de Injeção de Sequestrante de H2S - WHPC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(não inclui Parada Programada, status 'TA').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8A5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FB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FPSO Bravo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15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bravo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288" y="1143000"/>
            <a:ext cx="11247120" cy="39974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8A5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FB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· CAPEX · FPSO Bravo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 + 'TA'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749040" cy="1600200"/>
          </a:xfrm>
          <a:prstGeom prst="roundRect">
            <a:avLst>
              <a:gd name="adj" fmla="val 5714"/>
            </a:avLst>
          </a:prstGeom>
          <a:solidFill>
            <a:srgbClr val="E4EA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99032"/>
            <a:ext cx="323697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US$ 14,0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13055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048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· inclui Parada Programada (TA)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9432" y="123444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US$ 9,0 mi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160020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TOTAL SEM TA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138160" y="11430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02752" y="123444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US$ 5,0 mi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302752" y="160020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TA (PARADA PROGRAMADA)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434840" y="201168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99432" y="210312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US$ 3,8 mi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4599432" y="246888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8138160" y="201168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302752" y="210312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US$ 10,2 mi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8302752" y="246888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692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EIM - Manutenção &amp; Integridade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377372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US$ 5,6 mi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6692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- Parada Programada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377372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US$ 5,0 mi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377372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US$ 1,2 mi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6692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 e Segurança Ocupacional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377372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US$ 960,0 mil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486460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– Medição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3773729" y="486460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US$ 955,5 mil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57200" y="523036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66928" y="52303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Químicos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3773729" y="52303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US$ 192,5 mil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566928" y="55961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Processos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3773729" y="55961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US$ 113,7 mil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635508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35508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46480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967160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US$ 6,0 mi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35508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46480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Rotina Operacional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967160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US$ 5,6 mi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646480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967160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US$ 1,3 mi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635508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646480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1100" dirty="0"/>
          </a:p>
        </p:txBody>
      </p:sp>
      <p:sp>
        <p:nvSpPr>
          <p:cNvPr id="52" name="Text 50"/>
          <p:cNvSpPr txBox="1"/>
          <p:nvPr/>
        </p:nvSpPr>
        <p:spPr>
          <a:xfrm>
            <a:off x="967160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US$ 1,2 mi</a:t>
            </a:r>
            <a:endParaRPr lang="en-US" sz="1100" dirty="0"/>
          </a:p>
        </p:txBody>
      </p:sp>
      <p:sp>
        <p:nvSpPr>
          <p:cNvPr id="53" name="Text 51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 (Custo Total sem TA) e 'TA' (Custo TA, Parada Programada). O total desconsidera a categoria Desenvolvimento de Produção (US$ 0).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8A5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FB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FPSO Bravo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59 itens no total</a:t>
            </a:r>
            <a:endParaRPr lang="en-US" sz="12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L3 GTG B + MANUTENÇÃO GERADOR 25KH GTG 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US$ 4,8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Mecânica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US$ 1,5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Elétrica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US$ 982,4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Caldeiraria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US$ 816,1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DA CARGO PUMP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US$ 721,9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Retrofit sistema fixo de CO2 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Saúde e Segurança Ocupacional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US$ 670,0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NR13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US$ 659,4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Novas Destiladoras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US$ 411,9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 Sensores de Hidrogênio nas Salas de Baterias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US$ 281,8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Desmobilização 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US$ 247,6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Mobilização 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US$ 247,6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Comutação tanques de diesel (tanque e sedimentação e serviço)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US$ 236,6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145C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47 escopos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+ 'TA' (inclui Parada Programada).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A67C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Polvo A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9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polvoa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288" y="1143000"/>
            <a:ext cx="11247120" cy="370459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A67C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· CAPEX · Polvo A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 + 'TA'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749040" cy="1600200"/>
          </a:xfrm>
          <a:prstGeom prst="roundRect">
            <a:avLst>
              <a:gd name="adj" fmla="val 5714"/>
            </a:avLst>
          </a:prstGeom>
          <a:solidFill>
            <a:srgbClr val="E4EA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99032"/>
            <a:ext cx="323697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US$ 4,3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13055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048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· inclui Parada Programada (TA)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9432" y="123444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US$ 2,7 mi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160020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TOTAL SEM TA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138160" y="11430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02752" y="123444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US$ 1,6 mi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302752" y="160020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TA (PARADA PROGRAMADA)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434840" y="201168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99432" y="210312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US$ 2,3 mi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4599432" y="246888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8138160" y="201168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302752" y="210312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US$ 2,0 mi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8302752" y="246888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692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377372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US$ 2,4 mi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6692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- Parada Programada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377372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US$ 1,6 mi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 e Segurança Ocupacional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377372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US$ 200,0 mil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6692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– Medição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377372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US$ 81,3 mil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635508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35508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46480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967160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US$ 2,5 mi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35508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46480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967160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US$ 1,6 mi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646480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967160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US$ 200,0 mil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 (Custo Total sem TA) e 'TA' (Custo TA, Parada Programada). O total desconsidera a categoria Desenvolvimento de Produção (US$ 0).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A67C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Polvo A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35 itens no total</a:t>
            </a:r>
            <a:endParaRPr lang="en-US" sz="12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Retrofit do Motor - Bomba de Incêndio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US$ 863,1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Revitalização do compressor de Ar de Instrumento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US$ 544,8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Caldeiraria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US$ 484,9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 novos Detectores de Gás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US$ 447,3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Repetidoras de Rádio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US$ 217,9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NR13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US$ 173,2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da Estação Meteorológica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US$ 169,1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Desmobilização 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US$ 162,1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Mobilização 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US$ 162,1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Implantação do projeto 'Muster Digital'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Saúde e Segurança Ocupacional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US$ 150,0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PÓS TA - NR13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US$ 135,6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 TA - Caldeiraria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US$ 132,9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145C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23 escopos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US$ 640,4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+ 'TA' (inclui Parada Programada).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2026-09-28T17:45:57Z</dcterms:created>
  <dcterms:modified xsi:type="dcterms:W3CDTF">2026-09-28T17:45:57Z</dcterms:modified>
</cp:coreProperties>
</file>