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0B2A3D"/>
            </a:solidFill>
            <a:effectLst/>
          </c:spPr>
          <c:invertIfNegative val="0"/>
          <c:dLbls>
            <c:numFmt formatCode="0.0&quot;mi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C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5C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5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67C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2E2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FPSO Peregrino</c:v>
                  </c:pt>
                  <c:pt idx="1">
                    <c:v>WHPA</c:v>
                  </c:pt>
                  <c:pt idx="2">
                    <c:v>WHPB</c:v>
                  </c:pt>
                  <c:pt idx="3">
                    <c:v>WHPC</c:v>
                  </c:pt>
                  <c:pt idx="4">
                    <c:v>FPSO Bravo</c:v>
                  </c:pt>
                  <c:pt idx="5">
                    <c:v>Polvo A</c:v>
                  </c:pt>
                  <c:pt idx="6">
                    <c:v>FPSO Frade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14.82</c:v>
                </c:pt>
                <c:pt idx="1">
                  <c:v>6.29</c:v>
                </c:pt>
                <c:pt idx="2">
                  <c:v>2.35</c:v>
                </c:pt>
                <c:pt idx="3">
                  <c:v>2.55</c:v>
                </c:pt>
                <c:pt idx="4">
                  <c:v>13.98</c:v>
                </c:pt>
                <c:pt idx="5">
                  <c:v>4.28</c:v>
                </c:pt>
                <c:pt idx="6">
                  <c:v>66.26</c:v>
                </c:pt>
              </c:numCache>
            </c:numRef>
          </c:val>
        </c:ser>
        <c:dLbls>
          <c:numFmt formatCode="0.0&quot;mi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2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8E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&amp;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CAPEX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Peregrino, Cluster Sul &amp; FPSO Frade  ·  FPSO Peregrino · PLAT A (WHPA) · PLAT B (WHPB) · PLAT C (WHPC) · FPSO Bravo · Polvo A · FPSO Frade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31750">
            <a:solidFill>
              <a:srgbClr val="A6CE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 plano de trabalho por frente estratégica e da composição do orçamento de CAPEX 2027, para leitura executiva.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25/09/2026  ·  Confidencial – Uso Interno PRIO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 · Campo Peregrino, Cluster Sul &amp; FPSO Frade 2027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US$ 110,5 mi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TA por ativo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DE CAPEX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3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análise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77200" y="1417320"/>
            <a:ext cx="3627120" cy="1234440"/>
          </a:xfrm>
          <a:prstGeom prst="roundRect">
            <a:avLst>
              <a:gd name="adj" fmla="val 5926"/>
            </a:avLst>
          </a:prstGeom>
          <a:solidFill>
            <a:srgbClr val="F0F4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1792" y="1563624"/>
            <a:ext cx="3297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41792" y="2093976"/>
            <a:ext cx="3297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NO PLANO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41792" y="2313432"/>
            <a:ext cx="329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ativos · 5 frentes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2027 POR ATIVO (US$ milhões)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329184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291840"/>
          <a:ext cx="5287975" cy="914400"/>
        </p:xfrm>
        <a:graphic>
          <a:graphicData uri="http://schemas.openxmlformats.org/drawingml/2006/table">
            <a:tbl>
              <a:tblPr/>
              <a:tblGrid>
                <a:gridCol w="2220950"/>
                <a:gridCol w="1692152"/>
                <a:gridCol w="137487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ATIVO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ESCOPOS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FPSO Peregrino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US$ 14,8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23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WHPA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US$ 6,3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WHPB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US$ 2,3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WHPC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US$ 2,5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FPSO Bravo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US$ 14,0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59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Polvo 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US$ 4,3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B33"/>
                          </a:solidFill>
                        </a:rPr>
                        <a:t>FPSO Frade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US$ 66,3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</a:rPr>
                        <a:t>89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US$ 110,5 mi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</a:rPr>
                        <a:t>231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base 'Geral - Em análise' (aba do arquivo Plano Integrado), somando itens com status 'Contar'. Para FPSO Bravo e Polvo A o total também inclui Parada Programada (status 'TA', com custo aberto no slide de cada ativo); nos demais ativos, TA não está incluído. Nenhum total considera a categoria Desenvolvimento de Produção.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29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fpso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784" y="1143000"/>
            <a:ext cx="7914128" cy="5349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US$ 14,8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US$ 5,1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US$ 9,7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US$ 7,5 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US$ 3,8 mi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US$ 2,4 mi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US$ 1,0 mi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86460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773729" y="486460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US$ 138,5 mil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3036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52303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773729" y="52303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US$ 40,0 mil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US$ 5,9 mi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US$ 5,5 mi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US$ 2,9 mi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6480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7160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US$ 643,5 mil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23 itens no total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PLC das Turbinas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de Internos do Coalescer (TAR)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da Bomba Framo (SWLP)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Caldeira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Modificações Degasser — Conversão Flotadora (TAR)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Novo Header de Vapor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US$ 882,9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do Analisador de TOG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US$ 699,3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da STG-B e Gerador Elétrico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US$ 698,8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 Sistema Meteoceanográfico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US$ 634,7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dos Transformadores dos Coalescers — DF3 para DF4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US$ 590,2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PLC Caldeiras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Ampliação de Cobertura CCTV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US$ 465,4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11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PLAT A (WHPA)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24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plat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352" y="1143000"/>
            <a:ext cx="7938991" cy="5349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PLAT A (WHPA)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US$ 6,3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US$ 5,1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US$ 1,2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US$ 3,5 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US$ 2,2 mi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US$ 603,5 mil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US$ 30,0 mil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86460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773729" y="486460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US$ 3,5 mi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US$ 1,2 mi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US$ 1,1 mi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480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7160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US$ 465,5 mil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PLAT A (WHPA)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10 itens no total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 lança do Guindaste Oeste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US$ 3,5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Detectores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 PAGA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US$ 564,1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Ampliação de Cobertura CCTV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US$ 465,5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dos HVACs das Salas de VFDs - Fase 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US$ 382,1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US$ 305,7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3 Firmware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US$ 266,9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US$ 169,5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 metodologia offshore para medição residual de polímero na água produzida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Químicos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 do BRAlarm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PLAT B (WHPB)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19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platb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51735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PLAT B (WHPB)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US$ 1,2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US$ 1,1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US$ 2,3 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US$ 1,7 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US$ 596,5 mil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PLAT B (WHPB)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7 itens no total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detectores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nova unidade de Osmose Reversa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US$ 509,4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CCTV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US$ 465,4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3 Firmware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US$ 268,3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US$ 169,5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 do BRAlarm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PLAT C (WHPC)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19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platc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48831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PLAT C (WHPC)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US$ 2,5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US$ 1,5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US$ 1,0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US$ 1,8 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US$ 707,6 mil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US$ 1,9 mi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US$ 596,5 mil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PLAT C (WHPC)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8 itens no total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 Térmico e Heat Tracing — Linha de FG (WHP-C)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US$ 707,6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detectores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CCTV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US$ 465,4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3 Firmware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US$ 268,3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US$ 169,5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 do BRAlarm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Injeção de Sequestrante de H2S - WHPC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15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bravo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39974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 + 'TA'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US$ 14,0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inclui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US$ 9,0 mi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SEM 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US$ 5,0 mi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TA (PARADA PROGRAMADA)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943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US$ 3,8 mi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US$ 10,2 mi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 - Manutenção &amp; Integridade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US$ 5,6 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US$ 5,0 mi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US$ 1,2 mi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US$ 960,0 mil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86460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73729" y="486460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US$ 955,5 mil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23036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52303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773729" y="52303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US$ 192,5 mil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961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773729" y="55961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US$ 113,7 mil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US$ 6,0 mi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US$ 5,6 mi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US$ 1,3 mi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6480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67160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US$ 1,2 mi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 (Custo Total sem TA) e 'TA' (Custo TA, Parada Programada). O total desconsidera a categoria Desenvolvimento de Produção (US$ 0).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59 itens no total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GTG B + MANUTENÇÃO GERADOR 25KH GTG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- Manutenção &amp;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US$ 4,8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Mecânica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US$ 1,5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Elétrica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US$ 982,4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US$ 816,1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DA CARGO PUMP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- Manutenção &amp;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US$ 721,9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sistema fixo de CO2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US$ 670,0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US$ 659,4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Destiladoras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US$ 411,9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Sensores de Hidrogênio nas Salas de Baterias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US$ 281,8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US$ 247,6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US$ 247,6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Comutação tanques de diesel (tanque e sedimentação e serviço)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US$ 236,6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47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+ 'TA' (inclui Parada Programada).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9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polvo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37045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 + 'TA'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· inclui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US$ 2,7 mi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SEM 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23444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US$ 1,6 mi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TA (PARADA PROGRAMADA)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943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US$ 2,3 mi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0F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210312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US$ 2,0 mi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688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7372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US$ 2,4 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7372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US$ 1,6 mi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7372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US$ 200,0 mil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9884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449884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73729" y="449884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US$ 81,3 mil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64808" y="340156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71609" y="340156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US$ 2,5 mi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67328"/>
            <a:ext cx="5349240" cy="36576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64808" y="376732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71609" y="376732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US$ 1,6 mi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4133088"/>
            <a:ext cx="3316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671609" y="4133088"/>
            <a:ext cx="1815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US$ 200,0 mil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 (Custo Total sem TA) e 'TA' (Custo TA, Parada Programada). O total desconsidera a categoria Desenvolvimento de Produção (US$ 0).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A67C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35 itens no total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do Motor - Bomba de Incêndio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US$ 863,1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do compressor de Ar de Instrumento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US$ 544,8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US$ 484,9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novos Detectores de Gás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US$ 447,3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Repetidoras de Rádio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US$ 217,9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US$ 173,2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 Estação Meteorológica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US$ 169,1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US$ 162,1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Mobilização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US$ 162,1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 do projeto 'Muster Digital'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TA - NR13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US$ 135,6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 TA - Caldeiraria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US$ 132,9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23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US$ 640,4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+ 'TA' (inclui Parada Programada).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Core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15 atividades distribuídas em 5 frentes estratégicas · Horizonte 1T27 – 4T27</a:t>
            </a:r>
            <a:endParaRPr lang="en-US" sz="1250" dirty="0"/>
          </a:p>
        </p:txBody>
      </p:sp>
      <p:pic>
        <p:nvPicPr>
          <p:cNvPr id="6" name="Image 0" descr="frad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143000"/>
            <a:ext cx="11247120" cy="42926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de Custo ·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Base: aba 'Geral - Em análise' · status 'Contar'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E4E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399032"/>
            <a:ext cx="323697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US$ 66,3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305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TOTAL 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Desenvolvimento de Produção e Parada Programada (TA)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US$ 30,4 mi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0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1600200"/>
            <a:ext cx="323697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US$ 35,9 mi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1671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4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REQUISITANTE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40156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773729" y="340156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US$ 24,9 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83203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683203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773729" y="3683203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US$ 15,7 mi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96483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773729" y="396483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US$ 13,6 mi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4647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24647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773729" y="424647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US$ 3,8 mi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528109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- Integridade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773729" y="4528109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US$ 2,1 mi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80974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480974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- Administrativo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773729" y="480974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US$ 2,1 mi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091379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773729" y="5091379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US$ 2,0 mi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37301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6928" y="537301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773729" y="537301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US$ 1,1 mi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654650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773729" y="5654650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US$ 822,3 mil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936285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6928" y="5936285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773729" y="5936285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US$ 75,1 mil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3017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310128"/>
            <a:ext cx="5349240" cy="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64808" y="340156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Estar/Segurança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671609" y="340156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US$ 22,7 mi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3683203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64808" y="3683203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Operacional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71609" y="3683203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US$ 17,4 mi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464808" y="3964838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e Regulatório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71609" y="3964838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US$ 15,0 mi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55080" y="4246474"/>
            <a:ext cx="5349240" cy="281635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64808" y="4246474"/>
            <a:ext cx="331652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Produção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671609" y="4246474"/>
            <a:ext cx="181599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US$ 11,2 mi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soma de Custo de Serviço + Custo de Material (Jan–Dez), para itens de Cost Allocation = CAPEX com status 'Contar'. Não inclui itens de Parada Programada (status 'TA') nem a categoria Desenvolvimento de Produção (US$ 0, mantida na lista de Categoria apenas para referência).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escopos por valor · 89 itens no total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Guincho de Pull In + Reforma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BOOGIES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L3 - TURBINA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Frade 100K (Fase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 PARTS RECONDICIONAMENTO DOS BOOGIES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do Casario - Acomodação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- Administrativo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linha offloading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IGG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Gerador de Nitrogênio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de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Skids de Dilúvio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Compra e Instalação de Cabines de Dilúvio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77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US$ 17,9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que Compõem o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723790"/>
                <a:gridCol w="2249424"/>
                <a:gridCol w="2474366"/>
                <a:gridCol w="1799539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TROCADOR DE CALOR DO GERADOR - GT4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US$ 876,9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Detectores de Chama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US$ 826,2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E INSTALAÇÃO DA PIGGING PUMP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US$ 773,5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Retrofit do sistema fixo de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BOMBA DE AMINA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SWRO A: Recuperação do sistema de WW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US$ 571,9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TBM - Junta de expansão exhaust - TURBINAS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US$ 560,7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Revamp das cabines de water 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dos trocadores HBG 1040. (Material)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US$ 470,4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R&amp;R - REPARO DE SELOS DGS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US$ 463,5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 Aquisição de transformadores de melhor tecnologia dos tratadores eletrostáticos (Óleo - 1º TRI)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US$ 460,2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US$ 430,5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CABO SANSO - HAWSER WINCH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US$ 429,7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145C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62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Plano Integrado · aba 'Geral - Em análise' · coluna 'Valor Total' · itens de Cost Allocation = CAPEX, status 'Contar' (não inclui Parada Programada, status 'TA'). Lista completa disponível na planilha em anexo.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2026-09-28T22:25:35Z</dcterms:created>
  <dcterms:modified xsi:type="dcterms:W3CDTF">2026-09-28T22:25:35Z</dcterms:modified>
</cp:coreProperties>
</file>