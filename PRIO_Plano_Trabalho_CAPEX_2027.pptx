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0B2A3D"/>
            </a:solidFill>
            <a:effectLst/>
          </c:spPr>
          <c:invertIfNegative val="0"/>
          <c:dLbls>
            <c:numFmt formatCode="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A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2A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5C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5C8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5A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67C3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7A2E2E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FPSO Peregrino</c:v>
                  </c:pt>
                  <c:pt idx="1">
                    <c:v>WHPA</c:v>
                  </c:pt>
                  <c:pt idx="2">
                    <c:v>WHPB</c:v>
                  </c:pt>
                  <c:pt idx="3">
                    <c:v>WHPC</c:v>
                  </c:pt>
                  <c:pt idx="4">
                    <c:v>FPSO Bravo</c:v>
                  </c:pt>
                  <c:pt idx="5">
                    <c:v>Polvo A</c:v>
                  </c:pt>
                  <c:pt idx="6">
                    <c:v>FPSO Frade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22.21</c:v>
                </c:pt>
                <c:pt idx="1">
                  <c:v>12.54</c:v>
                </c:pt>
                <c:pt idx="2">
                  <c:v>6.61</c:v>
                </c:pt>
                <c:pt idx="3">
                  <c:v>5.62</c:v>
                </c:pt>
                <c:pt idx="4">
                  <c:v>16.04</c:v>
                </c:pt>
                <c:pt idx="5">
                  <c:v>5.91</c:v>
                </c:pt>
                <c:pt idx="6">
                  <c:v>58.73</c:v>
                </c:pt>
              </c:numCache>
            </c:numRef>
          </c:val>
        </c:ser>
        <c:dLbls>
          <c:numFmt formatCode="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2A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2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CAPEX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&amp; FPSO Frade  ·  FPSO Peregrino · PLAT A (WHPA) · PLAT B (WHPB) · PLAT C (WHPC) · FPSO Bravo · Polvo A · FPSO Frade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005840" cy="0"/>
          </a:xfrm>
          <a:prstGeom prst="line">
            <a:avLst/>
          </a:prstGeom>
          <a:noFill/>
          <a:ln w="31750">
            <a:solidFill>
              <a:srgbClr val="A6CE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do plano de trabalho por frente estratégica e da composição do orçamento de CAPEX 2027, para leitura executiva.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em 25/09/2026  ·  Confidencial –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 · Campo Peregrino, Cluster Sul &amp; FPSO Frade 2027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US$ 127,7 mi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TA por ativo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26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310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3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ESCOPOS DE CAPEX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43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análise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07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130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4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NO PLANO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24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ativos · 5 frentes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2027 POR ATIVO (US$ milhões)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65760" y="329184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291840"/>
          <a:ext cx="5287975" cy="914400"/>
        </p:xfrm>
        <a:graphic>
          <a:graphicData uri="http://schemas.openxmlformats.org/drawingml/2006/table">
            <a:tbl>
              <a:tblPr/>
              <a:tblGrid>
                <a:gridCol w="2220950"/>
                <a:gridCol w="1692152"/>
                <a:gridCol w="137487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ATIVO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ESCOPOS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Peregrino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US$ 22,2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47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US$ 12,5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34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US$ 6,6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US$ 5,6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Bravo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US$ 16,0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63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Polvo 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US$ 5,9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37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Frade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US$ 58,7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71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US$ 127,7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310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base 'Geral - Em análise' (aba do arquivo Plano Integrado), somando itens com status 'Contar'. Para FPSO Peregrino, PLAT A (WHPA), PLAT B (WHPB), PLAT C (WHPC), FPSO Bravo e Polvo A o total também inclui Parada Programada (status 'TA', com custo aberto no slide de cada ativo); nos demais ativos, TA não está incluído. Nenhum total considera a categoria Desenvolvimento de Produção.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ps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8784" y="1143000"/>
            <a:ext cx="7914128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US$ 22,2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US$ 16,9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US$ 5,3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US$ 6,8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US$ 15,4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US$ 5,3 mi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52810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Manutenções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52810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US$ 1,3 mi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480974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480974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480974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US$ 1,0 mi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09137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09137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US$ 620,0 mil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37301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537301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3773729" y="537301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US$ 138,5 mil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654650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3773729" y="5654650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US$ 76,3 mil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7200" y="5936285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66928" y="5936285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3773729" y="5936285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US$ 50,0 mil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46480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US$ 12,5 mi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35508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6480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967160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US$ 6,1 mi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646480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967160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US$ 2,9 mi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635508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46480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967160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US$ 643,5 mil</a:t>
            </a:r>
            <a:endParaRPr 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47 itens no total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Membrana do Sistema de Geração de Nitrogênio Alpha e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 -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-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-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Modificações Degasser — Conversão Flotadora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do Analisador de TOG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US$ 699,3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35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24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352" y="1143000"/>
            <a:ext cx="7938991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US$ 12,5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US$ 8,7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US$ 3,9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US$ 6,3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US$ 6,2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US$ 3,9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US$ 3,9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US$ 2,2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US$ 2,0 mi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US$ 603,5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US$ 40,0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961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961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US$ 5,5 mi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US$ 5,4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US$ 475,5 mil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34 itens no total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US$ 684,3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US$ 684,3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PAGA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US$ 457,1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US$ 444,3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US$ 425,7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HVACs das Salas de VFDs - Fase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22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b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51735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US$ 6,6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US$ 4,4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US$ 2,1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US$ 4,5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US$ 2,3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US$ 2,3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US$ 2,0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US$ 2,6 mi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US$ 10,0 mil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29 itens no total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nova unidade de Osmose Reversa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US$ 217,4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US$ 186,2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c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8831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US$ 5,6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US$ 2,6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US$ 3,1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US$ 3,3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US$ 3,1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US$ 707,6 mil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US$ 5,0 mi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US$ 10,0 mil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29 itens no total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 Térmico e Heat Tracing — Linha de FG (WHP-C)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US$ 374,4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US$ 366,8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US$ 326,9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US$ 255,3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brav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9974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US$ 16,0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US$ 11,0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US$ 5,0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US$ 5,3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US$ 10,7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US$ 6,4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53612"/>
            <a:ext cx="5349240" cy="352044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53612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53612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US$ 5,0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05656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05656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57700"/>
            <a:ext cx="5349240" cy="352044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57700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57700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US$ 955,5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09744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09744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US$ 915,5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161788"/>
            <a:ext cx="5349240" cy="352044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161788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161788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US$ 670,0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13832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13832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US$ 192,5 mil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5865876"/>
            <a:ext cx="5349240" cy="352044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5865876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3773729" y="5865876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US$ 107,3 mil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64808" y="3401568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401568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US$ 6,4 mi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355080" y="3753612"/>
            <a:ext cx="5349240" cy="352044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464808" y="3753612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9671609" y="3753612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US$ 6,0 mi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464808" y="4105656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105656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US$ 2,8 mi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355080" y="4457700"/>
            <a:ext cx="5349240" cy="352044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64808" y="4457700"/>
            <a:ext cx="3316529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9671609" y="4457700"/>
            <a:ext cx="181599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US$ 862,4 mil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63 itens no total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Swivel - Pacote Hidráulico (OneSubsea)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US$ 982,4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US$ 816,1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Manutenção no Swivel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fixo de CO2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Redundância do Sistema de Compressão de Gás - Trem Alfa + Trem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US$ 360,0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Sensores de Hidrogênio nas Salas de Baterias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US$ 281,8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51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olvo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70459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US$ 5,9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US$ 4,3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US$ 1,6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US$ 3,2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US$ 2,7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US$ 1,6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US$ 298,0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US$ 206,8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961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961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US$ 38,2 mil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US$ 2,5 mi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US$ 1,5 mi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37 itens no total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Compra de Placas de controle dos VFDs Rockwell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MPP - Adequação do sistema de Selagem Multifásica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US$ 484,9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dos banheiros dos camarotes de POLVO 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US$ 298,0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Repetidoras de Rádio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Flowline - Passagem de PIG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US$ 206,8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US$ 173,2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Estação Meteorológica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25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rade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2926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US$ 58,7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US$ 25,5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US$ 33,2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US$ 21,1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US$ 15,7 mi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US$ 13,6 mi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52810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52810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" y="480974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480974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3773729" y="480974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509137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3773729" y="509137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537301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66928" y="537301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3773729" y="537301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US$ 822,3 mil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654650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3773729" y="5654650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US$ 411,6 mil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5936285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66928" y="5936285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3773729" y="5936285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US$ 75,1 mil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6480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67160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US$ 17,0 mi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5508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6480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US$ 17,0 mi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646480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967160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US$ 13,3 mi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35508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46480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967160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US$ 11,4 mi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71 itens no total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 Casario - Acomodação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TROCADOR DE CALOR DO GERADOR - GT4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US$ 861,0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44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Detectores de Chama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US$ 826,2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 E INSTALAÇÃO DA PIGGING PUMP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US$ 773,5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Retrofit do sistema fixo de CO2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BOMBA DE AMINA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SWRO A: Recuperação do sistema de WW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US$ 571,9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Boiler Chromalox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US$ 523,6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Mist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TBM - Junta de expansão exhaust -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dos trocadores HBG 1040. (Material)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R&amp;R - REPARO DE SELOS DGS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18- Aquisição de transformadores de melhor tecnologia dos tratadores eletrostáticos (Óleo - 1º TRI)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CABO SANSO - HAWSER WINCH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US$ 429,7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Fabricação de Etiquetas de TAG - Código de Cores e Sentido de Fluxo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NOVOS PAINÉIS ICCP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e Comissionamento OSPREY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44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2026-10-05T23:43:20Z</dcterms:created>
  <dcterms:modified xsi:type="dcterms:W3CDTF">2026-10-05T23:43:20Z</dcterms:modified>
</cp:coreProperties>
</file>