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0B2A3D"/>
            </a:solidFill>
            <a:effectLst/>
          </c:spPr>
          <c:invertIfNegative val="0"/>
          <c:dLbls>
            <c:numFmt formatCode="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2A3D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2A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C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E7D6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5C8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5A2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67C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FPSO Peregrino</c:v>
                  </c:pt>
                  <c:pt idx="1">
                    <c:v>WHPA</c:v>
                  </c:pt>
                  <c:pt idx="2">
                    <c:v>WHPB</c:v>
                  </c:pt>
                  <c:pt idx="3">
                    <c:v>WHPC</c:v>
                  </c:pt>
                  <c:pt idx="4">
                    <c:v>FPSO Bravo</c:v>
                  </c:pt>
                  <c:pt idx="5">
                    <c:v>Polvo 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14.82</c:v>
                </c:pt>
                <c:pt idx="1">
                  <c:v>6.29</c:v>
                </c:pt>
                <c:pt idx="2">
                  <c:v>2.35</c:v>
                </c:pt>
                <c:pt idx="3">
                  <c:v>2.55</c:v>
                </c:pt>
                <c:pt idx="4">
                  <c:v>13.98</c:v>
                </c:pt>
                <c:pt idx="5">
                  <c:v>4.28</c:v>
                </c:pt>
              </c:numCache>
            </c:numRef>
          </c:val>
        </c:ser>
        <c:dLbls>
          <c:numFmt formatCode="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B2A3D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C2B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3E8E9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3317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&amp;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CAPEX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 · Cluster Sul  ·  FPSO Peregrino · PLAT A · PLAT B · PLAT C · FPSO Bravo · Polvo 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4709160"/>
            <a:ext cx="1005840" cy="0"/>
          </a:xfrm>
          <a:prstGeom prst="line">
            <a:avLst/>
          </a:prstGeom>
          <a:noFill/>
          <a:ln w="31750">
            <a:solidFill>
              <a:srgbClr val="A6CE3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8920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Consolidação do plano de trabalho por frente estratégica e da composição do orçamento de CAPEX 2027, para leitura executiva.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Gerado em 25/09/2026  ·  Confidencial –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E8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2179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 · Campo Peregrino &amp; Cluster Sul 2027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US$ 44,3 mi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TA por ativo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26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3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ESCOPOS DE CAPEX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43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em análise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077200" y="1417320"/>
            <a:ext cx="3627120" cy="1234440"/>
          </a:xfrm>
          <a:prstGeom prst="roundRect">
            <a:avLst>
              <a:gd name="adj" fmla="val 5926"/>
            </a:avLst>
          </a:prstGeom>
          <a:solidFill>
            <a:srgbClr val="F0F4F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41792" y="1563624"/>
            <a:ext cx="3297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115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241792" y="2093976"/>
            <a:ext cx="3297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NO PLANO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241792" y="2313432"/>
            <a:ext cx="3297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ativos · 5 frentes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2027 POR ATIVO (US$ milhões)</a:t>
            </a:r>
            <a:endParaRPr lang="en-US" sz="105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65760" y="329184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3291840"/>
          <a:ext cx="5287975" cy="914400"/>
        </p:xfrm>
        <a:graphic>
          <a:graphicData uri="http://schemas.openxmlformats.org/drawingml/2006/table">
            <a:tbl>
              <a:tblPr/>
              <a:tblGrid>
                <a:gridCol w="2220950"/>
                <a:gridCol w="1692152"/>
                <a:gridCol w="137487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ATIVO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CAPEX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ESCOPOS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Peregrino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US$ 14,8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23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US$ 6,3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10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WHPB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7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WHPC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US$ 2,5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8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FPSO Bravo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US$ 14,0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59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</a:rPr>
                        <a:t>Polvo A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US$ 4,3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C2B33"/>
                          </a:solidFill>
                        </a:rPr>
                        <a:t>35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TOTAL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US$ 44,3 mi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</a:rPr>
                        <a:t>142</a:t>
                      </a:r>
                      <a:endParaRPr lang="en-US" sz="105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base 'Geral - Em análise' (aba do arquivo Plano Integrado), somando itens com status 'Contar'. Para FPSO Bravo e Polvo A o total também inclui Parada Programada (status 'TA', com custo aberto no slide de cada ativo); nos demais ativos, TA não está incluído. Nenhum total considera a categoria Desenvolvimento de Produção.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fps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8784" y="1143000"/>
            <a:ext cx="7914128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US$ 14,8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US$ 9,7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US$ 3,8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US$ 1,0 mi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US$ 138,5 mil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US$ 40,0 mil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US$ 5,5 mi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US$ 2,9 mi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US$ 643,5 mil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23 itens no total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de Internos do Coalescer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Modificações Degasser — Conversão Flotadora (TAR)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do Analisador de TOG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US$ 699,3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Transformadores dos Coalescers — DF3 para DF4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Caldeiras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24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6352" y="1143000"/>
            <a:ext cx="7938991" cy="5349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US$ 6,3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US$ 5,1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US$ 2,2 mi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US$ 30,0 mil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US$ 3,5 mi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US$ 1,1 mi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US$ 465,5 mil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A (WHPA)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10 itens no total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PAGA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Ampliação de Cobertura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HVACs das Salas de VFDs - Fase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US$ 382,1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US$ 305,7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US$ 266,9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metodologia offshore para medição residual de polímero na água produzida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b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51735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US$ 1,2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US$ 1,1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US$ 2,3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US$ 1,7 mi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2E7D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B (WHPB)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7 itens no total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nova unidade de Osmose Reversa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latc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488311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US$ 2,5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e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US$ 1,5 mi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1600200"/>
          </a:xfrm>
          <a:prstGeom prst="roundRect">
            <a:avLst>
              <a:gd name="adj" fmla="val 4571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60020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US$ 1,0 mi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167128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US$ 1,8 mi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US$ 707,6 mil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US$ 1,9 mi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US$ 596,5 mil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'Contar'. Não inclui itens de Parada Programada (status 'TA') nem a categoria Desenvolvimento de Produção (US$ 0, mantida na lista de Categoria apenas para referência).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E5C8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PLAT C (WHPC)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8 itens no total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Térmico e Heat Tracing — Linha de FG (WHP-C)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detectores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US$ 603,5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CCTV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US$ 465,4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US$ 328,2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800XA - Fase 3 Firmware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US$ 268,3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 DE ENGENHARIA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Implementação do BRAlarm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Segurança de Processos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Injeção de Sequestrante de H2S - WHPC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(não inclui Parada Programada, status 'TA').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15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bravo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9974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US$ 14,0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US$ 9,0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US$ 5,0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US$ 3,8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US$ 10,2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US$ 5,0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US$ 960,0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86460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773729" y="486460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US$ 955,5 mil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23036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66928" y="52303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3773729" y="52303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US$ 192,5 mil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55961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3773729" y="55961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US$ 113,7 mil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US$ 6,0 mi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Rotina Operacional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US$ 1,3 mi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35508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67160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US$ 1,2 mi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FPSO Bravo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59 itens no total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Elétrica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US$ 982,4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US$ 816,1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DA CARGO PUMP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fixo de CO2 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US$ 659,4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US$ 247,6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Comutação tanques de diesel (tanque e sedimentação e serviço)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US$ 236,6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47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de Trabalho Core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 · 9 atividades distribuídas em 5 frentes estratégicas · Horizonte 1T27 – 4T27</a:t>
            </a:r>
            <a:endParaRPr lang="en-US" sz="1250" dirty="0"/>
          </a:p>
        </p:txBody>
      </p:sp>
      <p:pic>
        <p:nvPicPr>
          <p:cNvPr id="6" name="Image 0" descr="polvoa_tim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288" y="1143000"/>
            <a:ext cx="11247120" cy="370459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Composição de Custo ·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Base: aba 'Geral - Em análise' · status 'Contar' + 'TA'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143000"/>
            <a:ext cx="3749040" cy="1600200"/>
          </a:xfrm>
          <a:prstGeom prst="roundRect">
            <a:avLst>
              <a:gd name="adj" fmla="val 5714"/>
            </a:avLst>
          </a:prstGeom>
          <a:solidFill>
            <a:srgbClr val="E4EA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99032"/>
            <a:ext cx="323697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US$ 4,3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13055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TOTAL 2027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40487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excl. Desenvolvimento de Produção · inclui Parada Programada (TA)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43484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943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US$ 2,7 mi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TOTAL SEM TA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138160" y="114300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123444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US$ 1,6 mi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160020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TA (PARADA PROGRAMADA)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3484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943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US$ 2,3 mi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9943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8138160" y="2011680"/>
            <a:ext cx="3566160" cy="731520"/>
          </a:xfrm>
          <a:prstGeom prst="roundRect">
            <a:avLst>
              <a:gd name="adj" fmla="val 10000"/>
            </a:avLst>
          </a:prstGeom>
          <a:solidFill>
            <a:srgbClr val="F0F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02752" y="2103120"/>
            <a:ext cx="3236976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US$ 2,0 mi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468880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145C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REQUISITANTE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7372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77372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77372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" y="449884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449884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3773729" y="449884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US$ 81,3 mil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355080" y="30175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355080" y="3310128"/>
            <a:ext cx="5349240" cy="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64808" y="340156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de Produção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71609" y="340156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US$ 2,5 mi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3767328"/>
            <a:ext cx="5349240" cy="365760"/>
          </a:xfrm>
          <a:prstGeom prst="rect">
            <a:avLst/>
          </a:prstGeom>
          <a:solidFill>
            <a:srgbClr val="F0F4F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64808" y="376732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Integridade e Regulatório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71609" y="376732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US$ 1,6 mi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133088"/>
            <a:ext cx="33165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Bem Estar/Segurança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9671609" y="4133088"/>
            <a:ext cx="18159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US$ 200,0 mil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457200" y="6355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soma de Custo de Serviço + Custo de Material (Jan–Dez), para itens de Cost Allocation = CAPEX com status 'Contar' (Custo Total sem TA) e 'TA' (Custo TA, Parada Programada). O total desconsidera a categoria Desenvolvimento de Produção (US$ 0).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A67C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que Compõem o CAPEX · Polvo A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escopos por valor · 35 itens no total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723790"/>
                <a:gridCol w="2249424"/>
                <a:gridCol w="2474366"/>
                <a:gridCol w="1799539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US$ 484,9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Repetidoras de Rádio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US$ 217,9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US$ 173,2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Estação Meteorológica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US$ 169,1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Mobilização 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US$ 162,1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Implantação do projeto 'Muster Digital'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NR13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US$ 135,6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US$ 132,9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145C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23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US$ 640,4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Plano Integrado · aba 'Geral - Em análise' · coluna 'Valor Total' · itens de Cost Allocation = CAPEX, status 'Contar' + 'TA' (inclui Parada Programada). Lista completa disponível na planilha em anexo.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2026-09-28T17:40:42Z</dcterms:created>
  <dcterms:modified xsi:type="dcterms:W3CDTF">2026-09-28T17:40:42Z</dcterms:modified>
</cp:coreProperties>
</file>