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78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303520" cy="5303520"/>
          </a:xfrm>
          <a:prstGeom prst="ellipse">
            <a:avLst/>
          </a:prstGeom>
          <a:solidFill>
            <a:srgbClr val="2C284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97680"/>
            <a:ext cx="3291840" cy="3291840"/>
          </a:xfrm>
          <a:prstGeom prst="ellipse">
            <a:avLst/>
          </a:prstGeom>
          <a:solidFill>
            <a:srgbClr val="F2834B">
              <a:alpha val="28000"/>
            </a:srgbClr>
          </a:solidFill>
          <a:ln/>
        </p:spPr>
      </p:sp>
      <p:pic>
        <p:nvPicPr>
          <p:cNvPr id="4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874520" cy="3566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PROCESSO · DIRETORIA DE OPERAÇÕES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233172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Planejamento Integrado de Operações Topside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548640" y="370332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Como construímos, juntos, o plano de trabalho de cada área — os inputs que o alimentam, a forma como priorizamos, e o que a companhia recebe como resultado.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 ano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Horizonte do plano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355848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20440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8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520440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Unidades operadas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163056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12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Áreas mapeadas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70264" y="4892040"/>
            <a:ext cx="2606040" cy="1234440"/>
          </a:xfrm>
          <a:prstGeom prst="roundRect">
            <a:avLst>
              <a:gd name="adj" fmla="val 4444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34856" y="5020056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Semestral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134856" y="5641848"/>
            <a:ext cx="22768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Ciclo de construção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6F7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Reunião de processo — material de apoio, rascunho para validação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SUMÁRIO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Treze etapas, uma linha de raciocínio única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 fluxo do processo até as pendências que ainda precisam de validação do Diretor.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5097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Visão geral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5097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As 7 etapas do rito, ponta a ponta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5097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Quadro de equipes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95097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Responsáveis por área e por unidade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576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95097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Calendário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95097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Datas reais do cronograma 2027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6576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6576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95097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Matriz Prioridade × Esforço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95097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Onde investir esforço primeiro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576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05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5097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Priorização por frente de trabalho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5097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Racional de 4 passos + a matriz candidata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5760" y="52349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6576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06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5097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Critérios da matriz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95097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que está por trás da nota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65760" y="581558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5760" y="5815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07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950976" y="57607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Papéis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950976" y="604418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Quem solicita, nivela, aprova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2331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35508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08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40296" y="227685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Quem alimenta o plano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6940296" y="256032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 áreas e seus critérios de entrada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355080" y="29123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355080" y="29123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09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40296" y="285750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Regras transversais</a:t>
            </a:r>
            <a:endParaRPr lang="en-US" sz="1350" dirty="0"/>
          </a:p>
        </p:txBody>
      </p:sp>
      <p:sp>
        <p:nvSpPr>
          <p:cNvPr id="42" name="Text 39"/>
          <p:cNvSpPr/>
          <p:nvPr/>
        </p:nvSpPr>
        <p:spPr>
          <a:xfrm>
            <a:off x="6940296" y="314096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Critérios válidos para qualquer área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355080" y="34930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5508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10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940296" y="3438144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Levantamento</a:t>
            </a:r>
            <a:endParaRPr lang="en-US" sz="1350" dirty="0"/>
          </a:p>
        </p:txBody>
      </p:sp>
      <p:sp>
        <p:nvSpPr>
          <p:cNvPr id="46" name="Text 43"/>
          <p:cNvSpPr/>
          <p:nvPr/>
        </p:nvSpPr>
        <p:spPr>
          <a:xfrm>
            <a:off x="6940296" y="372160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Dados básicos exigidos por escopo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355080" y="40736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55080" y="40736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11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940296" y="4018788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Consolidação</a:t>
            </a:r>
            <a:endParaRPr lang="en-US" sz="1350" dirty="0"/>
          </a:p>
        </p:txBody>
      </p:sp>
      <p:sp>
        <p:nvSpPr>
          <p:cNvPr id="50" name="Text 47"/>
          <p:cNvSpPr/>
          <p:nvPr/>
        </p:nvSpPr>
        <p:spPr>
          <a:xfrm>
            <a:off x="6940296" y="430225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 escopo priorizado ao plano aprovado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355080" y="4654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55080" y="4654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12</a:t>
            </a:r>
            <a:endParaRPr lang="en-US" sz="1400" dirty="0"/>
          </a:p>
        </p:txBody>
      </p:sp>
      <p:sp>
        <p:nvSpPr>
          <p:cNvPr id="53" name="Text 50"/>
          <p:cNvSpPr/>
          <p:nvPr/>
        </p:nvSpPr>
        <p:spPr>
          <a:xfrm>
            <a:off x="6940296" y="4599432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Pendências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6940296" y="488289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que falta validar antes do padrão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6355080" y="52349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355080" y="52349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13</a:t>
            </a:r>
            <a:endParaRPr lang="en-US" sz="1400" dirty="0"/>
          </a:p>
        </p:txBody>
      </p:sp>
      <p:sp>
        <p:nvSpPr>
          <p:cNvPr id="57" name="Text 54"/>
          <p:cNvSpPr/>
          <p:nvPr/>
        </p:nvSpPr>
        <p:spPr>
          <a:xfrm>
            <a:off x="6940296" y="5180076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Treinamentos</a:t>
            </a:r>
            <a:endParaRPr lang="en-US" sz="1350" dirty="0"/>
          </a:p>
        </p:txBody>
      </p:sp>
      <p:sp>
        <p:nvSpPr>
          <p:cNvPr id="58" name="Text 55"/>
          <p:cNvSpPr/>
          <p:nvPr/>
        </p:nvSpPr>
        <p:spPr>
          <a:xfrm>
            <a:off x="6940296" y="5463540"/>
            <a:ext cx="4901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Agenda de capacitação por área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GUIA DE APRESENTAÇÃO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Priorizamos frentes de trabalho, não atividades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 passos para decidir onde investir a evolução da condição do ativo — a base da nova matriz de priorização (seção 05).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566928"/>
          </a:xfrm>
          <a:prstGeom prst="roundRect">
            <a:avLst>
              <a:gd name="adj" fmla="val 6452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 não é da atividade — é da frente de trabalho: a evolução da condição do ativo (ex.: Integridade, Redundância).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65760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8640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48640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mostra a evolução da condição do ativo em cada frente — conectado às diretrizes estratégicas de cada Gerência Executiva.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8640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27/08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3092958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275838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458718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9" name="Text 16"/>
          <p:cNvSpPr/>
          <p:nvPr/>
        </p:nvSpPr>
        <p:spPr>
          <a:xfrm>
            <a:off x="3458718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458718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458718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Redundância). A matriz de priorização é a candidata natural.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458718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3" name="Text 20"/>
          <p:cNvSpPr/>
          <p:nvPr/>
        </p:nvSpPr>
        <p:spPr>
          <a:xfrm>
            <a:off x="3531870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 definir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6003036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185916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368796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7" name="Text 24"/>
          <p:cNvSpPr/>
          <p:nvPr/>
        </p:nvSpPr>
        <p:spPr>
          <a:xfrm>
            <a:off x="6368796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368796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368796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o nível de evolução de condição esperado ao longo do ano.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68796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1" name="Text 28"/>
          <p:cNvSpPr/>
          <p:nvPr/>
        </p:nvSpPr>
        <p:spPr>
          <a:xfrm>
            <a:off x="6441948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 definir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8913114" y="43845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9095994" y="3017520"/>
            <a:ext cx="2727198" cy="306324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278874" y="32004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5" name="Text 32"/>
          <p:cNvSpPr/>
          <p:nvPr/>
        </p:nvSpPr>
        <p:spPr>
          <a:xfrm>
            <a:off x="9278874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9278874" y="37307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9278874" y="4315968"/>
            <a:ext cx="236143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precisa ser feito para entregar o nível definido — ex.: 800 cama-dia para zerar um contingenciamento.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9278874" y="562356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9" name="Text 36"/>
          <p:cNvSpPr/>
          <p:nvPr/>
        </p:nvSpPr>
        <p:spPr>
          <a:xfrm>
            <a:off x="9352026" y="562356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40" name="Text 3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O processo tem sete etapas (1/2)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 comunicação inicial até o plano oficial divulgado, cada escopo passa pela mesma esteira — independente da área que o solicitou.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Comunicação &amp; treinamento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Divulgação do rito para toda a PRIO; treinamento macro e, na sequência, treinamento intensivo por disciplina.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Accenture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309295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275838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5871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345871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458718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458718" y="3630168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engenheiro solicita escopo com base na Diretriz Estratégica da sua Gerência Executiva, define custo, POB e ano; sincroniza SAP ou importa planilha.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458718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3531870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Engenheiros de disciplina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6003036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85916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368796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6368796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368796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Leveling &amp; Challenge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368796" y="3630168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Planejamento nivela a demanda pela matriz de priorização, POB e capex disponíveis, e contrapõe as propostas de cada área. Gera o esboço V0.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68796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6441948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Coordenador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91311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095994" y="2331720"/>
            <a:ext cx="2727198" cy="3703320"/>
          </a:xfrm>
          <a:prstGeom prst="roundRect">
            <a:avLst>
              <a:gd name="adj" fmla="val 1676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27887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3" name="Text 30"/>
          <p:cNvSpPr/>
          <p:nvPr/>
        </p:nvSpPr>
        <p:spPr>
          <a:xfrm>
            <a:off x="927887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9278874" y="3044952"/>
            <a:ext cx="236143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9278874" y="3630168"/>
            <a:ext cx="2361438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o crivo do Coordenador sobre a V0, o Eng. Planejamento do Ativo apresenta o plano ao OIM e aos Gerentes Executivos para alinhamento.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278874" y="5577840"/>
            <a:ext cx="2361438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7" name="Text 34"/>
          <p:cNvSpPr/>
          <p:nvPr/>
        </p:nvSpPr>
        <p:spPr>
          <a:xfrm>
            <a:off x="9352026" y="5577840"/>
            <a:ext cx="221513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01 · VISÃO GERAL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O processo tem sete etapas (2/2)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 etapa de aprovação e divulgação, desdobrada em três passos — mesmo cronograma da seção 03.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Revisar — aprovação V0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e Coordenador do Ativo revisam a V0 consolidada e aprovam o avanço do plano.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 / Coordenador do Ativo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4062984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245864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428744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4428744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6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428744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Ajustes do plano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428744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Ajustes finos no plano aprovado — refinamento de POB, custo e cronograma por área, antes do fechamento.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8744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4501896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7943088" y="40187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25968" y="2331720"/>
            <a:ext cx="3697224" cy="370332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308848" y="251460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8308848" y="25146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308848" y="3044952"/>
            <a:ext cx="3331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 Approval — envio do plano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8308848" y="3630168"/>
            <a:ext cx="3331464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final (VF) é aprovado e enviado, divulgado a todas as áreas.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308848" y="5577840"/>
            <a:ext cx="3331464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8382000" y="5577840"/>
            <a:ext cx="3185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área — ABL, Cluster, Frade (1/2)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Estrutura em branco para Cluster e Frade — nomes a preencher pelas coordenações. ABL confirmado.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977640"/>
        </p:xfrm>
        <a:graphic>
          <a:graphicData uri="http://schemas.openxmlformats.org/drawingml/2006/table">
            <a:tbl>
              <a:tblPr/>
              <a:tblGrid>
                <a:gridCol w="4142232"/>
                <a:gridCol w="2743200"/>
                <a:gridCol w="2286000"/>
                <a:gridCol w="2286000"/>
              </a:tblGrid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ABL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Cluster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Frade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Coordenador de Operações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Bragança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Coelho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Mariana Silva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Caio Monteiro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 Eduardo Gonçalves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Mauro Arrabal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Fernando Kume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Joana Augustin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Thiago Purcino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- Ocupacional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Tadeu Luiz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- Processos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Clara Leal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Marcelo Vidal e Miguel Base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área — ABL, Cluster, Frade (2/2)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* Linhas desdobradas de uma área antes combinada (ex.: "Processos e Químicos") — ver seção 02 do documento de apoio.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977640"/>
        </p:xfrm>
        <a:graphic>
          <a:graphicData uri="http://schemas.openxmlformats.org/drawingml/2006/table">
            <a:tbl>
              <a:tblPr/>
              <a:tblGrid>
                <a:gridCol w="4142232"/>
                <a:gridCol w="2743200"/>
                <a:gridCol w="2286000"/>
                <a:gridCol w="2286000"/>
              </a:tblGrid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ABL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Cluster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Frade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Químicos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Tayane Miranda e Aryanne Nascimento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Alexandre Felix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Trading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Gisa Oliveira e Thiago do Carmo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Chaiben / Sthefany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Rodrigo Braga / Pedro Lago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Dyanna Lanna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Jasmine dos Santos e Karina Voltes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 de Pessoas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Fabricio Taquini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Nara Valerio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BPs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Luiza de Mello (Juliana Alves)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TI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área — Peregrino (1/2)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Nomes reais por sub-unidade do Peregrino.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977640"/>
        </p:xfrm>
        <a:graphic>
          <a:graphicData uri="http://schemas.openxmlformats.org/drawingml/2006/table">
            <a:tbl>
              <a:tblPr/>
              <a:tblGrid>
                <a:gridCol w="3227832"/>
                <a:gridCol w="2057400"/>
                <a:gridCol w="2057400"/>
                <a:gridCol w="2057400"/>
                <a:gridCol w="2057400"/>
              </a:tblGrid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FPSO Peregrino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B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C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Coordenador de Operações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 Althoff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Aristides Basilio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Samya Estevam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Victor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Victor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Paulo Victor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Flavia de Moraes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Flavia de Moraes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Flavia de Moraes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Flavia de Moraes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 e TA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Abraao Leite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Alberto Siqueira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 (estrutural)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Jose Pacheco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Bruno Schmidt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Gustavo Tavares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- Ocupacional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Orosa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- Processos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Jefferson Pinheiro / Ana Orosa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Melina Prado / Ana Augusta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59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02 · QUADRO DE EQUIPES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Quem responde por área — Peregrino (2/2)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* Nomes herdados da área combinada anterior — podem precisar de atribuição mais específica por sub-área.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977640"/>
        </p:xfrm>
        <a:graphic>
          <a:graphicData uri="http://schemas.openxmlformats.org/drawingml/2006/table">
            <a:tbl>
              <a:tblPr/>
              <a:tblGrid>
                <a:gridCol w="3227832"/>
                <a:gridCol w="2057400"/>
                <a:gridCol w="2057400"/>
                <a:gridCol w="2057400"/>
                <a:gridCol w="2057400"/>
              </a:tblGrid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FPSO Peregrino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B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Peregrino C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Químicos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Tiago Velasco / Thamires Laranjeiras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Trading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Reservatório / Produção (GP)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Fischer / Henrique Treptow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Fischer / Henrique Treptow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Fischer / Henrique Treptow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Victor Fischer / Henrique Treptow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[nome]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 Paulo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Simplicio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 Simplicio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Logística Marítima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Log de Pessoas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Sthefany Estellet / Tainara Assis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Comunicação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BPs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TI *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 Heringer / Adriano Ishizuka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03 · CALENDÁRIO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Linha do tempo consolidada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Datas reais do Cronograma Plano Integrado 2027 — cada linha é uma etapa do rito, com início e fim confirmados.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288036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Ago S4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9821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S1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11606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S2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233922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S3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51776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Set S4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469630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587484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S2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705338" y="2212848"/>
            <a:ext cx="11178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Out S3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5760" y="2487168"/>
            <a:ext cx="11457432" cy="12802"/>
          </a:xfrm>
          <a:prstGeom prst="rect">
            <a:avLst/>
          </a:prstGeom>
          <a:solidFill>
            <a:srgbClr val="E1DDEC"/>
          </a:solidFill>
          <a:ln/>
        </p:spPr>
      </p:sp>
      <p:sp>
        <p:nvSpPr>
          <p:cNvPr id="16" name="Text 13"/>
          <p:cNvSpPr/>
          <p:nvPr/>
        </p:nvSpPr>
        <p:spPr>
          <a:xfrm>
            <a:off x="365760" y="251460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Comunicação &amp; divulgação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25–27/08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88036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9821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1606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233922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51776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69630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587484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05338" y="248716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6080" y="2548890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26" name="Text 23"/>
          <p:cNvSpPr/>
          <p:nvPr/>
        </p:nvSpPr>
        <p:spPr>
          <a:xfrm>
            <a:off x="365760" y="291236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Performance — Passo 1: insumos de evolução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27/08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288036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9821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11606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33922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351776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469630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587484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705338" y="288493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26080" y="294665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36" name="Shape 33"/>
          <p:cNvSpPr/>
          <p:nvPr/>
        </p:nvSpPr>
        <p:spPr>
          <a:xfrm>
            <a:off x="3870198" y="2955798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870198" y="295579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365760" y="331012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Treinamento (macro + intensivo)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27/08–02/09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288036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99821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11606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233922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351776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469630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587484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705338" y="328269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2926080" y="3344418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48" name="Text 45"/>
          <p:cNvSpPr/>
          <p:nvPr/>
        </p:nvSpPr>
        <p:spPr>
          <a:xfrm>
            <a:off x="365760" y="370789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Building — preenchimento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31/08–11/09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88036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99821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11606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233922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351776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469630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587484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705338" y="368046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26080" y="3742182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58" name="Shape 55"/>
          <p:cNvSpPr/>
          <p:nvPr/>
        </p:nvSpPr>
        <p:spPr>
          <a:xfrm>
            <a:off x="6105906" y="375132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105906" y="375132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365760" y="4105656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Leveling &amp; Challenge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14–18/09 · V0/V1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288036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99821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11606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233922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351776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469630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587484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705338" y="4078224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279642" y="4139946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70" name="Text 67"/>
          <p:cNvSpPr/>
          <p:nvPr/>
        </p:nvSpPr>
        <p:spPr>
          <a:xfrm>
            <a:off x="365760" y="4503420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Gerencial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21–22/09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288036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399821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606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233922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7351776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469630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9587484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0705338" y="4475988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279642" y="4537710"/>
            <a:ext cx="2144268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80" name="Text 77"/>
          <p:cNvSpPr/>
          <p:nvPr/>
        </p:nvSpPr>
        <p:spPr>
          <a:xfrm>
            <a:off x="365760" y="4901184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Revisar — aprovação V0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23–24/09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288036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9821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511606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233922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7351776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8469630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9587484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10705338" y="4873752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7397496" y="4935474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90" name="Text 87"/>
          <p:cNvSpPr/>
          <p:nvPr/>
        </p:nvSpPr>
        <p:spPr>
          <a:xfrm>
            <a:off x="365760" y="5298948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Ajustes do plano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28/09–09/10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288036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399821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3" name="Shape 90"/>
          <p:cNvSpPr/>
          <p:nvPr/>
        </p:nvSpPr>
        <p:spPr>
          <a:xfrm>
            <a:off x="511606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233922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351776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8469630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9587484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0705338" y="5271516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7397496" y="5333238"/>
            <a:ext cx="3262122" cy="274320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100" name="Text 97"/>
          <p:cNvSpPr/>
          <p:nvPr/>
        </p:nvSpPr>
        <p:spPr>
          <a:xfrm>
            <a:off x="365760" y="5696712"/>
            <a:ext cx="238658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 Approval — envio do plano
</a:t>
            </a:r>
            <a:pPr indent="0" marL="0">
              <a:lnSpc>
                <a:spcPct val="115000"/>
              </a:lnSpc>
              <a:buNone/>
            </a:pPr>
            <a:r>
              <a:rPr lang="en-US" sz="83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12/10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>
            <a:off x="288036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399821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511606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233922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7351776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8469630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9587484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10705338" y="5669280"/>
            <a:ext cx="1117854" cy="397764"/>
          </a:xfrm>
          <a:prstGeom prst="rect">
            <a:avLst/>
          </a:prstGeom>
          <a:ln w="6350">
            <a:solidFill>
              <a:srgbClr val="F1EFF7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9633204" y="5731002"/>
            <a:ext cx="1026414" cy="274320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0577322" y="5740146"/>
            <a:ext cx="256032" cy="256032"/>
          </a:xfrm>
          <a:prstGeom prst="ellipse">
            <a:avLst/>
          </a:prstGeom>
          <a:solidFill>
            <a:srgbClr val="2C284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Text 108"/>
          <p:cNvSpPr/>
          <p:nvPr/>
        </p:nvSpPr>
        <p:spPr>
          <a:xfrm>
            <a:off x="10577322" y="57401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365760" y="6149340"/>
            <a:ext cx="201168" cy="128016"/>
          </a:xfrm>
          <a:prstGeom prst="roundRect">
            <a:avLst/>
          </a:prstGeom>
          <a:solidFill>
            <a:srgbClr val="10A9FF"/>
          </a:solidFill>
          <a:ln/>
        </p:spPr>
      </p:sp>
      <p:sp>
        <p:nvSpPr>
          <p:cNvPr id="113" name="Text 110"/>
          <p:cNvSpPr/>
          <p:nvPr/>
        </p:nvSpPr>
        <p:spPr>
          <a:xfrm>
            <a:off x="621792" y="60944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Rito do plano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2286000" y="6149340"/>
            <a:ext cx="201168" cy="128016"/>
          </a:xfrm>
          <a:prstGeom prst="roundRect">
            <a:avLst/>
          </a:prstGeom>
          <a:solidFill>
            <a:srgbClr val="F2834B"/>
          </a:solidFill>
          <a:ln/>
        </p:spPr>
      </p:sp>
      <p:sp>
        <p:nvSpPr>
          <p:cNvPr id="115" name="Text 112"/>
          <p:cNvSpPr/>
          <p:nvPr/>
        </p:nvSpPr>
        <p:spPr>
          <a:xfrm>
            <a:off x="2542032" y="609447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Aprovação / revisão</a:t>
            </a:r>
            <a:endParaRPr lang="en-US" sz="950" dirty="0"/>
          </a:p>
        </p:txBody>
      </p:sp>
      <p:sp>
        <p:nvSpPr>
          <p:cNvPr id="116" name="Text 113"/>
          <p:cNvSpPr/>
          <p:nvPr/>
        </p:nvSpPr>
        <p:spPr>
          <a:xfrm>
            <a:off x="4846320" y="6094476"/>
            <a:ext cx="6976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27 = 27/08 · workshop Performance (Passo 1)  ·  11 = 11/09 · fim do Building  ·  12 = 12/10 · envio do plano</a:t>
            </a:r>
            <a:endParaRPr lang="en-US" sz="830" dirty="0"/>
          </a:p>
        </p:txBody>
      </p:sp>
      <p:sp>
        <p:nvSpPr>
          <p:cNvPr id="117" name="Text 11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04 · O QUE ESTÁ POR TRÁS DO PLANO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Matriz Prioridade × Esforço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Adaptação da matriz Prêmio × Esforço do Plano de Desenvolvimento: prioridade no eixo vertical, esforço em cama-dia no eixo horizontal.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2212848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Proposta ilustrativa — pontos de exemplo, não dados reais do ciclo atual.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3474720" cy="1883664"/>
          </a:xfrm>
          <a:prstGeom prst="rect">
            <a:avLst/>
          </a:prstGeom>
          <a:solidFill>
            <a:srgbClr val="85E34D">
              <a:alpha val="10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4023360" y="2542032"/>
            <a:ext cx="3474720" cy="1883664"/>
          </a:xfrm>
          <a:prstGeom prst="rect">
            <a:avLst/>
          </a:prstGeom>
          <a:solidFill>
            <a:srgbClr val="F2834B">
              <a:alpha val="1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4425696"/>
            <a:ext cx="3474720" cy="1883664"/>
          </a:xfrm>
          <a:prstGeom prst="rect">
            <a:avLst/>
          </a:prstGeom>
          <a:solidFill>
            <a:srgbClr val="9A93B8">
              <a:alpha val="10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4023360" y="4425696"/>
            <a:ext cx="3474720" cy="1883664"/>
          </a:xfrm>
          <a:prstGeom prst="rect">
            <a:avLst/>
          </a:prstGeom>
          <a:solidFill>
            <a:srgbClr val="D1554B">
              <a:alpha val="10000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5836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5E34D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Quick win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133088" y="2596896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Planejar com antecedência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5836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Oportunista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133088" y="4480560"/>
            <a:ext cx="3255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155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Reavaliar / backlog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48640" y="2542032"/>
            <a:ext cx="12802" cy="3767328"/>
          </a:xfrm>
          <a:prstGeom prst="rect">
            <a:avLst/>
          </a:prstGeom>
          <a:solidFill>
            <a:srgbClr val="6B6682"/>
          </a:solidFill>
          <a:ln/>
        </p:spPr>
      </p:sp>
      <p:sp>
        <p:nvSpPr>
          <p:cNvPr id="17" name="Shape 14"/>
          <p:cNvSpPr/>
          <p:nvPr/>
        </p:nvSpPr>
        <p:spPr>
          <a:xfrm>
            <a:off x="548640" y="6309360"/>
            <a:ext cx="6949440" cy="12802"/>
          </a:xfrm>
          <a:prstGeom prst="rect">
            <a:avLst/>
          </a:prstGeom>
          <a:solidFill>
            <a:srgbClr val="6B6682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6355080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Esforço (cama-dia) →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 rot="16200000">
            <a:off x="-1600200" y="42885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Prioridade (pts) →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1588" y="5208880"/>
            <a:ext cx="158191" cy="1581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52348" y="5090008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52348" y="5090008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243584" y="4043477"/>
            <a:ext cx="193853" cy="1938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10005" y="3924605"/>
            <a:ext cx="173736" cy="173736"/>
          </a:xfrm>
          <a:prstGeom prst="ellipse">
            <a:avLst/>
          </a:prstGeom>
          <a:solidFill>
            <a:srgbClr val="2C284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10005" y="3924605"/>
            <a:ext cx="17373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1639519" y="3093415"/>
            <a:ext cx="281635" cy="28163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639519" y="3093415"/>
            <a:ext cx="281635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818638" y="3364535"/>
            <a:ext cx="386791" cy="386791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818638" y="3364535"/>
            <a:ext cx="386791" cy="3867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08780" y="2435504"/>
            <a:ext cx="562356" cy="562356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08780" y="2435504"/>
            <a:ext cx="562356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876038" y="2802179"/>
            <a:ext cx="492862" cy="492862"/>
          </a:xfrm>
          <a:prstGeom prst="ellipse">
            <a:avLst/>
          </a:prstGeom>
          <a:solidFill>
            <a:srgbClr val="F2834B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876038" y="2802179"/>
            <a:ext cx="492862" cy="4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79592" y="4191610"/>
            <a:ext cx="422453" cy="422453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79592" y="4191610"/>
            <a:ext cx="422453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829654" y="2286000"/>
            <a:ext cx="632765" cy="632765"/>
          </a:xfrm>
          <a:prstGeom prst="ellipse">
            <a:avLst/>
          </a:prstGeom>
          <a:solidFill>
            <a:srgbClr val="10A9FF">
              <a:alpha val="82000"/>
            </a:srgbClr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29654" y="2286000"/>
            <a:ext cx="632765" cy="632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772400" y="259689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0" y="259689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8065008" y="254203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Estudo de Viabilidade (Backlog)  ·  CAPEX</a:t>
            </a:r>
            <a:endParaRPr lang="en-US" sz="930" dirty="0"/>
          </a:p>
        </p:txBody>
      </p:sp>
      <p:sp>
        <p:nvSpPr>
          <p:cNvPr id="41" name="Text 38"/>
          <p:cNvSpPr/>
          <p:nvPr/>
        </p:nvSpPr>
        <p:spPr>
          <a:xfrm>
            <a:off x="8065008" y="277977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25 pts · ~80 cama-dia · US$ 30k</a:t>
            </a:r>
            <a:endParaRPr lang="en-US" sz="820" dirty="0"/>
          </a:p>
        </p:txBody>
      </p:sp>
      <p:sp>
        <p:nvSpPr>
          <p:cNvPr id="42" name="Shape 39"/>
          <p:cNvSpPr/>
          <p:nvPr/>
        </p:nvSpPr>
        <p:spPr>
          <a:xfrm>
            <a:off x="7772400" y="306781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43" name="Text 40"/>
          <p:cNvSpPr/>
          <p:nvPr/>
        </p:nvSpPr>
        <p:spPr>
          <a:xfrm>
            <a:off x="7772400" y="306781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8065008" y="301294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Calibração de Medidores Fiscais  ·  OPEX</a:t>
            </a:r>
            <a:endParaRPr lang="en-US" sz="930" dirty="0"/>
          </a:p>
        </p:txBody>
      </p:sp>
      <p:sp>
        <p:nvSpPr>
          <p:cNvPr id="45" name="Text 42"/>
          <p:cNvSpPr/>
          <p:nvPr/>
        </p:nvSpPr>
        <p:spPr>
          <a:xfrm>
            <a:off x="8065008" y="325069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55 pts · ~150 cama-dia · US$ 50k</a:t>
            </a:r>
            <a:endParaRPr lang="en-US" sz="820" dirty="0"/>
          </a:p>
        </p:txBody>
      </p:sp>
      <p:sp>
        <p:nvSpPr>
          <p:cNvPr id="46" name="Shape 43"/>
          <p:cNvSpPr/>
          <p:nvPr/>
        </p:nvSpPr>
        <p:spPr>
          <a:xfrm>
            <a:off x="7772400" y="353872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47" name="Text 44"/>
          <p:cNvSpPr/>
          <p:nvPr/>
        </p:nvSpPr>
        <p:spPr>
          <a:xfrm>
            <a:off x="7772400" y="353872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8065008" y="348386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Troca de Selo Mecânico  ·  OPEX</a:t>
            </a:r>
            <a:endParaRPr lang="en-US" sz="930" dirty="0"/>
          </a:p>
        </p:txBody>
      </p:sp>
      <p:sp>
        <p:nvSpPr>
          <p:cNvPr id="49" name="Text 46"/>
          <p:cNvSpPr/>
          <p:nvPr/>
        </p:nvSpPr>
        <p:spPr>
          <a:xfrm>
            <a:off x="8065008" y="372160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78 pts · ~230 cama-dia · US$ 175k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7772400" y="4009644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51" name="Text 48"/>
          <p:cNvSpPr/>
          <p:nvPr/>
        </p:nvSpPr>
        <p:spPr>
          <a:xfrm>
            <a:off x="7772400" y="400964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065008" y="3954780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Retrofit CO2 (Sustentabilidade)  ·  CAPEX</a:t>
            </a:r>
            <a:endParaRPr lang="en-US" sz="930" dirty="0"/>
          </a:p>
        </p:txBody>
      </p:sp>
      <p:sp>
        <p:nvSpPr>
          <p:cNvPr id="53" name="Text 50"/>
          <p:cNvSpPr/>
          <p:nvPr/>
        </p:nvSpPr>
        <p:spPr>
          <a:xfrm>
            <a:off x="8065008" y="4192524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68 pts · ~420 cama-dia · US$ 600k</a:t>
            </a:r>
            <a:endParaRPr lang="en-US" sz="820" dirty="0"/>
          </a:p>
        </p:txBody>
      </p:sp>
      <p:sp>
        <p:nvSpPr>
          <p:cNvPr id="54" name="Shape 51"/>
          <p:cNvSpPr/>
          <p:nvPr/>
        </p:nvSpPr>
        <p:spPr>
          <a:xfrm>
            <a:off x="7772400" y="4480560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55" name="Text 52"/>
          <p:cNvSpPr/>
          <p:nvPr/>
        </p:nvSpPr>
        <p:spPr>
          <a:xfrm>
            <a:off x="7772400" y="44805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5</a:t>
            </a:r>
            <a:endParaRPr lang="en-US" sz="800" dirty="0"/>
          </a:p>
        </p:txBody>
      </p:sp>
      <p:sp>
        <p:nvSpPr>
          <p:cNvPr id="56" name="Text 53"/>
          <p:cNvSpPr/>
          <p:nvPr/>
        </p:nvSpPr>
        <p:spPr>
          <a:xfrm>
            <a:off x="8065008" y="4425696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Campanha de Tanques (Naval)  ·  OPEX</a:t>
            </a:r>
            <a:endParaRPr lang="en-US" sz="930" dirty="0"/>
          </a:p>
        </p:txBody>
      </p:sp>
      <p:sp>
        <p:nvSpPr>
          <p:cNvPr id="57" name="Text 54"/>
          <p:cNvSpPr/>
          <p:nvPr/>
        </p:nvSpPr>
        <p:spPr>
          <a:xfrm>
            <a:off x="8065008" y="4663440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88 pts · ~830 cama-dia · US$ 5,9M</a:t>
            </a:r>
            <a:endParaRPr lang="en-US" sz="820" dirty="0"/>
          </a:p>
        </p:txBody>
      </p:sp>
      <p:sp>
        <p:nvSpPr>
          <p:cNvPr id="58" name="Shape 55"/>
          <p:cNvSpPr/>
          <p:nvPr/>
        </p:nvSpPr>
        <p:spPr>
          <a:xfrm>
            <a:off x="7772400" y="4951476"/>
            <a:ext cx="201168" cy="201168"/>
          </a:xfrm>
          <a:prstGeom prst="ellipse">
            <a:avLst/>
          </a:prstGeom>
          <a:solidFill>
            <a:srgbClr val="F2834B"/>
          </a:solidFill>
          <a:ln/>
        </p:spPr>
      </p:sp>
      <p:sp>
        <p:nvSpPr>
          <p:cNvPr id="59" name="Text 56"/>
          <p:cNvSpPr/>
          <p:nvPr/>
        </p:nvSpPr>
        <p:spPr>
          <a:xfrm>
            <a:off x="7772400" y="49514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6</a:t>
            </a:r>
            <a:endParaRPr lang="en-US" sz="800" dirty="0"/>
          </a:p>
        </p:txBody>
      </p:sp>
      <p:sp>
        <p:nvSpPr>
          <p:cNvPr id="60" name="Text 57"/>
          <p:cNvSpPr/>
          <p:nvPr/>
        </p:nvSpPr>
        <p:spPr>
          <a:xfrm>
            <a:off x="8065008" y="4896612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Adequação Topside — Novo Poço  ·  CAPEX</a:t>
            </a:r>
            <a:endParaRPr lang="en-US" sz="930" dirty="0"/>
          </a:p>
        </p:txBody>
      </p:sp>
      <p:sp>
        <p:nvSpPr>
          <p:cNvPr id="61" name="Text 58"/>
          <p:cNvSpPr/>
          <p:nvPr/>
        </p:nvSpPr>
        <p:spPr>
          <a:xfrm>
            <a:off x="8065008" y="5134356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80 pts · ~980 cama-dia · US$ 3,2M</a:t>
            </a:r>
            <a:endParaRPr lang="en-US" sz="820" dirty="0"/>
          </a:p>
        </p:txBody>
      </p:sp>
      <p:sp>
        <p:nvSpPr>
          <p:cNvPr id="62" name="Shape 59"/>
          <p:cNvSpPr/>
          <p:nvPr/>
        </p:nvSpPr>
        <p:spPr>
          <a:xfrm>
            <a:off x="7772400" y="5422392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63" name="Text 60"/>
          <p:cNvSpPr/>
          <p:nvPr/>
        </p:nvSpPr>
        <p:spPr>
          <a:xfrm>
            <a:off x="7772400" y="54223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7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8065008" y="5367528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Pintura / Preservação (Integridade)  ·  OPEX</a:t>
            </a:r>
            <a:endParaRPr lang="en-US" sz="930" dirty="0"/>
          </a:p>
        </p:txBody>
      </p:sp>
      <p:sp>
        <p:nvSpPr>
          <p:cNvPr id="65" name="Text 62"/>
          <p:cNvSpPr/>
          <p:nvPr/>
        </p:nvSpPr>
        <p:spPr>
          <a:xfrm>
            <a:off x="8065008" y="5605272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45 pts · ~1.250 cama-dia · US$ 1,1M</a:t>
            </a:r>
            <a:endParaRPr lang="en-US" sz="820" dirty="0"/>
          </a:p>
        </p:txBody>
      </p:sp>
      <p:sp>
        <p:nvSpPr>
          <p:cNvPr id="66" name="Shape 63"/>
          <p:cNvSpPr/>
          <p:nvPr/>
        </p:nvSpPr>
        <p:spPr>
          <a:xfrm>
            <a:off x="7772400" y="5893308"/>
            <a:ext cx="201168" cy="201168"/>
          </a:xfrm>
          <a:prstGeom prst="ellipse">
            <a:avLst/>
          </a:prstGeom>
          <a:solidFill>
            <a:srgbClr val="10A9FF"/>
          </a:solidFill>
          <a:ln/>
        </p:spPr>
      </p:sp>
      <p:sp>
        <p:nvSpPr>
          <p:cNvPr id="67" name="Text 64"/>
          <p:cNvSpPr/>
          <p:nvPr/>
        </p:nvSpPr>
        <p:spPr>
          <a:xfrm>
            <a:off x="7772400" y="589330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8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8065008" y="5838444"/>
            <a:ext cx="3666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Parada Programada 2027  ·  OPEX</a:t>
            </a:r>
            <a:endParaRPr lang="en-US" sz="930" dirty="0"/>
          </a:p>
        </p:txBody>
      </p:sp>
      <p:sp>
        <p:nvSpPr>
          <p:cNvPr id="69" name="Text 66"/>
          <p:cNvSpPr/>
          <p:nvPr/>
        </p:nvSpPr>
        <p:spPr>
          <a:xfrm>
            <a:off x="8065008" y="6076188"/>
            <a:ext cx="3666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90 pts · ~2.600 cama-dia · US$ 8,0M</a:t>
            </a:r>
            <a:endParaRPr lang="en-US" sz="820" dirty="0"/>
          </a:p>
        </p:txBody>
      </p:sp>
      <p:sp>
        <p:nvSpPr>
          <p:cNvPr id="70" name="Text 6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71" name="Text 6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Como priorizamos as frentes de trabalho (1/2)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Pedido do Gerente Executivo: priorizar frentes de trabalho — a evolução da condição do ativo em uma dimensão específica (ex.: Integridade, Redundância) — não escopos isolados. Racional de 4 passos, iniciado no workshop de 27/08.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5637276" cy="185166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52374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52374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27/08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85292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12064" y="3145536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Insumos de evolução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12064" y="3602736"/>
            <a:ext cx="534466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 que mostra a evolução da condição do ativo em cada frente — conectado às diretrizes estratégicas de cada Gerência Executiva.</a:t>
            </a:r>
            <a:endParaRPr lang="en-US" sz="970" dirty="0"/>
          </a:p>
        </p:txBody>
      </p:sp>
      <p:sp>
        <p:nvSpPr>
          <p:cNvPr id="13" name="Shape 10"/>
          <p:cNvSpPr/>
          <p:nvPr/>
        </p:nvSpPr>
        <p:spPr>
          <a:xfrm>
            <a:off x="6185916" y="2377440"/>
            <a:ext cx="5637276" cy="185166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32220" y="252374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/>
        </p:spPr>
      </p:sp>
      <p:sp>
        <p:nvSpPr>
          <p:cNvPr id="15" name="Text 12"/>
          <p:cNvSpPr/>
          <p:nvPr/>
        </p:nvSpPr>
        <p:spPr>
          <a:xfrm>
            <a:off x="6332220" y="252374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 DEFINIR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6332220" y="285292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32220" y="3145536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Critério entre frentes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6332220" y="3602736"/>
            <a:ext cx="534466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faz uma frente (ex.: Integridade) ter prioridade sobre outra (ex.: Redundância). Candidata natural: a matriz da próxima página, pontuando a frente em vez do escopo.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411980"/>
            <a:ext cx="5637276" cy="185166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12064" y="455828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9787D4"/>
          </a:solidFill>
          <a:ln/>
        </p:spPr>
      </p:sp>
      <p:sp>
        <p:nvSpPr>
          <p:cNvPr id="21" name="Text 18"/>
          <p:cNvSpPr/>
          <p:nvPr/>
        </p:nvSpPr>
        <p:spPr>
          <a:xfrm>
            <a:off x="512064" y="455828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 DEFINIR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12064" y="488746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12064" y="5180076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Nível de entrega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12064" y="5637276"/>
            <a:ext cx="534466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frente já priorizada, definir o nível de evolução de condição esperado ao longo do ano.</a:t>
            </a:r>
            <a:endParaRPr lang="en-US" sz="970" dirty="0"/>
          </a:p>
        </p:txBody>
      </p:sp>
      <p:sp>
        <p:nvSpPr>
          <p:cNvPr id="25" name="Shape 22"/>
          <p:cNvSpPr/>
          <p:nvPr/>
        </p:nvSpPr>
        <p:spPr>
          <a:xfrm>
            <a:off x="6185916" y="4411980"/>
            <a:ext cx="5637276" cy="185166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332220" y="455828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27" name="Text 24"/>
          <p:cNvSpPr/>
          <p:nvPr/>
        </p:nvSpPr>
        <p:spPr>
          <a:xfrm>
            <a:off x="6332220" y="455828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6332220" y="488746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332220" y="5180076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Consolidação da execução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6332220" y="5637276"/>
            <a:ext cx="5344668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Traduzir o nível definido no que precisa ser feito — ex.: 800 cama-dia para zerar um contingenciamento. Consolida todas as atividades Topside.</a:t>
            </a:r>
            <a:endParaRPr lang="en-US" sz="970" dirty="0"/>
          </a:p>
        </p:txBody>
      </p:sp>
      <p:sp>
        <p:nvSpPr>
          <p:cNvPr id="31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05 · PRIORIZAÇÃO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Matriz de priorização (2/2)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100 pontos em quatro blocos, com trava automática para risco crítico de SMS ou regulatório.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Candidata ao Passo 2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oficial do sistema de levantamento de escopo (STAR). Hoje pontua o escopo individual; a proposta discutida com o Gerente Executivo é aplicá-la à frente de trabalho como um todo — a confirmar no workshop de 27/08. Regras de cálculo, travas e critério de cada bloco na seção 06.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65760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12064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Segurança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12064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30 pts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2064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4" name="Shape 11"/>
          <p:cNvSpPr/>
          <p:nvPr/>
        </p:nvSpPr>
        <p:spPr>
          <a:xfrm>
            <a:off x="512064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5" name="Text 12"/>
          <p:cNvSpPr/>
          <p:nvPr/>
        </p:nvSpPr>
        <p:spPr>
          <a:xfrm>
            <a:off x="512064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 P1 se houver risco de fatalidade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275838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9050">
            <a:solidFill>
              <a:srgbClr val="F2834B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3422142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Regulatório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422142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25 pts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3422142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0" name="Shape 17"/>
          <p:cNvSpPr/>
          <p:nvPr/>
        </p:nvSpPr>
        <p:spPr>
          <a:xfrm>
            <a:off x="3422142" y="407822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1" name="Text 18"/>
          <p:cNvSpPr/>
          <p:nvPr/>
        </p:nvSpPr>
        <p:spPr>
          <a:xfrm>
            <a:off x="3422142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 P1 se houver embargo / interdição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185916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332220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Financeiro &amp; Patrimônio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332220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20 pts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332220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6" name="Shape 23"/>
          <p:cNvSpPr/>
          <p:nvPr/>
        </p:nvSpPr>
        <p:spPr>
          <a:xfrm>
            <a:off x="6332220" y="4078224"/>
            <a:ext cx="1631175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7" name="Shape 24"/>
          <p:cNvSpPr/>
          <p:nvPr/>
        </p:nvSpPr>
        <p:spPr>
          <a:xfrm>
            <a:off x="9095994" y="3108960"/>
            <a:ext cx="2727198" cy="169164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9242298" y="3236976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Produção de Óleo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9242298" y="3675888"/>
            <a:ext cx="24345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25 pts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9242298" y="4078224"/>
            <a:ext cx="2434590" cy="10972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1" name="Shape 28"/>
          <p:cNvSpPr/>
          <p:nvPr/>
        </p:nvSpPr>
        <p:spPr>
          <a:xfrm>
            <a:off x="9242298" y="4078224"/>
            <a:ext cx="2020710" cy="10972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32" name="Text 29"/>
          <p:cNvSpPr/>
          <p:nvPr/>
        </p:nvSpPr>
        <p:spPr>
          <a:xfrm>
            <a:off x="9242298" y="4279392"/>
            <a:ext cx="24345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Só computa após validação da GP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365760" y="4983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Classificação final (por frente de trabalho, proposta):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65760" y="5349240"/>
            <a:ext cx="2933395" cy="384048"/>
          </a:xfrm>
          <a:prstGeom prst="roundRect">
            <a:avLst>
              <a:gd name="adj" fmla="val 50000"/>
            </a:avLst>
          </a:prstGeom>
          <a:solidFill>
            <a:srgbClr val="D1554B"/>
          </a:solidFill>
          <a:ln/>
        </p:spPr>
      </p:sp>
      <p:sp>
        <p:nvSpPr>
          <p:cNvPr id="35" name="Text 32"/>
          <p:cNvSpPr/>
          <p:nvPr/>
        </p:nvSpPr>
        <p:spPr>
          <a:xfrm>
            <a:off x="365760" y="5349240"/>
            <a:ext cx="29333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P1 Crítica · ≥ 85 pts ou trava acionada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3482035" y="534924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37" name="Text 34"/>
          <p:cNvSpPr/>
          <p:nvPr/>
        </p:nvSpPr>
        <p:spPr>
          <a:xfrm>
            <a:off x="3482035" y="534924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P2 Alta · 70–84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018227" y="5349240"/>
            <a:ext cx="1419149" cy="384048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39" name="Text 36"/>
          <p:cNvSpPr/>
          <p:nvPr/>
        </p:nvSpPr>
        <p:spPr>
          <a:xfrm>
            <a:off x="5018227" y="5349240"/>
            <a:ext cx="14191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P3 Média · 50–69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6620256" y="5349240"/>
            <a:ext cx="1353312" cy="384048"/>
          </a:xfrm>
          <a:prstGeom prst="roundRect">
            <a:avLst>
              <a:gd name="adj" fmla="val 50000"/>
            </a:avLst>
          </a:prstGeom>
          <a:solidFill>
            <a:srgbClr val="9A93B8"/>
          </a:solidFill>
          <a:ln/>
        </p:spPr>
      </p:sp>
      <p:sp>
        <p:nvSpPr>
          <p:cNvPr id="41" name="Text 38"/>
          <p:cNvSpPr/>
          <p:nvPr/>
        </p:nvSpPr>
        <p:spPr>
          <a:xfrm>
            <a:off x="6620256" y="534924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P4 Baixa · &lt; 50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Travas, Segurança e Regulatório (1/3)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Regras oficiais da Matriz de Priorização STAR — mesmos 4 blocos e 100 pontos da seção 05.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D1554B">
              <a:alpha val="12000"/>
            </a:srgbClr>
          </a:solidFill>
          <a:ln w="12700">
            <a:solidFill>
              <a:srgbClr val="D155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Travas automáticas — elevam a P1 independente da nota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Segurança: fatalidade, explosão, incêndio, H2S ou grande acidente · barreira crítica indisponível ou degradada.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Regulatório: prazo regulatório vencido · embargo, interdição ou perda de licença.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3337560"/>
            <a:ext cx="5632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 · Segurança — 30 pts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11880"/>
          <a:ext cx="5632704" cy="1847088"/>
        </p:xfrm>
        <a:graphic>
          <a:graphicData uri="http://schemas.openxmlformats.org/drawingml/2006/table">
            <a:tbl>
              <a:tblPr/>
              <a:tblGrid>
                <a:gridCol w="3492276"/>
                <a:gridCol w="2140428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Severidade do pior cenário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3 · 6 · 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Barreira crítica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3 · 5 · 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Histórico de incidente/recorrência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Abrangência da exposição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3 · 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Urgência da mitigação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 ·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181344" y="3337560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 · Regulatório — 25 pts</a:t>
            </a:r>
            <a:endParaRPr lang="en-US" sz="11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1344" y="3611880"/>
          <a:ext cx="5641848" cy="1847088"/>
        </p:xfrm>
        <a:graphic>
          <a:graphicData uri="http://schemas.openxmlformats.org/drawingml/2006/table">
            <a:tbl>
              <a:tblPr/>
              <a:tblGrid>
                <a:gridCol w="3497946"/>
                <a:gridCol w="2143902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Obrigação legal ou normativa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 ·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 do não atendimento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2 · 4 · 6 · 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formal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 · 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Abrangência regulatória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· 1 ·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Financeiro &amp; Patrimônio (2/3)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Bloco de 20 pts: duas avaliações internas — vale a maior entre as duas, não a soma.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5637276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47802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10A9FF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478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3.1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807208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Avaliação Financeira Econômica — até 20 pts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64408"/>
            <a:ext cx="534466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benefício/custo (até 6) · Custo de não fazer / custo do projeto (até 5) · Orçamento e janela de execução (até 4) · Tempo de captura do valor (até 3) · Maturidade da estimativa (até 2).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6185916" y="2331720"/>
            <a:ext cx="5637276" cy="3108960"/>
          </a:xfrm>
          <a:prstGeom prst="roundRect">
            <a:avLst>
              <a:gd name="adj" fmla="val 147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32220" y="247802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4" name="Text 11"/>
          <p:cNvSpPr/>
          <p:nvPr/>
        </p:nvSpPr>
        <p:spPr>
          <a:xfrm>
            <a:off x="6332220" y="247802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3.2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332220" y="2807208"/>
            <a:ext cx="5344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Patrimônio / Integridade — bruta até 25 pts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332220" y="3264408"/>
            <a:ext cx="534466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Comprometimento de ativo crítico (até 8) · Degradação evidenciada (até 6) · Redundância do sistema (até 5) · Janela rara ou parada maior (até 3) · Risco de manutenção emergencial futura (até 3). Convertida para o bloco financeiro como bruta × 20/25.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365760" y="5486400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563270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Nota do bloco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596188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 e Patrimônio = maior entre a Avaliação Financeira Econômica (3.1) e a Avaliação de Patrimônio/Integridade já convertida (3.2).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06 · O QUE ESTÁ POR TRÁS DA NOTA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Produção de Óleo (GP) e fórmula final (3/3)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Bloco de 25 pts, condicionado ao status da Gestão da Produção; fórmula final e regra de desempate.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12848"/>
            <a:ext cx="11457432" cy="777240"/>
          </a:xfrm>
          <a:prstGeom prst="roundRect">
            <a:avLst>
              <a:gd name="adj" fmla="val 4706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359152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Condição para pontuar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688336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entra no total quando o escopo influencia diretamente a produção de óleo e o status da GP está "Validada - computada" — nos demais status, entra como referência mas conta 0.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3063240"/>
            <a:ext cx="5632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4.1 · Relevância da perda do sistema — 15 pts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337560"/>
          <a:ext cx="5632704" cy="1847088"/>
        </p:xfrm>
        <a:graphic>
          <a:graphicData uri="http://schemas.openxmlformats.org/drawingml/2006/table">
            <a:tbl>
              <a:tblPr/>
              <a:tblGrid>
                <a:gridCol w="3492276"/>
                <a:gridCol w="2140428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15% e &lt; 25%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8% e &lt; 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≥ 3% e &lt; 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Participação &lt; 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181344" y="3063240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4.2 · Benefício/Custo — 10 pts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1344" y="3337560"/>
          <a:ext cx="5641848" cy="1847088"/>
        </p:xfrm>
        <a:graphic>
          <a:graphicData uri="http://schemas.openxmlformats.org/drawingml/2006/table">
            <a:tbl>
              <a:tblPr/>
              <a:tblGrid>
                <a:gridCol w="3497946"/>
                <a:gridCol w="2143902"/>
              </a:tblGrid>
              <a:tr h="3078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Pontos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20x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10x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5x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Relação ≥ 1x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078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1x ou sem custo informado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81344" y="5001768"/>
            <a:ext cx="5641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em US$ = perda evitada (bbl) × 75 · relação = benefício ÷ custo do projeto</a:t>
            </a:r>
            <a:endParaRPr lang="en-US" sz="830" dirty="0"/>
          </a:p>
        </p:txBody>
      </p:sp>
      <p:sp>
        <p:nvSpPr>
          <p:cNvPr id="15" name="Shape 10"/>
          <p:cNvSpPr/>
          <p:nvPr/>
        </p:nvSpPr>
        <p:spPr>
          <a:xfrm>
            <a:off x="365760" y="5166360"/>
            <a:ext cx="11457432" cy="731520"/>
          </a:xfrm>
          <a:prstGeom prst="roundRect">
            <a:avLst>
              <a:gd name="adj" fmla="val 5000"/>
            </a:avLst>
          </a:prstGeom>
          <a:solidFill>
            <a:srgbClr val="9787D4">
              <a:alpha val="12000"/>
            </a:srgbClr>
          </a:solidFill>
          <a:ln w="12700">
            <a:solidFill>
              <a:srgbClr val="9787D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531266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Fórmula final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66928" y="5641848"/>
            <a:ext cx="11055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Segurança + Regulatório + Financeiro e Patrimônio + Produção de Óleo (GP validada) — máximo de 100 pontos.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365760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38912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94944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2686507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2759659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3015691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Regulatório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007254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080406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5336438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validada pela GP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7328002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401154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7657186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Financeiro/Patrimônio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9648749" y="5943600"/>
            <a:ext cx="2174443" cy="502920"/>
          </a:xfrm>
          <a:prstGeom prst="roundRect">
            <a:avLst>
              <a:gd name="adj" fmla="val 10909"/>
            </a:avLst>
          </a:prstGeom>
          <a:solidFill>
            <a:srgbClr val="F8F7F6"/>
          </a:solidFill>
          <a:ln w="12700">
            <a:solidFill>
              <a:srgbClr val="E1DDEC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9721901" y="59436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7"/>
          <p:cNvSpPr/>
          <p:nvPr/>
        </p:nvSpPr>
        <p:spPr>
          <a:xfrm>
            <a:off x="9977933" y="5943600"/>
            <a:ext cx="17903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2C28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custo para executar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4" name="Text 29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07 · GOVERNANÇA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Papéis e responsabilidades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Cinco perfis sustentam o rito de ponta a ponta — do lançamento do escopo à aprovação final.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12064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9" name="Text 6"/>
          <p:cNvSpPr/>
          <p:nvPr/>
        </p:nvSpPr>
        <p:spPr>
          <a:xfrm>
            <a:off x="512064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SOLICITA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2064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Engenheiro de disciplina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12064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 e cadastra o escopo: dados básicos, POB mensal, custo de material/serviço e responde a priorização.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92168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4" name="Text 11"/>
          <p:cNvSpPr/>
          <p:nvPr/>
        </p:nvSpPr>
        <p:spPr>
          <a:xfrm>
            <a:off x="4392168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FACILITA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392168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2168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do processo. Treina, nivela POB/capex, consolida propostas e monta as versões do plano (V0 → VF).</a:t>
            </a:r>
            <a:endParaRPr lang="en-US" sz="970" dirty="0"/>
          </a:p>
        </p:txBody>
      </p:sp>
      <p:sp>
        <p:nvSpPr>
          <p:cNvPr id="17" name="Shape 14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2272" y="243230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2272" y="243230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PRIORIZA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2272" y="276148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Coordenador de Operações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8272272" y="321868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 a solicitação priorizada contra a diretriz estratégica do ativo e aprova, recusa ou devolve para ajuste.</a:t>
            </a:r>
            <a:endParaRPr lang="en-US" sz="970" dirty="0"/>
          </a:p>
        </p:txBody>
      </p:sp>
      <p:sp>
        <p:nvSpPr>
          <p:cNvPr id="22" name="Shape 19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12064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4" name="Text 21"/>
          <p:cNvSpPr/>
          <p:nvPr/>
        </p:nvSpPr>
        <p:spPr>
          <a:xfrm>
            <a:off x="512064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ALINHA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12064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Gerentes Executivos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12064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Participam, com o OIM do ativo, do workshop de V0 apresentado pelo Eng. Planejamento, para alinhar o plano com a diretriz estratégica.</a:t>
            </a:r>
            <a:endParaRPr lang="en-US" sz="970" dirty="0"/>
          </a:p>
        </p:txBody>
      </p:sp>
      <p:sp>
        <p:nvSpPr>
          <p:cNvPr id="27" name="Shape 24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92168" y="4512564"/>
            <a:ext cx="859536" cy="237744"/>
          </a:xfrm>
          <a:prstGeom prst="roundRect">
            <a:avLst>
              <a:gd name="adj" fmla="val 50000"/>
            </a:avLst>
          </a:prstGeom>
          <a:solidFill>
            <a:srgbClr val="F2834B"/>
          </a:solidFill>
          <a:ln/>
        </p:spPr>
      </p:sp>
      <p:sp>
        <p:nvSpPr>
          <p:cNvPr id="29" name="Text 26"/>
          <p:cNvSpPr/>
          <p:nvPr/>
        </p:nvSpPr>
        <p:spPr>
          <a:xfrm>
            <a:off x="4392168" y="4512564"/>
            <a:ext cx="859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APROVA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4392168" y="4841748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Gerente do Ativo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4392168" y="5298948"/>
            <a:ext cx="3404616" cy="854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final do plano consolidado (POB + custo) antes do envio e divulgação oficial.</a:t>
            </a:r>
            <a:endParaRPr lang="en-US" sz="970" dirty="0"/>
          </a:p>
        </p:txBody>
      </p:sp>
      <p:sp>
        <p:nvSpPr>
          <p:cNvPr id="32" name="Text 29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(1/3)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Cruzado com os planos reais de 2026 de ABL, CLUSTER e FPSO Frade — linhas confirmadas foram validadas por esse histórico (1/3).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Manutenção e Confiabilidade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preventivas e corretivas (SAP), campanhas de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POB de terceiro (vendor) — entra independente de OPEX ou 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Projetos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Modificação de Eficiência da Produção;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Maturidade mínima PML2 (Fase FEL ≥ FEL 2 - Básico)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Construção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Intervenções estruturais e de turnaround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corretivas M1 e M5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Integridade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Inspeções e campanhas de integridade (ENDs, CUI, válvulas)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Integridade/Regulatório; risco a barreira crítica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(2/3)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Continuação — critérios de elegibilidade por área, cruzados com o histórico real de 2026 (2/3).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Naval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naval: tanques, mangotes, vasos, amarras, casco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Exigências das classificadoras (ABS, DNV) e inspeções de classe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Medição Fiscal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Depto. de Medição Fiscal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Calibração/testes de medidores fiscais, cromatografia, auditorias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Conformidade regulatória de medição fiscal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Parada Programada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Parada/Manut./Constr./Integr./Projetos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 escopos de múltiplas disciplinas na janela de parada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Ordens Z17 — entra sempre, sem exceção de priorização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SMS — Ocup., Processos, Saúde e Qualidade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SMS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Ações corretivas de risco, adequação a barreiras críticas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Potencial de lesão/fatalidade ou dano ambiental; NR/SGSO (ANP)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08 · QUEM ALIMENTA O PLANO (3/3)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Áreas da PRIO e seus inputs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Regulatório não aparece como área própria: suas exigências estão distribuídas entre Naval (classificadoras) e SMS (ANP) — (3/3).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402336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3246120"/>
                <a:gridCol w="3063240"/>
                <a:gridCol w="1124712"/>
              </a:tblGrid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Área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Solicitante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O que normalmente entra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Critério de elegibilidade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Status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Processos e Químicos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Processos e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Otimização de processo, tratamento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em confiabilidade de processo ou consumo químico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Suporte Técnico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Suporte Técnico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técnicos, otimização comercial de óleo/gás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direto em receita ou eficiência de escoamento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a validar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34B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Desenvolvimento da Produção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Desenvolvimento da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Comissionamento de novos poços; escopos de conexão à planta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Desenvolvimento da Produção; necessário para start-up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confirmado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E34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Planejamento Integrado</a:t>
                      </a:r>
                      <a:endParaRPr lang="en-US" sz="83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de Planejamento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Consolidação, nivelamento e versionamento do plano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processo — não solicita escopo próprio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papel de processo</a:t>
                      </a:r>
                      <a:endParaRPr lang="en-US" sz="8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09 · REGRAS TRANSVERSAIS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Critérios gerais de elegibilidade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Valem para qualquer área, antes dos critérios específicos de cada uma.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12064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12064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POB de terceiro (vendor)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12064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atividade exige POB terceiro, ela entra no plano — não importa se é OPEX ou CAPEX.</a:t>
            </a:r>
            <a:endParaRPr lang="en-US" sz="970" dirty="0"/>
          </a:p>
        </p:txBody>
      </p:sp>
      <p:sp>
        <p:nvSpPr>
          <p:cNvPr id="11" name="Shape 8"/>
          <p:cNvSpPr/>
          <p:nvPr/>
        </p:nvSpPr>
        <p:spPr>
          <a:xfrm>
            <a:off x="4245864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392168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392168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Linha CAPEX × OPEX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392168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≥ US$ 150k são tratados como CAPEX; abaixo disso, alocados como OPEX (premissa do ciclo anterior).</a:t>
            </a:r>
            <a:endParaRPr lang="en-US" sz="970" dirty="0"/>
          </a:p>
        </p:txBody>
      </p:sp>
      <p:sp>
        <p:nvSpPr>
          <p:cNvPr id="15" name="Shape 12"/>
          <p:cNvSpPr/>
          <p:nvPr/>
        </p:nvSpPr>
        <p:spPr>
          <a:xfrm>
            <a:off x="8125968" y="228600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72272" y="24323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72272" y="272491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Parada Programada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8272272" y="318211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Ordens Z17 entram.</a:t>
            </a:r>
            <a:endParaRPr lang="en-US" sz="970" dirty="0"/>
          </a:p>
        </p:txBody>
      </p:sp>
      <p:sp>
        <p:nvSpPr>
          <p:cNvPr id="19" name="Shape 16"/>
          <p:cNvSpPr/>
          <p:nvPr/>
        </p:nvSpPr>
        <p:spPr>
          <a:xfrm>
            <a:off x="365760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12064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12064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Maturidade de projeto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12064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só entram a partir da fase PML2 (Fase FEL ≥ FEL 2 - Básico), como Eficiência da Produção ou Desenvolvimento da Produção.</a:t>
            </a:r>
            <a:endParaRPr lang="en-US" sz="970" dirty="0"/>
          </a:p>
        </p:txBody>
      </p:sp>
      <p:sp>
        <p:nvSpPr>
          <p:cNvPr id="23" name="Shape 20"/>
          <p:cNvSpPr/>
          <p:nvPr/>
        </p:nvSpPr>
        <p:spPr>
          <a:xfrm>
            <a:off x="4245864" y="4366260"/>
            <a:ext cx="3697224" cy="189738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4392168" y="451256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92168" y="4805172"/>
            <a:ext cx="3404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Diretriz estratégica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392168" y="5262372"/>
            <a:ext cx="3404616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7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solicitante já levanta o escopo, no Building, com base na Diretriz Estratégica da sua Gerência Executiva — vínculo definido na origem, não só checado na aprovação.</a:t>
            </a:r>
            <a:endParaRPr lang="en-US" sz="970" dirty="0"/>
          </a:p>
        </p:txBody>
      </p:sp>
      <p:sp>
        <p:nvSpPr>
          <p:cNvPr id="27" name="Text 2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10 · LEVANTAMENTO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Dados básicos por escopo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Campos preenchidos pelo engenheiro de disciplina ao abrir a atividade, organizados pelas etapas do formulário.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31720"/>
          <a:ext cx="11457432" cy="3840480"/>
        </p:xfrm>
        <a:graphic>
          <a:graphicData uri="http://schemas.openxmlformats.org/drawingml/2006/table">
            <a:tbl>
              <a:tblPr/>
              <a:tblGrid>
                <a:gridCol w="2651760"/>
                <a:gridCol w="8805672"/>
              </a:tblGrid>
              <a:tr h="768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Etapa do formulário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Campos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Dados Básicos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da atividade, solicitante, equipe demandante, categoria do escopo, aplicação (OPEX/CAPEX), equipe executora, fornecedor, localidade funcional, fase FEL, ano, recorrência, ordem de serviço, tipo de ordem, centro de trabalho, terceiro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POB Mensal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Distribuição de POB (pessoas·dia) mês a mês ao longo do ano do plano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Custos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material, custo de serviço, custo total consolidado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Priorização</a:t>
                      </a:r>
                      <a:endParaRPr lang="en-US" sz="11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ct val="12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6B66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Respostas aos critérios de Segurança, Regulatório, Financeiro/Patrimônio e Produção — ver seção 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11 · CONSOLIDAÇÃO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Do escopo priorizado ao plano aprovado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O Coordenador confronta prioridade com diretriz estratégica; o resultado é alinhado com os Gerentes Executivos antes de virar plano de POB e custo.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Crivo do Coordenador / Gerente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4864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solicitação priorizada é avaliada pelo Coordenador do ativo, que aprova, recusa ou devolve para ajuste com base na prioridade e na diretriz estratégica.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13" name="Text 10"/>
          <p:cNvSpPr/>
          <p:nvPr/>
        </p:nvSpPr>
        <p:spPr>
          <a:xfrm>
            <a:off x="62179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Coordenador de Operações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2510942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693822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876702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17" name="Text 14"/>
          <p:cNvSpPr/>
          <p:nvPr/>
        </p:nvSpPr>
        <p:spPr>
          <a:xfrm>
            <a:off x="2876702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2876702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Workshop com Gerentes Executivos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2876702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V0 já aprovada pelo Coordenador, o Eng. Planejamento apresenta o plano ao OIM e aos Gerentes Executivos para discussão e alinhamento.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876702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1" name="Text 18"/>
          <p:cNvSpPr/>
          <p:nvPr/>
        </p:nvSpPr>
        <p:spPr>
          <a:xfrm>
            <a:off x="2949854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 / Gerentes / OIM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4839005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021885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204765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25" name="Text 22"/>
          <p:cNvSpPr/>
          <p:nvPr/>
        </p:nvSpPr>
        <p:spPr>
          <a:xfrm>
            <a:off x="5204765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5204765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Nivelamento de capacidade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204765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aprovado é nivelado contra a capacidade de POB/dia do ativo, sinalizando meses acima da capacidade ou subutilizados.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204765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29" name="Text 26"/>
          <p:cNvSpPr/>
          <p:nvPr/>
        </p:nvSpPr>
        <p:spPr>
          <a:xfrm>
            <a:off x="5277917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Eng. Planejamento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7167067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49947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7532827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33" name="Text 30"/>
          <p:cNvSpPr/>
          <p:nvPr/>
        </p:nvSpPr>
        <p:spPr>
          <a:xfrm>
            <a:off x="7532827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1"/>
          <p:cNvSpPr/>
          <p:nvPr/>
        </p:nvSpPr>
        <p:spPr>
          <a:xfrm>
            <a:off x="7532827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Plano de POB + Custo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7532827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final por ativo/ano: POB total, custo de material e serviço, e a divisão CAPEX × OPEX resultante.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32827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37" name="Text 34"/>
          <p:cNvSpPr/>
          <p:nvPr/>
        </p:nvSpPr>
        <p:spPr>
          <a:xfrm>
            <a:off x="7605979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Saída consolidada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9495130" y="404164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DDEC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9678010" y="2377440"/>
            <a:ext cx="2145182" cy="3657600"/>
          </a:xfrm>
          <a:prstGeom prst="roundRect">
            <a:avLst>
              <a:gd name="adj" fmla="val 2131"/>
            </a:avLst>
          </a:prstGeom>
          <a:solidFill>
            <a:srgbClr val="FFFFFF"/>
          </a:solidFill>
          <a:ln w="12700">
            <a:solidFill>
              <a:srgbClr val="E1DDEC"/>
            </a:solidFill>
            <a:prstDash val="solid"/>
          </a:ln>
          <a:effectLst>
            <a:outerShdw sx="100000" sy="100000" kx="0" ky="0" algn="bl" rotWithShape="0" blurRad="76200" dist="25400" dir="5400000">
              <a:srgbClr val="2C2849">
                <a:alpha val="18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9860890" y="2560320"/>
            <a:ext cx="420624" cy="420624"/>
          </a:xfrm>
          <a:prstGeom prst="ellipse">
            <a:avLst/>
          </a:prstGeom>
          <a:solidFill>
            <a:srgbClr val="2C2849"/>
          </a:solidFill>
          <a:ln/>
        </p:spPr>
      </p:sp>
      <p:sp>
        <p:nvSpPr>
          <p:cNvPr id="41" name="Text 38"/>
          <p:cNvSpPr/>
          <p:nvPr/>
        </p:nvSpPr>
        <p:spPr>
          <a:xfrm>
            <a:off x="986089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834B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5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860890" y="3090672"/>
            <a:ext cx="177942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Versionamento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9860890" y="3675888"/>
            <a:ext cx="177942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evolui em versões (V0 Leveling &amp; Challenge → V0 aprovada → V2 Revisão → VF Oficial), rastreadas ao longo do processo.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9860890" y="5577840"/>
            <a:ext cx="1779422" cy="292608"/>
          </a:xfrm>
          <a:prstGeom prst="roundRect">
            <a:avLst>
              <a:gd name="adj" fmla="val 50000"/>
            </a:avLst>
          </a:prstGeom>
          <a:solidFill>
            <a:srgbClr val="F8F7F6"/>
          </a:solidFill>
          <a:ln/>
        </p:spPr>
      </p:sp>
      <p:sp>
        <p:nvSpPr>
          <p:cNvPr id="45" name="Text 42"/>
          <p:cNvSpPr/>
          <p:nvPr/>
        </p:nvSpPr>
        <p:spPr>
          <a:xfrm>
            <a:off x="9934042" y="5577840"/>
            <a:ext cx="16331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V0 → V2 → VF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12 · ANTES DA REUNIÃO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Pendências abertas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Pontos que precisam de validação do Diretor ou das áreas antes de o processo virar padrão.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11457432" cy="3840480"/>
          </a:xfrm>
          <a:prstGeom prst="roundRect">
            <a:avLst>
              <a:gd name="adj" fmla="val 952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66928" y="247802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3 pendências em aberto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" y="2807208"/>
            <a:ext cx="11055096" cy="3236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com cada coordenação as linhas marcadas como "a validar" na seção 08 — inputs e critérios foram inferidos do material recebido, não confirmados pela própria área.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se a Visão Geral (seção 01) deve desdobrar "Aprovação &amp; divulgação" em três passos — Revisar, Ajustes do Plano e Envio — para refletir o cronograma real (seção 03).</a:t>
            </a:r>
            <a:endParaRPr lang="en-US" sz="10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treinamento dedicado (ou confirmar cobertura pelo dia "Geral") para Medição Fiscal, Parada Programada, Reservatório/Produção (GP) e Desenvolvimento da Produção.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2C2849"/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402336"/>
            <a:ext cx="1042416" cy="1984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SEÇÃO 13 · TREINAMENTOS POR ÁREA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65760" y="1115568"/>
            <a:ext cx="11457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C2849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Agenda de capacitação, por área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365760" y="1700784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Cada dia tem uma sessão da manhã e uma da tarde, para públicos diferentes. Dados da Agenda de Treinamentos oficial.</a:t>
            </a:r>
            <a:endParaRPr lang="en-US" sz="12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286000"/>
          <a:ext cx="11457432" cy="3063240"/>
        </p:xfrm>
        <a:graphic>
          <a:graphicData uri="http://schemas.openxmlformats.org/drawingml/2006/table">
            <a:tbl>
              <a:tblPr/>
              <a:tblGrid>
                <a:gridCol w="1005840"/>
                <a:gridCol w="4114800"/>
                <a:gridCol w="4114800"/>
                <a:gridCol w="2221992"/>
              </a:tblGrid>
              <a:tr h="38290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Data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09h–11h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16h–18h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Responsável</a:t>
                      </a:r>
                      <a:endParaRPr lang="en-US" sz="95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787D4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25/08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Operações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26/08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Engenheiros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Convite livre / toda a PRIO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27/08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e Confiabilidade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28/08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/ Processos e Químicos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Construção e 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 / Accenture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31/08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SMS: Ocupacional, Processos, Saúde e Qualidade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 e Trading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01/09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 — Comunicação, BPs, TI, Log Marítima e Pessoas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3º/4º andar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7F6"/>
                    </a:solidFill>
                  </a:tcPr>
                </a:tc>
              </a:tr>
              <a:tr h="38290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C2849"/>
                          </a:solidFill>
                          <a:latin typeface="Epilogue Medium" pitchFamily="34" charset="0"/>
                          <a:ea typeface="Epilogue Medium" pitchFamily="34" charset="-122"/>
                          <a:cs typeface="Epilogue Medium" pitchFamily="34" charset="-120"/>
                        </a:rPr>
                        <a:t>02/09</a:t>
                      </a:r>
                      <a:endParaRPr lang="en-US" sz="900" dirty="0">
                        <a:latin typeface="Epilogue Medium" charset="0"/>
                        <a:ea typeface="Epilogue Medium" charset="0"/>
                        <a:cs typeface="Epilogue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C28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Eng. Planejamento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5440680"/>
            <a:ext cx="11457432" cy="914400"/>
          </a:xfrm>
          <a:prstGeom prst="roundRect">
            <a:avLst>
              <a:gd name="adj" fmla="val 4000"/>
            </a:avLst>
          </a:prstGeom>
          <a:solidFill>
            <a:srgbClr val="F2834B">
              <a:alpha val="12000"/>
            </a:srgbClr>
          </a:solidFill>
          <a:ln w="12700">
            <a:solidFill>
              <a:srgbClr val="F2834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66928" y="55869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2849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Áreas sem sessão dedicada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66928" y="5916168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6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Fiscal, Parada Programada, Reservatório/Produção (GP) e Desenvolvimento da Produção não aparecem em nenhum dia específico — podem estar cobertas pela sessão "Geral" de 02/09, ou precisar de horário próprio a confirmar.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365760" y="65471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Planejamento Integrado · Operações Topside — documento de apoio, rascunho para validação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11338560" y="654710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682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978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389120"/>
            <a:ext cx="4937760" cy="4937760"/>
          </a:xfrm>
          <a:prstGeom prst="ellipse">
            <a:avLst/>
          </a:prstGeom>
          <a:solidFill>
            <a:srgbClr val="2C2849">
              <a:alpha val="18000"/>
            </a:srgbClr>
          </a:solidFill>
          <a:ln/>
        </p:spPr>
      </p:sp>
      <p:pic>
        <p:nvPicPr>
          <p:cNvPr id="3" name="Image 0" descr="/tmp/claude-0/-workspace-Planejamento/79ba2b6d-20da-5e48-9126-441c472dc123/scratchpad/prio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737360" cy="3310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2286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834B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PRÓXIMOS PASSOS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48640" y="26517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Epilogue Black" pitchFamily="34" charset="0"/>
                <a:ea typeface="Epilogue Black" pitchFamily="34" charset="-122"/>
                <a:cs typeface="Epilogue Black" pitchFamily="34" charset="-120"/>
              </a:rPr>
              <a:t>Validar o processo, fechar as pendências, e transformar este rito em padrão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3886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Validar as 3 pendências abertas (seção 12) com as áreas e com a Gestão da Produção</a:t>
            </a:r>
            <a:endParaRPr lang="en-US" sz="1350" dirty="0"/>
          </a:p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Confirmar responsáveis do Quadro de Equipes (seção 02) por unidade</a:t>
            </a:r>
            <a:endParaRPr lang="en-US" sz="1350" dirty="0"/>
          </a:p>
          <a:p>
            <a:pPr marL="203200" indent="-2032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Divulgar os critérios da matriz de priorização (seção 06) e o calendário 2027 (seção 03) para todas as áreas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AE6F7"/>
                </a:solidFill>
                <a:latin typeface="Epilogue Medium" pitchFamily="34" charset="0"/>
                <a:ea typeface="Epilogue Medium" pitchFamily="34" charset="-122"/>
                <a:cs typeface="Epilogue Medium" pitchFamily="34" charset="-120"/>
              </a:rPr>
              <a:t>Documento de apoio à reunião de processo — Diretoria de Operações PRIO · rascunho para validação, não é uma versão oficial do plano.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Integrado — Operações Topside</dc:title>
  <dc:subject>PptxGenJS Presentation</dc:subject>
  <dc:creator>Coordenação de Planejamento</dc:creator>
  <cp:lastModifiedBy>Coordenação de Planejamento</cp:lastModifiedBy>
  <cp:revision>1</cp:revision>
  <dcterms:created xsi:type="dcterms:W3CDTF">2026-08-25T15:38:16Z</dcterms:created>
  <dcterms:modified xsi:type="dcterms:W3CDTF">2026-08-25T15:38:16Z</dcterms:modified>
</cp:coreProperties>
</file>