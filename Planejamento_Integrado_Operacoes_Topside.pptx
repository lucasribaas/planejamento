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78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303520" cy="5303520"/>
          </a:xfrm>
          <a:prstGeom prst="ellipse">
            <a:avLst/>
          </a:prstGeom>
          <a:solidFill>
            <a:srgbClr val="2C2849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97680"/>
            <a:ext cx="3291840" cy="3291840"/>
          </a:xfrm>
          <a:prstGeom prst="ellipse">
            <a:avLst/>
          </a:prstGeom>
          <a:solidFill>
            <a:srgbClr val="F2834B">
              <a:alpha val="28000"/>
            </a:srgbClr>
          </a:solidFill>
          <a:ln/>
        </p:spPr>
      </p:sp>
      <p:pic>
        <p:nvPicPr>
          <p:cNvPr id="4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874520" cy="356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PROCESSO · DIRETORIA DE OPERAÇÕES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Planejamento Integrado de Operações Topside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03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Como construímos, juntos, o plano de trabalho de cada área — os inputs que o alimentam, a forma como priorizamos, e o que a companhia recebe como resultado.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 ano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Horizonte do plano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55848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0440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520440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Unidades operadas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63056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27648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15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Áreas mapeadas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70264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34856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Semestral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9134856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Ciclo de construção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E6F7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Reunião de processo — material de apoio, rascunho para validação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SUMÁRIO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Treze etapas, uma linha de raciocínio única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Do fluxo do processo até as pendências que ainda precisam de validação do Diretor.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5097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Visão geral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5097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As 5 etapas do rito, ponta a ponta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5097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Quadro de equipes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5097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Responsáveis por área e por unidade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576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5097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Calendário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5097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Datas reais do cronograma 2027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6576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576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95097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Matriz Prioridade × Esforço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95097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Onde investir esforço primeiro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6576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05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5097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Matriz de priorização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5097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Como pontuamos cada escopo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5760" y="52349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65760" y="5234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06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50976" y="518007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Critérios da matriz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950976" y="546354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 que está por trás da nota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65760" y="58155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65760" y="5815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07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50976" y="57607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Papéis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50976" y="604418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Quem solicita, nivela, aprova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08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4029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Quem alimenta o plano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694029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15 áreas e seus critérios de entrada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35508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09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4029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Regras transversais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694029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Critérios válidos para qualquer área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35508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3550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10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4029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Levantamento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694029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Dados básicos exigidos por escopo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5508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5508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11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94029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Consolidação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694029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Do escopo priorizado ao plano aprovado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635508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5508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12</a:t>
            </a:r>
            <a:endParaRPr lang="en-US" sz="1400" dirty="0"/>
          </a:p>
        </p:txBody>
      </p:sp>
      <p:sp>
        <p:nvSpPr>
          <p:cNvPr id="53" name="Text 50"/>
          <p:cNvSpPr/>
          <p:nvPr/>
        </p:nvSpPr>
        <p:spPr>
          <a:xfrm>
            <a:off x="694029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Pendências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694029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 que falta validar antes do padrão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6355080" y="52349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355080" y="5234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13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6940296" y="518007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Treinamentos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940296" y="546354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Agenda de capacitação por área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O processo tem cinco etapas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 comunicação inicial até o plano oficial divulgado, cada escopo passa pela mesma esteira — independente da área que o solicitou.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Comunicação &amp; treinamento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 do rito para toda a PRIO; treinamento macro e, na sequência, treinamento intensivo por disciplina.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Accenture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876702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17" name="Text 14"/>
          <p:cNvSpPr/>
          <p:nvPr/>
        </p:nvSpPr>
        <p:spPr>
          <a:xfrm>
            <a:off x="2876702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Building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engenheiro solicita escopo com base na Diretriz Estratégica da sua Gerência Executiva, define custo, POB e ano; sincroniza SAP ou importa planilha.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Engenheiros de disciplina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204765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25" name="Text 22"/>
          <p:cNvSpPr/>
          <p:nvPr/>
        </p:nvSpPr>
        <p:spPr>
          <a:xfrm>
            <a:off x="5204765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Leveling &amp; Challenge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nivela a demanda pela matriz de priorização, POB e capex disponíveis, e contrapõe as propostas de cada área. Gera o esboço V0.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Coordenador do Ativo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532827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33" name="Text 30"/>
          <p:cNvSpPr/>
          <p:nvPr/>
        </p:nvSpPr>
        <p:spPr>
          <a:xfrm>
            <a:off x="7532827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crivo do Coordenador sobre a V0, o Eng. Planejamento do Ativo apresenta o plano ao OIM e aos Gerentes Executivos para alinhamento.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986089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41" name="Text 38"/>
          <p:cNvSpPr/>
          <p:nvPr/>
        </p:nvSpPr>
        <p:spPr>
          <a:xfrm>
            <a:off x="986089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Aprovação &amp; divulgação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e Coordenador do Ativo revisam e aprovam (V2); o plano final (VF) é enviado e divulgado a todas as áreas.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Gerente do Ativo</a:t>
            </a:r>
            <a:endParaRPr lang="en-US" sz="830" dirty="0"/>
          </a:p>
        </p:txBody>
      </p:sp>
      <p:sp>
        <p:nvSpPr>
          <p:cNvPr id="46" name="Text 43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02 · QUADRO DE EQUIPES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Quem responde por cada área, em cada unidade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Mesmo modelo de segregação por departamento do Plano de Desenvolvimento. Estrutura em branco — nomes a preencher pelas coordenações.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40280"/>
          <a:ext cx="11457432" cy="4160520"/>
        </p:xfrm>
        <a:graphic>
          <a:graphicData uri="http://schemas.openxmlformats.org/drawingml/2006/table">
            <a:tbl>
              <a:tblPr/>
              <a:tblGrid>
                <a:gridCol w="3044952"/>
                <a:gridCol w="2103120"/>
                <a:gridCol w="2103120"/>
                <a:gridCol w="2103120"/>
                <a:gridCol w="2103120"/>
              </a:tblGrid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ABL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Cluster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Frade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Coordenador de Operações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Manutenção e Confiabilidade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Projetos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Construção e TA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 (estrutural)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Naval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Medição Fiscal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Parada Programada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/ Sustentabilidade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Processos e Químicos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Suporte Técnico e Trading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Reservatório / Produção (GP)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Desenvolvimento da Produção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Planejamento Integrado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Logística Marítima e Log de Pessoas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Comunicação, BPs, TI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6682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[nome]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03 · CALENDÁRIO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Linha do tempo consolidada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Datas reais do Cronograma Plano Integrado 2027 — cada linha é uma etapa do rito, com início e fim confirmados.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880360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Ago S4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98214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S1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116068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S2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33922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51776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69630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Out S1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587484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Out S2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705338" y="2286000"/>
            <a:ext cx="111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Out S3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5760" y="2578608"/>
            <a:ext cx="11457432" cy="12802"/>
          </a:xfrm>
          <a:prstGeom prst="rect">
            <a:avLst/>
          </a:prstGeom>
          <a:solidFill>
            <a:srgbClr val="E1DDEC"/>
          </a:solidFill>
          <a:ln/>
        </p:spPr>
      </p:sp>
      <p:sp>
        <p:nvSpPr>
          <p:cNvPr id="16" name="Text 13"/>
          <p:cNvSpPr/>
          <p:nvPr/>
        </p:nvSpPr>
        <p:spPr>
          <a:xfrm>
            <a:off x="365760" y="260604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Comunicação &amp; divulgação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25–27/08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80360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98214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16068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33922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51776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69630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587484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05338" y="25786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6080" y="2658618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" y="304038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Treinamento (macro + intensivo)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27/08–02/09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880360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998214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116068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33922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351776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469630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587484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705338" y="30129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926080" y="3092958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36" name="Text 33"/>
          <p:cNvSpPr/>
          <p:nvPr/>
        </p:nvSpPr>
        <p:spPr>
          <a:xfrm>
            <a:off x="365760" y="347472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Building — preenchimento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31/08–11/09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2880360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998214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116068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233922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351776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469630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587484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705338" y="34472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926080" y="3527298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46" name="Shape 43"/>
          <p:cNvSpPr/>
          <p:nvPr/>
        </p:nvSpPr>
        <p:spPr>
          <a:xfrm>
            <a:off x="6105906" y="3536442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105906" y="35364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11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365760" y="390906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Leveling &amp; Challenge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14–18/09 · V0/V1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880360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998214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16068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233922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351776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469630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587484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705338" y="388162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279642" y="3961638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58" name="Text 55"/>
          <p:cNvSpPr/>
          <p:nvPr/>
        </p:nvSpPr>
        <p:spPr>
          <a:xfrm>
            <a:off x="365760" y="434340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Gerencial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21–22/09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880360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3998214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16068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233922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51776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8469630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587484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0705338" y="431596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279642" y="4395978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68" name="Text 65"/>
          <p:cNvSpPr/>
          <p:nvPr/>
        </p:nvSpPr>
        <p:spPr>
          <a:xfrm>
            <a:off x="365760" y="477774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Revisar — aprovação V0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23–24/09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2880360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3998214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116068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233922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7351776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8469630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9587484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0705338" y="475030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7397496" y="4830318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78" name="Text 75"/>
          <p:cNvSpPr/>
          <p:nvPr/>
        </p:nvSpPr>
        <p:spPr>
          <a:xfrm>
            <a:off x="365760" y="521208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Ajustes do plano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28/09–09/10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2880360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998214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5116068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6233922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7351776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8469630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9587484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10705338" y="518464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7397496" y="5264658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88" name="Text 85"/>
          <p:cNvSpPr/>
          <p:nvPr/>
        </p:nvSpPr>
        <p:spPr>
          <a:xfrm>
            <a:off x="365760" y="5646420"/>
            <a:ext cx="238658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 Approval — envio do plano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12/10</a:t>
            </a:r>
            <a:endParaRPr lang="en-US" sz="1000" dirty="0"/>
          </a:p>
        </p:txBody>
      </p:sp>
      <p:sp>
        <p:nvSpPr>
          <p:cNvPr id="89" name="Shape 86"/>
          <p:cNvSpPr/>
          <p:nvPr/>
        </p:nvSpPr>
        <p:spPr>
          <a:xfrm>
            <a:off x="2880360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3998214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5116068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6233922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7351776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8469630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9587484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0705338" y="5618988"/>
            <a:ext cx="1117854" cy="434340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9633204" y="5698998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98" name="Shape 95"/>
          <p:cNvSpPr/>
          <p:nvPr/>
        </p:nvSpPr>
        <p:spPr>
          <a:xfrm>
            <a:off x="10577322" y="5708142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10577322" y="57081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12</a:t>
            </a:r>
            <a:endParaRPr lang="en-US" sz="800" dirty="0"/>
          </a:p>
        </p:txBody>
      </p:sp>
      <p:sp>
        <p:nvSpPr>
          <p:cNvPr id="100" name="Shape 97"/>
          <p:cNvSpPr/>
          <p:nvPr/>
        </p:nvSpPr>
        <p:spPr>
          <a:xfrm>
            <a:off x="365760" y="6163056"/>
            <a:ext cx="201168" cy="128016"/>
          </a:xfrm>
          <a:prstGeom prst="roundRect">
            <a:avLst/>
          </a:prstGeom>
          <a:solidFill>
            <a:srgbClr val="10A9FF"/>
          </a:solidFill>
          <a:ln/>
        </p:spPr>
      </p:sp>
      <p:sp>
        <p:nvSpPr>
          <p:cNvPr id="101" name="Text 98"/>
          <p:cNvSpPr/>
          <p:nvPr/>
        </p:nvSpPr>
        <p:spPr>
          <a:xfrm>
            <a:off x="621792" y="610819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Rito do plano</a:t>
            </a:r>
            <a:endParaRPr lang="en-US" sz="950" dirty="0"/>
          </a:p>
        </p:txBody>
      </p:sp>
      <p:sp>
        <p:nvSpPr>
          <p:cNvPr id="102" name="Shape 99"/>
          <p:cNvSpPr/>
          <p:nvPr/>
        </p:nvSpPr>
        <p:spPr>
          <a:xfrm>
            <a:off x="2286000" y="6163056"/>
            <a:ext cx="201168" cy="128016"/>
          </a:xfrm>
          <a:prstGeom prst="roundRect">
            <a:avLst/>
          </a:prstGeom>
          <a:solidFill>
            <a:srgbClr val="F2834B"/>
          </a:solidFill>
          <a:ln/>
        </p:spPr>
      </p:sp>
      <p:sp>
        <p:nvSpPr>
          <p:cNvPr id="103" name="Text 100"/>
          <p:cNvSpPr/>
          <p:nvPr/>
        </p:nvSpPr>
        <p:spPr>
          <a:xfrm>
            <a:off x="2542032" y="610819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Aprovação / revisão</a:t>
            </a:r>
            <a:endParaRPr lang="en-US" sz="950" dirty="0"/>
          </a:p>
        </p:txBody>
      </p:sp>
      <p:sp>
        <p:nvSpPr>
          <p:cNvPr id="104" name="Text 101"/>
          <p:cNvSpPr/>
          <p:nvPr/>
        </p:nvSpPr>
        <p:spPr>
          <a:xfrm>
            <a:off x="4846320" y="6108192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11 = 11/09 · fim do Building     12 = 12/10 · envio do plano</a:t>
            </a:r>
            <a:endParaRPr lang="en-US" sz="950" dirty="0"/>
          </a:p>
        </p:txBody>
      </p:sp>
      <p:sp>
        <p:nvSpPr>
          <p:cNvPr id="105" name="Text 102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04 · O QUE ESTÁ POR TRÁS DO PLANO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Matriz Prioridade × Esforço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Adaptação da matriz Prêmio × Esforço do Plano de Desenvolvimento: prioridade no eixo vertical, esforço em cama-dia no eixo horizontal.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22128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Proposta ilustrativa — pontos de exemplo, não dados reais do ciclo atual.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3474720" cy="1883664"/>
          </a:xfrm>
          <a:prstGeom prst="rect">
            <a:avLst/>
          </a:prstGeom>
          <a:solidFill>
            <a:srgbClr val="85E34D">
              <a:alpha val="10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4023360" y="2542032"/>
            <a:ext cx="3474720" cy="1883664"/>
          </a:xfrm>
          <a:prstGeom prst="rect">
            <a:avLst/>
          </a:prstGeom>
          <a:solidFill>
            <a:srgbClr val="F2834B">
              <a:alpha val="1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4425696"/>
            <a:ext cx="3474720" cy="1883664"/>
          </a:xfrm>
          <a:prstGeom prst="rect">
            <a:avLst/>
          </a:prstGeom>
          <a:solidFill>
            <a:srgbClr val="9A93B8">
              <a:alpha val="10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4023360" y="4425696"/>
            <a:ext cx="3474720" cy="1883664"/>
          </a:xfrm>
          <a:prstGeom prst="rect">
            <a:avLst/>
          </a:prstGeom>
          <a:solidFill>
            <a:srgbClr val="D1554B">
              <a:alpha val="10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65836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5E34D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Quick win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13308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Planejar com antecedência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836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Oportunista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13308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155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Reavaliar / backlog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2542032"/>
            <a:ext cx="12802" cy="3767328"/>
          </a:xfrm>
          <a:prstGeom prst="rect">
            <a:avLst/>
          </a:prstGeom>
          <a:solidFill>
            <a:srgbClr val="6B6682"/>
          </a:solidFill>
          <a:ln/>
        </p:spPr>
      </p:sp>
      <p:sp>
        <p:nvSpPr>
          <p:cNvPr id="17" name="Shape 14"/>
          <p:cNvSpPr/>
          <p:nvPr/>
        </p:nvSpPr>
        <p:spPr>
          <a:xfrm>
            <a:off x="548640" y="6309360"/>
            <a:ext cx="6949440" cy="12802"/>
          </a:xfrm>
          <a:prstGeom prst="rect">
            <a:avLst/>
          </a:prstGeom>
          <a:solidFill>
            <a:srgbClr val="6B6682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63550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Esforço (cama-dia) 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 rot="16200000">
            <a:off x="-1600200" y="4288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Prioridade (pts)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1588" y="5208880"/>
            <a:ext cx="158191" cy="1581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52348" y="5090008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52348" y="50900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243584" y="4043477"/>
            <a:ext cx="193853" cy="1938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10005" y="3924605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10005" y="3924605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639519" y="3093415"/>
            <a:ext cx="281635" cy="28163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639519" y="3093415"/>
            <a:ext cx="281635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18638" y="3364535"/>
            <a:ext cx="386791" cy="3867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818638" y="3364535"/>
            <a:ext cx="386791" cy="3867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408780" y="2435504"/>
            <a:ext cx="562356" cy="562356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408780" y="2435504"/>
            <a:ext cx="56235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876038" y="2802179"/>
            <a:ext cx="492862" cy="492862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876038" y="2802179"/>
            <a:ext cx="492862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79592" y="4191610"/>
            <a:ext cx="422453" cy="4224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879592" y="4191610"/>
            <a:ext cx="422453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829654" y="2286000"/>
            <a:ext cx="632765" cy="63276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29654" y="2286000"/>
            <a:ext cx="632765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772400" y="259689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0" y="2596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8065008" y="254203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Estudo de Viabilidade (Backlog)  ·  CAPEX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8065008" y="277977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25 pts · ~80 cama-dia · US$ 30k</a:t>
            </a:r>
            <a:endParaRPr lang="en-US" sz="820" dirty="0"/>
          </a:p>
        </p:txBody>
      </p:sp>
      <p:sp>
        <p:nvSpPr>
          <p:cNvPr id="42" name="Shape 39"/>
          <p:cNvSpPr/>
          <p:nvPr/>
        </p:nvSpPr>
        <p:spPr>
          <a:xfrm>
            <a:off x="7772400" y="306781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43" name="Text 40"/>
          <p:cNvSpPr/>
          <p:nvPr/>
        </p:nvSpPr>
        <p:spPr>
          <a:xfrm>
            <a:off x="7772400" y="30678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8065008" y="301294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Calibração de Medidores Fiscais  ·  OPEX</a:t>
            </a:r>
            <a:endParaRPr lang="en-US" sz="930" dirty="0"/>
          </a:p>
        </p:txBody>
      </p:sp>
      <p:sp>
        <p:nvSpPr>
          <p:cNvPr id="45" name="Text 42"/>
          <p:cNvSpPr/>
          <p:nvPr/>
        </p:nvSpPr>
        <p:spPr>
          <a:xfrm>
            <a:off x="8065008" y="325069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55 pts · ~150 cama-dia · US$ 50k</a:t>
            </a:r>
            <a:endParaRPr lang="en-US" sz="820" dirty="0"/>
          </a:p>
        </p:txBody>
      </p:sp>
      <p:sp>
        <p:nvSpPr>
          <p:cNvPr id="46" name="Shape 43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47" name="Text 44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8065008" y="348386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Troca de Selo Mecânico  ·  OPEX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65008" y="372160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78 pts · ~230 cama-dia · US$ 175k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7772400" y="4009644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</p:sp>
      <p:sp>
        <p:nvSpPr>
          <p:cNvPr id="51" name="Text 48"/>
          <p:cNvSpPr/>
          <p:nvPr/>
        </p:nvSpPr>
        <p:spPr>
          <a:xfrm>
            <a:off x="7772400" y="40096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065008" y="3954780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Retrofit CO2 (Sustentabilidade)  ·  CAPEX</a:t>
            </a:r>
            <a:endParaRPr lang="en-US" sz="930" dirty="0"/>
          </a:p>
        </p:txBody>
      </p:sp>
      <p:sp>
        <p:nvSpPr>
          <p:cNvPr id="53" name="Text 50"/>
          <p:cNvSpPr/>
          <p:nvPr/>
        </p:nvSpPr>
        <p:spPr>
          <a:xfrm>
            <a:off x="8065008" y="4192524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68 pts · ~420 cama-dia · US$ 600k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7772400" y="4480560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55" name="Text 52"/>
          <p:cNvSpPr/>
          <p:nvPr/>
        </p:nvSpPr>
        <p:spPr>
          <a:xfrm>
            <a:off x="7772400" y="4480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8065008" y="4425696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Campanha de Tanques (Naval)  ·  OPEX</a:t>
            </a:r>
            <a:endParaRPr lang="en-US" sz="930" dirty="0"/>
          </a:p>
        </p:txBody>
      </p:sp>
      <p:sp>
        <p:nvSpPr>
          <p:cNvPr id="57" name="Text 54"/>
          <p:cNvSpPr/>
          <p:nvPr/>
        </p:nvSpPr>
        <p:spPr>
          <a:xfrm>
            <a:off x="8065008" y="466344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88 pts · ~830 cama-dia · US$ 5,9M</a:t>
            </a:r>
            <a:endParaRPr lang="en-US" sz="820" dirty="0"/>
          </a:p>
        </p:txBody>
      </p:sp>
      <p:sp>
        <p:nvSpPr>
          <p:cNvPr id="58" name="Shape 55"/>
          <p:cNvSpPr/>
          <p:nvPr/>
        </p:nvSpPr>
        <p:spPr>
          <a:xfrm>
            <a:off x="7772400" y="495147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</p:sp>
      <p:sp>
        <p:nvSpPr>
          <p:cNvPr id="59" name="Text 56"/>
          <p:cNvSpPr/>
          <p:nvPr/>
        </p:nvSpPr>
        <p:spPr>
          <a:xfrm>
            <a:off x="7772400" y="49514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065008" y="489661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Adequação Topside — Novo Poço  ·  CAPEX</a:t>
            </a:r>
            <a:endParaRPr lang="en-US" sz="930" dirty="0"/>
          </a:p>
        </p:txBody>
      </p:sp>
      <p:sp>
        <p:nvSpPr>
          <p:cNvPr id="61" name="Text 58"/>
          <p:cNvSpPr/>
          <p:nvPr/>
        </p:nvSpPr>
        <p:spPr>
          <a:xfrm>
            <a:off x="8065008" y="513435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80 pts · ~980 cama-dia · US$ 3,2M</a:t>
            </a:r>
            <a:endParaRPr lang="en-US" sz="820" dirty="0"/>
          </a:p>
        </p:txBody>
      </p:sp>
      <p:sp>
        <p:nvSpPr>
          <p:cNvPr id="62" name="Shape 59"/>
          <p:cNvSpPr/>
          <p:nvPr/>
        </p:nvSpPr>
        <p:spPr>
          <a:xfrm>
            <a:off x="7772400" y="542239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63" name="Text 60"/>
          <p:cNvSpPr/>
          <p:nvPr/>
        </p:nvSpPr>
        <p:spPr>
          <a:xfrm>
            <a:off x="7772400" y="54223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8065008" y="536752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Pintura / Preservação (Integridade)  ·  OPEX</a:t>
            </a:r>
            <a:endParaRPr lang="en-US" sz="930" dirty="0"/>
          </a:p>
        </p:txBody>
      </p:sp>
      <p:sp>
        <p:nvSpPr>
          <p:cNvPr id="65" name="Text 62"/>
          <p:cNvSpPr/>
          <p:nvPr/>
        </p:nvSpPr>
        <p:spPr>
          <a:xfrm>
            <a:off x="8065008" y="560527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45 pts · ~1.250 cama-dia · US$ 1,1M</a:t>
            </a:r>
            <a:endParaRPr lang="en-US" sz="820" dirty="0"/>
          </a:p>
        </p:txBody>
      </p:sp>
      <p:sp>
        <p:nvSpPr>
          <p:cNvPr id="66" name="Shape 63"/>
          <p:cNvSpPr/>
          <p:nvPr/>
        </p:nvSpPr>
        <p:spPr>
          <a:xfrm>
            <a:off x="7772400" y="589330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67" name="Text 64"/>
          <p:cNvSpPr/>
          <p:nvPr/>
        </p:nvSpPr>
        <p:spPr>
          <a:xfrm>
            <a:off x="7772400" y="58933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8065008" y="583844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Parada Programada 2027  ·  OPEX</a:t>
            </a:r>
            <a:endParaRPr lang="en-US" sz="930" dirty="0"/>
          </a:p>
        </p:txBody>
      </p:sp>
      <p:sp>
        <p:nvSpPr>
          <p:cNvPr id="69" name="Text 66"/>
          <p:cNvSpPr/>
          <p:nvPr/>
        </p:nvSpPr>
        <p:spPr>
          <a:xfrm>
            <a:off x="8065008" y="607618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90 pts · ~2.600 cama-dia · US$ 8,0M</a:t>
            </a:r>
            <a:endParaRPr lang="en-US" sz="820" dirty="0"/>
          </a:p>
        </p:txBody>
      </p:sp>
      <p:sp>
        <p:nvSpPr>
          <p:cNvPr id="70" name="Text 6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71" name="Text 6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Matriz de priorização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100 pontos em quatro blocos, com trava automática para risco crítico de SMS ou regulatório.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777240"/>
          </a:xfrm>
          <a:prstGeom prst="roundRect">
            <a:avLst>
              <a:gd name="adj" fmla="val 4706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35915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Matriz validada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688336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oficial do sistema de levantamento de escopo (STAR) — regras de cálculo, travas e critério de cada bloco na seção 06.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65760" y="310896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12064" y="323697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Segurança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12064" y="367588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30 pts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2064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14" name="Shape 11"/>
          <p:cNvSpPr/>
          <p:nvPr/>
        </p:nvSpPr>
        <p:spPr>
          <a:xfrm>
            <a:off x="512064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5" name="Text 12"/>
          <p:cNvSpPr/>
          <p:nvPr/>
        </p:nvSpPr>
        <p:spPr>
          <a:xfrm>
            <a:off x="512064" y="427939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Trava P1 se houver risco de fatalidade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275838" y="310896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422142" y="323697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Regulatório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22142" y="367588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25 pts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3422142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0" name="Shape 17"/>
          <p:cNvSpPr/>
          <p:nvPr/>
        </p:nvSpPr>
        <p:spPr>
          <a:xfrm>
            <a:off x="3422142" y="407822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21" name="Text 18"/>
          <p:cNvSpPr/>
          <p:nvPr/>
        </p:nvSpPr>
        <p:spPr>
          <a:xfrm>
            <a:off x="3422142" y="427939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Trava P1 se houver embargo / interdição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185916" y="310896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332220" y="323697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Financeiro &amp; Patrimônio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32220" y="367588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20 pts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332220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6" name="Shape 23"/>
          <p:cNvSpPr/>
          <p:nvPr/>
        </p:nvSpPr>
        <p:spPr>
          <a:xfrm>
            <a:off x="6332220" y="4078224"/>
            <a:ext cx="1631175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27" name="Shape 24"/>
          <p:cNvSpPr/>
          <p:nvPr/>
        </p:nvSpPr>
        <p:spPr>
          <a:xfrm>
            <a:off x="9095994" y="310896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9242298" y="323697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Produção de Óleo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242298" y="367588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25 pts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9242298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31" name="Shape 28"/>
          <p:cNvSpPr/>
          <p:nvPr/>
        </p:nvSpPr>
        <p:spPr>
          <a:xfrm>
            <a:off x="9242298" y="407822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32" name="Text 29"/>
          <p:cNvSpPr/>
          <p:nvPr/>
        </p:nvSpPr>
        <p:spPr>
          <a:xfrm>
            <a:off x="9242298" y="427939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Só computa após validação da GP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6576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Classificação final: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65760" y="5349240"/>
            <a:ext cx="2933395" cy="384048"/>
          </a:xfrm>
          <a:prstGeom prst="roundRect">
            <a:avLst>
              <a:gd name="adj" fmla="val 50000"/>
            </a:avLst>
          </a:prstGeom>
          <a:solidFill>
            <a:srgbClr val="D1554B"/>
          </a:solidFill>
          <a:ln/>
        </p:spPr>
      </p:sp>
      <p:sp>
        <p:nvSpPr>
          <p:cNvPr id="35" name="Text 32"/>
          <p:cNvSpPr/>
          <p:nvPr/>
        </p:nvSpPr>
        <p:spPr>
          <a:xfrm>
            <a:off x="365760" y="5349240"/>
            <a:ext cx="29333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P1 Crítica · ≥ 85 pts ou trava acionada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482035" y="534924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37" name="Text 34"/>
          <p:cNvSpPr/>
          <p:nvPr/>
        </p:nvSpPr>
        <p:spPr>
          <a:xfrm>
            <a:off x="3482035" y="534924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P2 Alta · 70–84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018227" y="5349240"/>
            <a:ext cx="1419149" cy="384048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39" name="Text 36"/>
          <p:cNvSpPr/>
          <p:nvPr/>
        </p:nvSpPr>
        <p:spPr>
          <a:xfrm>
            <a:off x="5018227" y="5349240"/>
            <a:ext cx="1419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P3 Média · 50–69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620256" y="534924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9A93B8"/>
          </a:solidFill>
          <a:ln/>
        </p:spPr>
      </p:sp>
      <p:sp>
        <p:nvSpPr>
          <p:cNvPr id="41" name="Text 38"/>
          <p:cNvSpPr/>
          <p:nvPr/>
        </p:nvSpPr>
        <p:spPr>
          <a:xfrm>
            <a:off x="6620256" y="534924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P4 Baixa · &lt; 50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06 · O QUE ESTÁ POR TRÁS DA NOTA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Travas, Segurança e Regulatório (1/3)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Regras oficiais da Matriz de Priorização STAR — mesmos 4 blocos e 100 pontos da seção 05.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D1554B">
              <a:alpha val="12000"/>
            </a:srgbClr>
          </a:solidFill>
          <a:ln w="12700">
            <a:solidFill>
              <a:srgbClr val="D155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35915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Travas automáticas — elevam a P1 independente da nota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688336"/>
            <a:ext cx="11055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Segurança: fatalidade, explosão, incêndio, H2S ou grande acidente · barreira crítica indisponível ou degradada.</a:t>
            </a:r>
            <a:endParaRPr lang="en-US" sz="10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Regulatório: prazo regulatório vencido · embargo, interdição ou perda de licença.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3337560"/>
            <a:ext cx="5632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 · Segurança — 30 pts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11880"/>
          <a:ext cx="5632704" cy="1847088"/>
        </p:xfrm>
        <a:graphic>
          <a:graphicData uri="http://schemas.openxmlformats.org/drawingml/2006/table">
            <a:tbl>
              <a:tblPr/>
              <a:tblGrid>
                <a:gridCol w="3492276"/>
                <a:gridCol w="2140428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Severidade do pior cenário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3 · 6 · 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Barreira crítica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3 · 5 ·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Histórico de incidente/recorrência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Abrangência da exposição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3 ·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Urgência da mitigação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2 ·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181344" y="3337560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 · Regulatório — 25 pts</a:t>
            </a:r>
            <a:endParaRPr lang="en-US" sz="11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1344" y="3611880"/>
          <a:ext cx="5641848" cy="1847088"/>
        </p:xfrm>
        <a:graphic>
          <a:graphicData uri="http://schemas.openxmlformats.org/drawingml/2006/table">
            <a:tbl>
              <a:tblPr/>
              <a:tblGrid>
                <a:gridCol w="3497946"/>
                <a:gridCol w="2143902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Obrigação legal ou normativa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6 ·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Consequência do não atendimento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6 ·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formal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2 ·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Abrangência regulatória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06 · O QUE ESTÁ POR TRÁS DA NOTA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Financeiro &amp; Patrimônio (2/3)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Bloco de 20 pts: duas avaliações internas — vale a maior entre as duas, não a soma.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5637276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" y="247802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" y="247802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3.1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807208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Avaliação Financeira Econômica — até 20 pts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64408"/>
            <a:ext cx="534466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benefício/custo (até 6) · Custo de não fazer / custo do projeto (até 5) · Orçamento e janela de execução (até 4) · Tempo de captura do valor (até 3) · Maturidade da estimativa (até 2).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6185916" y="2331720"/>
            <a:ext cx="5637276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32220" y="247802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4" name="Text 11"/>
          <p:cNvSpPr/>
          <p:nvPr/>
        </p:nvSpPr>
        <p:spPr>
          <a:xfrm>
            <a:off x="6332220" y="247802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3.2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332220" y="2807208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Patrimônio / Integridade — bruta até 25 pts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332220" y="3264408"/>
            <a:ext cx="534466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Comprometimento de ativo crítico (até 8) · Degradação evidenciada (até 6) · Redundância do sistema (até 5) · Janela rara ou parada maior (até 3) · Risco de manutenção emergencial futura (até 3). Convertida para o bloco financeiro como bruta × 20/25.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365760" y="5486400"/>
            <a:ext cx="11457432" cy="777240"/>
          </a:xfrm>
          <a:prstGeom prst="roundRect">
            <a:avLst>
              <a:gd name="adj" fmla="val 4706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563270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Nota do bloco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596188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e Patrimônio = maior entre a Avaliação Financeira Econômica (3.1) e a Avaliação de Patrimônio/Integridade já convertida (3.2).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06 · O QUE ESTÁ POR TRÁS DA NOTA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Produção de Óleo (GP) e fórmula final (3/3)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Bloco de 25 pts, condicionado ao status da Gestão da Produção; fórmula final e regra de desempate.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777240"/>
          </a:xfrm>
          <a:prstGeom prst="roundRect">
            <a:avLst>
              <a:gd name="adj" fmla="val 4706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35915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Condição para pontuar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688336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entra no total quando o escopo influencia diretamente a produção de óleo e o status da GP está "Validada - computada" — nos demais status, entra como referência mas conta 0.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3063240"/>
            <a:ext cx="5632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4.1 · Relevância da perda do sistema — 15 pts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337560"/>
          <a:ext cx="5632704" cy="1847088"/>
        </p:xfrm>
        <a:graphic>
          <a:graphicData uri="http://schemas.openxmlformats.org/drawingml/2006/table">
            <a:tbl>
              <a:tblPr/>
              <a:tblGrid>
                <a:gridCol w="3492276"/>
                <a:gridCol w="2140428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15% e &lt; 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8% e &lt; 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3% e &lt; 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&lt; 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181344" y="3063240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4.2 · Benefício/Custo — 10 pts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1344" y="3337560"/>
          <a:ext cx="5641848" cy="1847088"/>
        </p:xfrm>
        <a:graphic>
          <a:graphicData uri="http://schemas.openxmlformats.org/drawingml/2006/table">
            <a:tbl>
              <a:tblPr/>
              <a:tblGrid>
                <a:gridCol w="3497946"/>
                <a:gridCol w="2143902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20x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10x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5x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1x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1x ou sem custo informado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81344" y="5001768"/>
            <a:ext cx="5641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em US$ = perda evitada (bbl) × 75 · relação = benefício ÷ custo do projeto</a:t>
            </a:r>
            <a:endParaRPr lang="en-US" sz="830" dirty="0"/>
          </a:p>
        </p:txBody>
      </p:sp>
      <p:sp>
        <p:nvSpPr>
          <p:cNvPr id="15" name="Shape 10"/>
          <p:cNvSpPr/>
          <p:nvPr/>
        </p:nvSpPr>
        <p:spPr>
          <a:xfrm>
            <a:off x="365760" y="5166360"/>
            <a:ext cx="11457432" cy="731520"/>
          </a:xfrm>
          <a:prstGeom prst="roundRect">
            <a:avLst>
              <a:gd name="adj" fmla="val 5000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566928" y="53126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Fórmula final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66928" y="56418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Segurança + Regulatório + Financeiro e Patrimônio + Produção de Óleo (GP validada) — máximo de 100 pontos.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365760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38912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94944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2686507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2759659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3015691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007254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080406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5336438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validada pela GP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7328002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401154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7657186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Financeiro/Patrimônio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9648749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9721901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9977933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custo para executar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07 · GOVERNANÇA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Papéis e responsabilidades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Seis perfis sustentam o rito de ponta a ponta — do lançamento do escopo à aprovação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SOLICITA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Engenheiro de disciplina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e cadastra o escopo: dados básicos, POB mensal, custo de material/serviço e responde a priorização.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92168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4" name="Text 11"/>
          <p:cNvSpPr/>
          <p:nvPr/>
        </p:nvSpPr>
        <p:spPr>
          <a:xfrm>
            <a:off x="4392168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FACILITA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392168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2168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do processo. Treina, nivela POB/capex, consolida propostas e monta as versões do plano (V0 → VF).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2272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2272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PRIORIZA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2272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Coordenador de Operações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72272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 a solicitação priorizada contra a diretriz estratégica do ativo e aprova, recusa ou devolve para ajuste.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12064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24" name="Text 21"/>
          <p:cNvSpPr/>
          <p:nvPr/>
        </p:nvSpPr>
        <p:spPr>
          <a:xfrm>
            <a:off x="512064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ALINHA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12064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Gerentes Executivos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12064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Participam, com o OIM do ativo, do workshop de V0 apresentado pelo Eng. Planejamento, para alinhar o plano com a diretriz estratégica.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92168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29" name="Text 26"/>
          <p:cNvSpPr/>
          <p:nvPr/>
        </p:nvSpPr>
        <p:spPr>
          <a:xfrm>
            <a:off x="4392168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APROVA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92168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Gerente do Ativo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392168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final do plano consolidado (POB + custo) antes do envio e divulgação oficial.</a:t>
            </a:r>
            <a:endParaRPr lang="en-US" sz="970" dirty="0"/>
          </a:p>
        </p:txBody>
      </p:sp>
      <p:sp>
        <p:nvSpPr>
          <p:cNvPr id="32" name="Shape 29"/>
          <p:cNvSpPr/>
          <p:nvPr/>
        </p:nvSpPr>
        <p:spPr>
          <a:xfrm>
            <a:off x="8125968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272272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34" name="Text 31"/>
          <p:cNvSpPr/>
          <p:nvPr/>
        </p:nvSpPr>
        <p:spPr>
          <a:xfrm>
            <a:off x="8272272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SUPORTA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272272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Accenture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8272272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Apoia a implantação e evolução da ferramenta de levantamento de escopo; conduz o treinamento macro com o Eng. Planejamento.</a:t>
            </a:r>
            <a:endParaRPr lang="en-US" sz="970" dirty="0"/>
          </a:p>
        </p:txBody>
      </p:sp>
      <p:sp>
        <p:nvSpPr>
          <p:cNvPr id="37" name="Text 3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08 · QUEM ALIMENTA O PLANO (1/3)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Cruzado com os planos reais de 2026 de ABL, CLUSTER e FPSO Frade — linhas confirmadas foram validadas por esse histórico (1/3).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3246120"/>
                <a:gridCol w="3063240"/>
                <a:gridCol w="1124712"/>
              </a:tblGrid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Solicitante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O que normalmente entra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 de elegibilidade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Status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Manutenção e Confiabilidade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preventivas e corretivas (SAP), campanhas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de terceiro (vendor) — entra independente de OPEX ou 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Projetos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Modificação de Eficiência da Produção;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Maturidade mínima PML2 (Fase FEL ≥ FEL 2 - Básico)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Construção e TA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Intervenções estruturais e de turnaround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corretivas M1 e M5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 (estrutural)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 campanhas de integridade (ENDs, CUI, válvulas)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Integridade/Regulatório; risco a barreira crítica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Naval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naval: tanques, mangotes, vasos, amarras, casco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Exigências das classificadoras (ABS, DNV) e inspeções de classe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08 · QUEM ALIMENTA O PLANO (2/3)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Continuação — critérios de elegibilidade por área, cruzados com o histórico real de 2026 (2/3).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3246120"/>
                <a:gridCol w="3063240"/>
                <a:gridCol w="1124712"/>
              </a:tblGrid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Solicitante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O que normalmente entra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 de elegibilidade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Status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Medição Fiscal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Depto. de 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Calibração/testes de medidores fiscais, cromatografia, auditorias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Conformidade regulatória de medição fiscal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Parada Programada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Parada/Manut./Constr./Integr./Projetos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 escopos de múltiplas disciplinas na janela de parada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Z17 — entra sempre, sem exceção de priorização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— Ocup., Processos, Saúde e Qualidade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 corretivas de risco, adequação a barreiras críticas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Potencial de lesão/fatalidade ou dano ambiental; NR/SGSO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Processos e Químicos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Otimização de processo, tratamento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em confiabilidade de processo ou consumo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Suporte Técnico e Trading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técnicos, otimização comercial de óleo/gás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direto em receita ou eficiência de escoamento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08 · QUEM ALIMENTA O PLANO (3/3)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Regulatório não aparece como área própria: suas exigências estão distribuídas entre Naval (classificadoras) e SMS (ANP) — (3/3).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3246120"/>
                <a:gridCol w="3063240"/>
                <a:gridCol w="1124712"/>
              </a:tblGrid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Solicitante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O que normalmente entra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 de elegibilidade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Status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Reservatório / Produção (GP)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Reservatório / Gestão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Escopos com impacto direto na produção de óleo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Perda evitada validada pela Gestão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Desenvolvimento da Produção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Comissionamento de novos poços; escopos de conexão à planta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Desenvolvimento da Produção; necessário para start-up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Planejamento Integrado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Planejamento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Consolidação, nivelamento e versionamento do plano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processo — não solicita escopo próprio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papel de processo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Logística Marítima e Log de Pessoas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Coordenação de Logística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Embarque/desembarque, acomodação de POB terceiro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 de capacidade — não solicitante primário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Comunicação, BPs, TI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Comunicação / BPs / TI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administrativo e de sistemas ao rito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 de suporte — não solicitante primário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09 · REGRAS TRANSVERSAIS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Critérios gerais de elegibilidade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Valem para qualquer área, antes dos critérios específicos de cada uma.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12064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2064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POB de terceiro (vendor)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12064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atividade exige POB terceiro, ela entra no plano — não importa se é OPEX ou CAPEX.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392168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92168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Linha CAPEX × OPEX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392168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≥ US$ 150k são tratados como CAPEX; abaixo disso, alocados como OPEX (premissa do ciclo anterior).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72272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72272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Parada Programada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272272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Z17 entram sempre — sem exceção de priorização.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12064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12064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Corretivas de construção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12064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M1 e M5 entram sempre no levantamento de escopo.</a:t>
            </a:r>
            <a:endParaRPr lang="en-US" sz="970" dirty="0"/>
          </a:p>
        </p:txBody>
      </p:sp>
      <p:sp>
        <p:nvSpPr>
          <p:cNvPr id="23" name="Shape 20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392168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392168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Maturidade de projeto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392168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só entram a partir da fase PML2 (Fase FEL ≥ FEL 2 - Básico), como Eficiência da Produção ou Desenvolvimento da Produção.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8125968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8272272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06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8272272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Diretriz estratégica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8272272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solicitante já levanta o escopo, no Building, com base na Diretriz Estratégica da sua Gerência Executiva — vínculo definido na origem, não só checado na aprovação.</a:t>
            </a:r>
            <a:endParaRPr lang="en-US" sz="970" dirty="0"/>
          </a:p>
        </p:txBody>
      </p:sp>
      <p:sp>
        <p:nvSpPr>
          <p:cNvPr id="31" name="Text 28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10 · LEVANTAMENTO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Dados básicos por escopo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Campos preenchidos pelo engenheiro de disciplina ao abrir a atividade, organizados pelas etapas do formulário.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3840480"/>
        </p:xfrm>
        <a:graphic>
          <a:graphicData uri="http://schemas.openxmlformats.org/drawingml/2006/table">
            <a:tbl>
              <a:tblPr/>
              <a:tblGrid>
                <a:gridCol w="2651760"/>
                <a:gridCol w="8805672"/>
              </a:tblGrid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Etapa do formulário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Campos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Dados Básicos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da atividade, solicitante, equipe demandante, categoria do escopo, aplicação (OPEX/CAPEX), equipe executora, fornecedor, localidade funcional, fase FEL, ano, recorrência, ordem de serviço, tipo de ordem, centro de trabalho, terceiro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POB Mensal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Distribuição de POB (pessoas·dia) mês a mês ao longo do ano do plano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Custos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material, custo de serviço, custo total consolidado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Priorização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Respostas aos critérios de Segurança, Regulatório, Financeiro/Patrimônio e Produção — ver seção 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11 · CONSOLIDAÇÃO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Do escopo priorizado ao plano aprovado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 Coordenador confronta prioridade com diretriz estratégica; o resultado é alinhado com os Gerentes Executivos antes de virar plano de POB e custo.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Crivo do Coordenador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solicitação priorizada é avaliada pelo Coordenador do ativo, que aprova, recusa ou devolve para ajuste com base na prioridade e na diretriz estratégica.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Coordenador de Operações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876702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17" name="Text 14"/>
          <p:cNvSpPr/>
          <p:nvPr/>
        </p:nvSpPr>
        <p:spPr>
          <a:xfrm>
            <a:off x="287670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V0 já aprovada pelo Coordenador, o Eng. Planejamento apresenta o plano ao OIM e aos Gerentes Executivos para discussão e alinhamento.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204765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25" name="Text 22"/>
          <p:cNvSpPr/>
          <p:nvPr/>
        </p:nvSpPr>
        <p:spPr>
          <a:xfrm>
            <a:off x="5204765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Nivelamento de capacidade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aprovado é nivelado contra a capacidade de POB/dia do ativo, sinalizando meses acima da capacidade ou subutilizados.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532827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33" name="Text 30"/>
          <p:cNvSpPr/>
          <p:nvPr/>
        </p:nvSpPr>
        <p:spPr>
          <a:xfrm>
            <a:off x="7532827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Plano de POB + Custo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final por ativo/ano: POB total, custo de material e serviço, e a divisão CAPEX × OPEX resultante.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Saída consolidada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986089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41" name="Text 38"/>
          <p:cNvSpPr/>
          <p:nvPr/>
        </p:nvSpPr>
        <p:spPr>
          <a:xfrm>
            <a:off x="986089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Versionamento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evolui em versões (V0 Leveling &amp; Challenge → V0 aprovada → V2 Revisão → VF Oficial), rastreadas ao longo do processo.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V0 → V2 → VF</a:t>
            </a:r>
            <a:endParaRPr lang="en-US" sz="830" dirty="0"/>
          </a:p>
        </p:txBody>
      </p:sp>
      <p:sp>
        <p:nvSpPr>
          <p:cNvPr id="46" name="Text 43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12 · ANTES DA REUNIÃO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Pendências abertas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Pontos que precisam de validação do Diretor ou das áreas antes de o processo virar padrão.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11457432" cy="3840480"/>
          </a:xfrm>
          <a:prstGeom prst="roundRect">
            <a:avLst>
              <a:gd name="adj" fmla="val 952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47802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 pendências em aberto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807208"/>
            <a:ext cx="11055096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com cada coordenação as linhas marcadas como "a validar" na seção 08 — inputs e critérios foram inferidos do material recebido, não confirmados pela própria área.</a:t>
            </a:r>
            <a:endParaRPr lang="en-US" sz="10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se a Visão Geral (seção 01) deve desdobrar "Aprovação &amp; divulgação" em três passos — Revisar, Ajustes do Plano e Envio — para refletir o cronograma real (seção 03).</a:t>
            </a:r>
            <a:endParaRPr lang="en-US" sz="10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treinamento dedicado (ou confirmar cobertura pelo dia "Geral") para Medição Fiscal, Parada Programada, Reservatório/Produção (GP) e Desenvolvimento da Produção.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13 · TREINAMENTOS POR ÁREA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Agenda de capacitação, por área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Cada dia tem uma sessão da manhã e uma da tarde, para públicos diferentes. Dados da Agenda de Treinamentos oficial.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063240"/>
        </p:xfrm>
        <a:graphic>
          <a:graphicData uri="http://schemas.openxmlformats.org/drawingml/2006/table">
            <a:tbl>
              <a:tblPr/>
              <a:tblGrid>
                <a:gridCol w="1005840"/>
                <a:gridCol w="4114800"/>
                <a:gridCol w="4114800"/>
                <a:gridCol w="2221992"/>
              </a:tblGrid>
              <a:tr h="3829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Data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09h–11h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16h–18h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Responsável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25/08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26/08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Engenheiros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27/08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28/08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 / Processos e 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e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31/08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SMS: Ocupacional, Processos, Saúde e Qualidade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 e Trading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01/09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 — Comunicação, BPs, TI, Log Marítima e Pessoas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02/09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5440680"/>
            <a:ext cx="11457432" cy="914400"/>
          </a:xfrm>
          <a:prstGeom prst="roundRect">
            <a:avLst>
              <a:gd name="adj" fmla="val 4000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66928" y="55869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Áreas sem sessão dedicada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66928" y="591616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Fiscal, Parada Programada, Reservatório/Produção (GP) e Desenvolvimento da Produção não aparecem em nenhum dia específico — podem estar cobertas pela sessão "Geral" de 02/09, ou precisar de horário próprio a confirmar.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978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937760" cy="4937760"/>
          </a:xfrm>
          <a:prstGeom prst="ellipse">
            <a:avLst/>
          </a:prstGeom>
          <a:solidFill>
            <a:srgbClr val="2C2849">
              <a:alpha val="18000"/>
            </a:srgbClr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737360" cy="33101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286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PRÓXIMOS PASSOS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Validar o processo, fechar as pendências, e transformar este rito em padrão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388620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Validar as 3 pendências abertas (seção 12) com as áreas e com a Gestão da Produção</a:t>
            </a:r>
            <a:endParaRPr lang="en-US" sz="1350" dirty="0"/>
          </a:p>
          <a:p>
            <a:pPr marL="203200" indent="-2032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Confirmar responsáveis do Quadro de Equipes (seção 02) por unidade</a:t>
            </a:r>
            <a:endParaRPr lang="en-US" sz="1350" dirty="0"/>
          </a:p>
          <a:p>
            <a:pPr marL="203200" indent="-2032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Divulgar os critérios da matriz de priorização (seção 06) e o calendário 2027 (seção 03) para todas as áreas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AE6F7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Documento de apoio à reunião de processo — Diretoria de Operações PRIO · rascunho para validação, não é uma versão oficial do plano.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Integrado — Operações Topside</dc:title>
  <dc:subject>PptxGenJS Presentation</dc:subject>
  <dc:creator>Coordenação de Planejamento</dc:creator>
  <cp:lastModifiedBy>Coordenação de Planejamento</cp:lastModifiedBy>
  <cp:revision>1</cp:revision>
  <dcterms:created xsi:type="dcterms:W3CDTF">2026-08-24T17:52:26Z</dcterms:created>
  <dcterms:modified xsi:type="dcterms:W3CDTF">2026-08-24T17:52:26Z</dcterms:modified>
</cp:coreProperties>
</file>