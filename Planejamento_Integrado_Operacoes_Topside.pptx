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839" r:id="rId34"/>
    <p:sldId id="840" r:id="rId35"/>
    <p:sldId id="841" r:id="rId36"/>
    <p:sldId id="842" r:id="rId37"/>
    <p:sldId id="843" r:id="rId38"/>
    <p:sldId id="844" r:id="rId39"/>
    <p:sldId id="835" r:id="rId30"/>
    <p:sldId id="836" r:id="rId31"/>
    <p:sldId id="837" r:id="rId32"/>
    <p:sldId id="838" r:id="rId33"/>
    <p:sldId id="269" r:id="rId11"/>
    <p:sldId id="270" r:id="rId12"/>
    <p:sldId id="271" r:id="rId13"/>
    <p:sldId id="272" r:id="rId14"/>
    <p:sldId id="273" r:id="rId15"/>
    <p:sldId id="274" r:id="rId16"/>
    <p:sldId id="279" r:id="rId17"/>
    <p:sldId id="831" r:id="rId18"/>
    <p:sldId id="832" r:id="rId19"/>
    <p:sldId id="833" r:id="rId20"/>
    <p:sldId id="834" r:id="rId21"/>
    <p:sldId id="275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E34D"/>
    <a:srgbClr val="9787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8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15" Type="http://schemas.openxmlformats.org/officeDocument/2006/relationships/slide" Target="slides/slide24.xml"/><Relationship Id="rId16" Type="http://schemas.openxmlformats.org/officeDocument/2006/relationships/slide" Target="slides/slide25.xml"/><Relationship Id="rId17" Type="http://schemas.openxmlformats.org/officeDocument/2006/relationships/slide" Target="slides/slide26.xml"/><Relationship Id="rId18" Type="http://schemas.openxmlformats.org/officeDocument/2006/relationships/slide" Target="slides/slide27.xml"/><Relationship Id="rId19" Type="http://schemas.openxmlformats.org/officeDocument/2006/relationships/slide" Target="slides/slide28.xml"/><Relationship Id="rId20" Type="http://schemas.openxmlformats.org/officeDocument/2006/relationships/slide" Target="slides/slide29.xml"/><Relationship Id="rId21" Type="http://schemas.openxmlformats.org/officeDocument/2006/relationships/slide" Target="slides/slide30.xml"/><Relationship Id="rId22" Type="http://schemas.openxmlformats.org/officeDocument/2006/relationships/slide" Target="slides/slide31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10.xml"/><Relationship Id="rId35" Type="http://schemas.openxmlformats.org/officeDocument/2006/relationships/slide" Target="slides/slide11.xml"/><Relationship Id="rId36" Type="http://schemas.openxmlformats.org/officeDocument/2006/relationships/slide" Target="slides/slide12.xml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852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6B42A-ECF0-5C1D-4728-053099144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6EE2-93AD-D31F-6AA0-9DE5A028E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6BBF7-88CD-51C5-553B-0985FAF7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CA8E5-91E5-434D-00BA-542B2D30D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335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6690-54C3-6A0E-338A-0265E17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0A95F-55C8-FD82-27BB-69BD88C27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1E355-CF84-45D1-52AB-498FB353E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2222C-3006-49D2-2F3B-73C08A8C5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1528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C9B4D-1E73-A8FB-7C15-FB963C79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CA679-EE29-873E-7D63-FFD282BCC5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67056-A521-2F2D-86CA-69CABEB30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50180-2B0F-17AF-D040-B9FCEA27A8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455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0D31-7657-D001-6715-008C6850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6F725-9EED-BB9B-0525-57CDCD9BC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49F83-A1B2-7BCC-2DF9-841DE1A26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90EBA-C8E7-11FF-59C9-8F5F4C107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06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A93AA-D837-718E-C845-5BE1E698A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8E72-9E0F-E3FF-2D6B-48C5BFA6F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A3CF6D-8036-A8D3-F458-8D3DFBF73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A2466-1BD8-3BDF-6D42-E9B6847C57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10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.emf"/><Relationship Id="rId5" Type="http://schemas.openxmlformats.org/officeDocument/2006/relationships/image" Target="../media/image4.e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7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que compõem a pontuação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da Matriz de Priorização STAR — pesos, travas e fórmula final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solicita, nivela, aprova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APRESENTAÇÃO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Priorizamos frentes de trabalho, não atividades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passos para decidir onde investir a evolução da condição do ativo — a base da nova matriz de priorização.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66928" y="235915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não é da atividade — é da frente de trabalho: a evolução da condição do </a:t>
            </a:r>
            <a:r>
              <a:rPr lang="en-US" sz="10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</a:t>
            </a: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 a evolução da condição do ativo em cada frente — conectado às diretrizes estratégicas de cada Gerência Executiva.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21792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3092958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75838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458718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3458718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458718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entre frentes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58718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</a:t>
            </a:r>
            <a:r>
              <a:rPr lang="en-US" sz="100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A matriz de priorização é a candidata natural.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458718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3531870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003036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185916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68796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63687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68796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368796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o nível de evolução de condição esperado ao longo do ano.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68796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6441948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8913114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9095994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9278874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927887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9278874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278874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 ser feito para entregar o nível definido — ex.: 800 cama-dia para zerar um contingenciamento.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9278874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352026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309295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275838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345871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5871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458718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458718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458718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531870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6003036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85916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6368796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368796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368796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368796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68796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441948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891311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095994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927887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927887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78874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9278874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78874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9352026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9" name="Text 36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Picture 63">
            <a:extLst>
              <a:ext uri="{FF2B5EF4-FFF2-40B4-BE49-F238E27FC236}">
                <a16:creationId xmlns:a16="http://schemas.microsoft.com/office/drawing/2014/main" id="{E1460384-5E7F-5040-8058-22B8298C6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079" y="4166128"/>
            <a:ext cx="1676185" cy="1394460"/>
          </a:xfrm>
          <a:prstGeom prst="rect">
            <a:avLst/>
          </a:prstGeom>
          <a:ln w="9525">
            <a:solidFill>
              <a:srgbClr val="D580F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sete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a V0 consolidada e aprovam o avanço do plano.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 / Coordenador do Ativo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406298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45864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442874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442874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428744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428744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finos no plano aprovado — refinamento de POB, custo e cronograma por área, antes do fechamento.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8744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501896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94308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25968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830884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830884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308848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08848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final (VF) é aprovado e enviado, divulgado a todas as áreas.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08848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8382000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02 · QUADRO DE EQUIPES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842015"/>
              </p:ext>
            </p:extLst>
          </p:nvPr>
        </p:nvGraphicFramePr>
        <p:xfrm>
          <a:off x="338328" y="1123796"/>
          <a:ext cx="11457432" cy="556474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61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&amp; TBMT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Frade/Wahoo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796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1200" b="1" kern="1200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Dirlaine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M. Grigolleto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 Cardoso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José Newton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Nacib Haddad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Camilla 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65">
                <a:tc rowSpan="9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Engenharia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Lourenço Morucci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Dantas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Iancaue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Samya Estevam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Sá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Paiva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Ygor Teixeira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Isabella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Bassalo / Andrey Medeiros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Alexandro Felix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Marcus Loiola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 Pacheco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Mauro Arrabal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E. Gonçalves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Tarcisio Malta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 Eduarda Aquino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Nathalia Azambuja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Fernando Kume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Tadeu Vidal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 Ribas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Nicole Bastos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 (FPSO/PRG 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Simplício (PRG B/C)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Dyanna Lanna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Carolina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Josimar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Lenon Reis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Hugo Cantisano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Abraao Leite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Monteiro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Sergio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Antônio Toffano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Purcino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</a:t>
                      </a:r>
                      <a:r>
                        <a:rPr lang="en-US" sz="12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da Produção</a:t>
                      </a:r>
                    </a:p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0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Élida</a:t>
                      </a:r>
                      <a:r>
                        <a:rPr lang="en-US" sz="1200" b="0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Gurgel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Daniel Stussi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Menezes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Marcelo Vidal / Miguel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Johanna Vaca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Idianara da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Thamires Laranjeiras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Tayane Miranda / Aryanne Nascimento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Yohana Conde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Larissa Farias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Joana Augustin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Vieira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Sustentabilidade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Ormonde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Seg.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Gabriela Roman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Lara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Orosa / Melina Prado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Clara Leal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Antônio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Seg. Ocup.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Rodrigues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Anderson Castro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Augusta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Tadeu Luiz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Heltz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Almeida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Lorena Brandão — Polvo&amp;TBMT + Peregrino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da Produção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 Rossi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Felippe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Lorenzzo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Braga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Pedro Lago</a:t>
                      </a:r>
                      <a:endParaRPr lang="en-US" sz="9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</a:t>
                      </a:r>
                      <a:r>
                        <a:rPr lang="en-US" sz="900" b="1" dirty="0" err="1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Arivabene</a:t>
                      </a:r>
                      <a:endParaRPr lang="en-US" sz="900" b="1" dirty="0">
                        <a:solidFill>
                          <a:srgbClr val="6B668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Jessica, Bruno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Subsea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Pinho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Amaral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Azeredo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Diogo França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Marisol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Vitor Santos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 / 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Kamylla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48716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251460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divulgação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99821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511606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6233922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7351776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846963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958748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070533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/>
          <p:cNvSpPr/>
          <p:nvPr/>
        </p:nvSpPr>
        <p:spPr>
          <a:xfrm>
            <a:off x="2926080" y="2548890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365760" y="291236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Performance — Passo 1: insumos de evolução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399821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/>
          <p:cNvSpPr/>
          <p:nvPr/>
        </p:nvSpPr>
        <p:spPr>
          <a:xfrm>
            <a:off x="511606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/>
          <p:cNvSpPr/>
          <p:nvPr/>
        </p:nvSpPr>
        <p:spPr>
          <a:xfrm>
            <a:off x="6233922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7351776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846963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958748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1070533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2926080" y="294665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3870198" y="2955798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870198" y="2955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65760" y="331012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(macro + intensivo)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8036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399821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/>
          <p:cNvSpPr/>
          <p:nvPr/>
        </p:nvSpPr>
        <p:spPr>
          <a:xfrm>
            <a:off x="511606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39"/>
          <p:cNvSpPr/>
          <p:nvPr/>
        </p:nvSpPr>
        <p:spPr>
          <a:xfrm>
            <a:off x="6233922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0"/>
          <p:cNvSpPr/>
          <p:nvPr/>
        </p:nvSpPr>
        <p:spPr>
          <a:xfrm>
            <a:off x="7351776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Shape 41"/>
          <p:cNvSpPr/>
          <p:nvPr/>
        </p:nvSpPr>
        <p:spPr>
          <a:xfrm>
            <a:off x="846963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2"/>
          <p:cNvSpPr/>
          <p:nvPr/>
        </p:nvSpPr>
        <p:spPr>
          <a:xfrm>
            <a:off x="958748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3"/>
          <p:cNvSpPr/>
          <p:nvPr/>
        </p:nvSpPr>
        <p:spPr>
          <a:xfrm>
            <a:off x="1070533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4"/>
          <p:cNvSpPr/>
          <p:nvPr/>
        </p:nvSpPr>
        <p:spPr>
          <a:xfrm>
            <a:off x="2926080" y="334441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365760" y="370789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— preenchimento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Shape 47"/>
          <p:cNvSpPr/>
          <p:nvPr/>
        </p:nvSpPr>
        <p:spPr>
          <a:xfrm>
            <a:off x="399821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Shape 48"/>
          <p:cNvSpPr/>
          <p:nvPr/>
        </p:nvSpPr>
        <p:spPr>
          <a:xfrm>
            <a:off x="511606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49"/>
          <p:cNvSpPr/>
          <p:nvPr/>
        </p:nvSpPr>
        <p:spPr>
          <a:xfrm>
            <a:off x="6233922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0"/>
          <p:cNvSpPr/>
          <p:nvPr/>
        </p:nvSpPr>
        <p:spPr>
          <a:xfrm>
            <a:off x="7351776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1"/>
          <p:cNvSpPr/>
          <p:nvPr/>
        </p:nvSpPr>
        <p:spPr>
          <a:xfrm>
            <a:off x="846963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Shape 52"/>
          <p:cNvSpPr/>
          <p:nvPr/>
        </p:nvSpPr>
        <p:spPr>
          <a:xfrm>
            <a:off x="958748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Shape 53"/>
          <p:cNvSpPr/>
          <p:nvPr/>
        </p:nvSpPr>
        <p:spPr>
          <a:xfrm>
            <a:off x="1070533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4"/>
          <p:cNvSpPr/>
          <p:nvPr/>
        </p:nvSpPr>
        <p:spPr>
          <a:xfrm>
            <a:off x="2926080" y="3742182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5"/>
          <p:cNvSpPr/>
          <p:nvPr/>
        </p:nvSpPr>
        <p:spPr>
          <a:xfrm>
            <a:off x="6105906" y="375132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6105906" y="3751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365760" y="4105656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288036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Shape 59"/>
          <p:cNvSpPr/>
          <p:nvPr/>
        </p:nvSpPr>
        <p:spPr>
          <a:xfrm>
            <a:off x="399821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/>
          <p:cNvSpPr/>
          <p:nvPr/>
        </p:nvSpPr>
        <p:spPr>
          <a:xfrm>
            <a:off x="511606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Shape 61"/>
          <p:cNvSpPr/>
          <p:nvPr/>
        </p:nvSpPr>
        <p:spPr>
          <a:xfrm>
            <a:off x="6233922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2"/>
          <p:cNvSpPr/>
          <p:nvPr/>
        </p:nvSpPr>
        <p:spPr>
          <a:xfrm>
            <a:off x="7351776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/>
          <p:cNvSpPr/>
          <p:nvPr/>
        </p:nvSpPr>
        <p:spPr>
          <a:xfrm>
            <a:off x="846963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/>
          <p:cNvSpPr/>
          <p:nvPr/>
        </p:nvSpPr>
        <p:spPr>
          <a:xfrm>
            <a:off x="958748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Shape 65"/>
          <p:cNvSpPr/>
          <p:nvPr/>
        </p:nvSpPr>
        <p:spPr>
          <a:xfrm>
            <a:off x="1070533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Shape 66"/>
          <p:cNvSpPr/>
          <p:nvPr/>
        </p:nvSpPr>
        <p:spPr>
          <a:xfrm>
            <a:off x="6279642" y="4139946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7"/>
          <p:cNvSpPr/>
          <p:nvPr/>
        </p:nvSpPr>
        <p:spPr>
          <a:xfrm>
            <a:off x="365760" y="450342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Gerencial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88036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Shape 69"/>
          <p:cNvSpPr/>
          <p:nvPr/>
        </p:nvSpPr>
        <p:spPr>
          <a:xfrm>
            <a:off x="399821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Shape 70"/>
          <p:cNvSpPr/>
          <p:nvPr/>
        </p:nvSpPr>
        <p:spPr>
          <a:xfrm>
            <a:off x="511606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/>
          <p:cNvSpPr/>
          <p:nvPr/>
        </p:nvSpPr>
        <p:spPr>
          <a:xfrm>
            <a:off x="6233922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/>
          <p:cNvSpPr/>
          <p:nvPr/>
        </p:nvSpPr>
        <p:spPr>
          <a:xfrm>
            <a:off x="7351776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Shape 73"/>
          <p:cNvSpPr/>
          <p:nvPr/>
        </p:nvSpPr>
        <p:spPr>
          <a:xfrm>
            <a:off x="846963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4"/>
          <p:cNvSpPr/>
          <p:nvPr/>
        </p:nvSpPr>
        <p:spPr>
          <a:xfrm>
            <a:off x="958748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5"/>
          <p:cNvSpPr/>
          <p:nvPr/>
        </p:nvSpPr>
        <p:spPr>
          <a:xfrm>
            <a:off x="1070533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Shape 76"/>
          <p:cNvSpPr/>
          <p:nvPr/>
        </p:nvSpPr>
        <p:spPr>
          <a:xfrm>
            <a:off x="6279642" y="4537710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7"/>
          <p:cNvSpPr/>
          <p:nvPr/>
        </p:nvSpPr>
        <p:spPr>
          <a:xfrm>
            <a:off x="365760" y="490118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288036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Shape 79"/>
          <p:cNvSpPr/>
          <p:nvPr/>
        </p:nvSpPr>
        <p:spPr>
          <a:xfrm>
            <a:off x="399821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Shape 80"/>
          <p:cNvSpPr/>
          <p:nvPr/>
        </p:nvSpPr>
        <p:spPr>
          <a:xfrm>
            <a:off x="511606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1"/>
          <p:cNvSpPr/>
          <p:nvPr/>
        </p:nvSpPr>
        <p:spPr>
          <a:xfrm>
            <a:off x="6233922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Shape 82"/>
          <p:cNvSpPr/>
          <p:nvPr/>
        </p:nvSpPr>
        <p:spPr>
          <a:xfrm>
            <a:off x="7351776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Shape 83"/>
          <p:cNvSpPr/>
          <p:nvPr/>
        </p:nvSpPr>
        <p:spPr>
          <a:xfrm>
            <a:off x="846963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Shape 84"/>
          <p:cNvSpPr/>
          <p:nvPr/>
        </p:nvSpPr>
        <p:spPr>
          <a:xfrm>
            <a:off x="958748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Shape 85"/>
          <p:cNvSpPr/>
          <p:nvPr/>
        </p:nvSpPr>
        <p:spPr>
          <a:xfrm>
            <a:off x="1070533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Shape 86"/>
          <p:cNvSpPr/>
          <p:nvPr/>
        </p:nvSpPr>
        <p:spPr>
          <a:xfrm>
            <a:off x="7397496" y="493547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7"/>
          <p:cNvSpPr/>
          <p:nvPr/>
        </p:nvSpPr>
        <p:spPr>
          <a:xfrm>
            <a:off x="365760" y="529894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288036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Shape 89"/>
          <p:cNvSpPr/>
          <p:nvPr/>
        </p:nvSpPr>
        <p:spPr>
          <a:xfrm>
            <a:off x="399821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90"/>
          <p:cNvSpPr/>
          <p:nvPr/>
        </p:nvSpPr>
        <p:spPr>
          <a:xfrm>
            <a:off x="511606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Shape 91"/>
          <p:cNvSpPr/>
          <p:nvPr/>
        </p:nvSpPr>
        <p:spPr>
          <a:xfrm>
            <a:off x="6233922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Shape 92"/>
          <p:cNvSpPr/>
          <p:nvPr/>
        </p:nvSpPr>
        <p:spPr>
          <a:xfrm>
            <a:off x="7351776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Shape 93"/>
          <p:cNvSpPr/>
          <p:nvPr/>
        </p:nvSpPr>
        <p:spPr>
          <a:xfrm>
            <a:off x="846963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Shape 94"/>
          <p:cNvSpPr/>
          <p:nvPr/>
        </p:nvSpPr>
        <p:spPr>
          <a:xfrm>
            <a:off x="958748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95"/>
          <p:cNvSpPr/>
          <p:nvPr/>
        </p:nvSpPr>
        <p:spPr>
          <a:xfrm>
            <a:off x="1070533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96"/>
          <p:cNvSpPr/>
          <p:nvPr/>
        </p:nvSpPr>
        <p:spPr>
          <a:xfrm>
            <a:off x="7397496" y="533323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7"/>
          <p:cNvSpPr/>
          <p:nvPr/>
        </p:nvSpPr>
        <p:spPr>
          <a:xfrm>
            <a:off x="365760" y="569671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12/10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>
            <a:off x="288036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Shape 99"/>
          <p:cNvSpPr/>
          <p:nvPr/>
        </p:nvSpPr>
        <p:spPr>
          <a:xfrm>
            <a:off x="399821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Shape 100"/>
          <p:cNvSpPr/>
          <p:nvPr/>
        </p:nvSpPr>
        <p:spPr>
          <a:xfrm>
            <a:off x="511606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101"/>
          <p:cNvSpPr/>
          <p:nvPr/>
        </p:nvSpPr>
        <p:spPr>
          <a:xfrm>
            <a:off x="6233922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Shape 102"/>
          <p:cNvSpPr/>
          <p:nvPr/>
        </p:nvSpPr>
        <p:spPr>
          <a:xfrm>
            <a:off x="7351776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Shape 103"/>
          <p:cNvSpPr/>
          <p:nvPr/>
        </p:nvSpPr>
        <p:spPr>
          <a:xfrm>
            <a:off x="846963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Shape 104"/>
          <p:cNvSpPr/>
          <p:nvPr/>
        </p:nvSpPr>
        <p:spPr>
          <a:xfrm>
            <a:off x="958748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105"/>
          <p:cNvSpPr/>
          <p:nvPr/>
        </p:nvSpPr>
        <p:spPr>
          <a:xfrm>
            <a:off x="1070533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Shape 106"/>
          <p:cNvSpPr/>
          <p:nvPr/>
        </p:nvSpPr>
        <p:spPr>
          <a:xfrm>
            <a:off x="9633204" y="5731002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Shape 107"/>
          <p:cNvSpPr/>
          <p:nvPr/>
        </p:nvSpPr>
        <p:spPr>
          <a:xfrm>
            <a:off x="10577322" y="574014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Text 108"/>
          <p:cNvSpPr/>
          <p:nvPr/>
        </p:nvSpPr>
        <p:spPr>
          <a:xfrm>
            <a:off x="10577322" y="5740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365760" y="6149340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0"/>
          <p:cNvSpPr/>
          <p:nvPr/>
        </p:nvSpPr>
        <p:spPr>
          <a:xfrm>
            <a:off x="621792" y="60944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286000" y="6149340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Text 112"/>
          <p:cNvSpPr/>
          <p:nvPr/>
        </p:nvSpPr>
        <p:spPr>
          <a:xfrm>
            <a:off x="2542032" y="60944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16" name="Text 113"/>
          <p:cNvSpPr/>
          <p:nvPr/>
        </p:nvSpPr>
        <p:spPr>
          <a:xfrm>
            <a:off x="4846320" y="6094476"/>
            <a:ext cx="697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= 27/08 · workshop Performance (Passo 1)  ·  11 = 11/09 · fim do Building  ·  12 = 12/10 · envio do plano</a:t>
            </a:r>
            <a:endParaRPr lang="en-US" sz="830" dirty="0"/>
          </a:p>
        </p:txBody>
      </p:sp>
      <p:sp>
        <p:nvSpPr>
          <p:cNvPr id="118" name="Text 11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Adaptação da matriz Prêmio × </a:t>
            </a:r>
            <a:r>
              <a:rPr lang="en-US" sz="12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5E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15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 2027  ·  CAPEX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65760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12064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512064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22142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3422142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422142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332220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32220" y="326734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4"/>
          <p:cNvSpPr/>
          <p:nvPr/>
        </p:nvSpPr>
        <p:spPr>
          <a:xfrm>
            <a:off x="9095994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242298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9242298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9242298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172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final (por frente de trabalho, proposta):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453836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365760" y="453836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482035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453836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5018227" y="453836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6620256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Critérios que compõem a pontuação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Regras oficiais da Matriz de Priorização STAR: pesos, travas, critérios de cada bloco e fórmula final.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11457432" cy="566928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0008"/>
            <a:ext cx="1105509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Travas automáticas — não dependem da nota total. </a:t>
            </a:r>
            <a:r>
              <a:rPr sz="1050">
                <a:solidFill>
                  <a:srgbClr val="6B6682"/>
                </a:solidFill>
                <a:latin typeface="Calibri"/>
              </a:rPr>
              <a:t>Quando qualquer condição abaixo é selecionada, o projeto é elevado para P1 — Crítica, independente da pontuação.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999232"/>
            <a:ext cx="5637276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52715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de Segurança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74720"/>
            <a:ext cx="52715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Fatalidade, explosão, incêndio, H2S ou grande acidente (10 pts no campo) · Barreira crítica indisponível ou degradada (8 pts no campo)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5916" y="2999232"/>
            <a:ext cx="5637276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8796" y="3145536"/>
            <a:ext cx="52715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Regulatória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3474720"/>
            <a:ext cx="52715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Prazo regulatório vencido (7 pts no campo) · Embargo, interdição ou perda de licença (7 pts no campo)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70916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Os 4 blocos da matriz — 100 pontos no total: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30 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75838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0430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0430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5916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0508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Financeiro &amp; Patrimônio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508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20 pts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5994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0586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Produção de Óleo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0586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1 · Segurança — 30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30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Severidade do pior cenário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impacto de SMS · lesão leve · lesão grave · fatalidade/grande acidente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3 · 6 · 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Barreira crítica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se aplica · barreira de suporte · barreira importante degradada · barreira crítica indisponível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3 · 5 · 8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Histórico de incidente ou recorrência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registro · desvio isolado · near miss/recorrência · incidente com ação aberta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da exposição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equipe pequena · módulo/turno/operação recorrente · unidade inteira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3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Urgência da mitigação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Ciclo normal · até 180 dias · até 90 dias · imediato/próxima janela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2 · Regulatório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25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Obrigação legal ou normativa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obrigação · recomendação interna · requisito aplicável · obrigação formal externa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Prazo regulatório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prazo · acima de 90 dias · 31 a 90 dias · até 30 dias · vencido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Consequência do não atendimento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Baixo impacto · retrabalho · não conformidade · multa/restrição · embargo/interdição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Evidência formal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· registro interno · evidência interna validada · evidência externa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regulatória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unidade específica · múltiplas unidades/processo corporativo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3 · Financeiro &amp; Patrimônio — 20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O bloco tem duas avaliações internas — a nota final é a maior entre as duas, não a soma.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2140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3.1 Avaliação Financeira Econômica — soma até 20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340864"/>
          <a:ext cx="1145743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Regra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Relação benefício/custo (até 8)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10x · ≥ 5x · ≥ 2x · ≥ 1x · &lt; 1x ou sem dados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8 · 6 · 4 · 2 · 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Custo de não fazer / custo do projeto (até 5)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3x · ≥ 1,5x · ≥ 1x · ≥ 0,5x · &gt; 0 e &lt; 0,5x · sem dados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5 · 4 · 3 · 2 · 1 · 0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Tempo de captura do valor (até 3)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Acima de 24 meses/indefinido · 12 a 24 meses · 6 a 12 meses · até 6 meses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Maturidade da estimativa (até 4)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Conceitual · orçamento preliminar · cotação/contrato/estimativa validada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04164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3.2 Avaliação de Patrimônio/Integridade — bruta até 25 pts, convertida como bruta × 20 / 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261104"/>
          <a:ext cx="1145743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Comprometimento de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compromete · ativo auxiliar · ativo relevante ·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5 · 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Degradação evidenciada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Sem evidência · suspeita técnica · evidência registrada · degradação confirmada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do sistema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plena · parcial · limitada · sem redundância/caminho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3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Janela rara ou parada maior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· baixa vantagem · janela relevante · janela crítica/rara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Risco de manutenção emergencial futura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reduz · redução baixa · moderada · alta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C2849"/>
                </a:solidFill>
                <a:latin typeface="Calibri"/>
              </a:rPr>
              <a:t>4 · Produção de Óleo — GP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Só entra no total quando o escopo influencia diretamente a produção e o status da GP está “Validada - computada”; nos demais status, entra como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4.1 Relevância da Perda do Sistema — até 15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Participação do sistema no total de perdas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15% e &lt; 25%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8% e &lt; 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3% e &lt; 8%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3%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45352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4.2 Benefício/Custo — até 10 pts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45352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Relação benefício/custo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20x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10x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5x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1x ou sem custo informado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4224528"/>
            <a:ext cx="11457432" cy="96012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334256"/>
            <a:ext cx="11055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Campo informativo e regras de consistência da GP (não pontuam). </a:t>
            </a:r>
            <a:r>
              <a:rPr sz="1050">
                <a:solidFill>
                  <a:srgbClr val="6B6682"/>
                </a:solidFill>
                <a:latin typeface="Calibri"/>
              </a:rPr>
              <a:t>Benefício em US$ = perda evitada em bbl × 75; relação = benefício ÷ custo do projeto. Se a perda evitada for maior que a perda projetada do sistema, a ferramenta alerta para revisão de premissas. “Esse escopo é originador de incremento de produção?” é informativo e não altera a pontuação.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Fórmula final e critério de desempate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Como os 4 blocos se somam e como resolver pontuações próximas entre frentes.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11457432" cy="77724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95728"/>
            <a:ext cx="11055096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Fórmula final. Nota final = </a:t>
            </a:r>
            <a:r>
              <a:rPr sz="1050">
                <a:solidFill>
                  <a:srgbClr val="6B6682"/>
                </a:solidFill>
                <a:latin typeface="Calibri"/>
              </a:rPr>
              <a:t>Segurança + Regulatório + Financeiro e Patrimônio + Produção de Óleo (GP validada) — máximo de 100 pontos.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Crítica · ≥ 85 pts ou trava acionada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5838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2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2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Alta · 70–84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5916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2220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Média · 50–69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994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2298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2298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Baixa · &lt; 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3484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Critério de desempate, quando duas frentes têm classificação ou pontuação próxima: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86507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4523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4523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07254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5270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5270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Produção validada pela GP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28001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6017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6017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Financeiro/Patrimônio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48748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76764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6764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Menor custo para executar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Diretrizes estratégicas de Operações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As 4 diretrizes que orientam todas as frentes estratégicas e, a partir delas, o plano de trabalho.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Maximizar a produção por meio da acuracidade do planejamento, estabilidade operacional, previsibilidade da produção, execução disciplinada dos projetos e utilização eficiente dos recursos.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8796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Incremento de Reservas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Expandir as reservas reduzindo o custo de incorporação, priorizando soluções de maior retorno e ampliando o horizonte produtivo dos ativos.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Extensão da Vida Útil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Direcionar investimentos, estratégias de manutenção e intervenções com base no ciclo de vida dos ativos, priorizando soluções que ampliem sua vida útil sempre que economicamente justificável.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8796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8796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Controle dos Riscos Operacionais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Manter a operação dentro de níveis aceitáveis de risco, preservando pessoas, meio ambiente, integridade dos ativos e conformidade regulatória.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Segurança e Conformidade Regulatória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04 · Controle dos Riscos Operacionais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70048"/>
            <a:ext cx="11457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682"/>
                </a:solidFill>
                <a:latin typeface="Calibri"/>
              </a:rPr>
              <a:t>Reduzir de forma material os principais riscos de segurança, integridade e áreas classificadas, mantendo estudos de risco atualizados, barreiras críticas eficazes e planos de recuperação para todas as exposições relevantes. Assegurar conformidade contínua com ANP, classe e demais autoridades, tratando desvios por severidade, antecipando certificações e eliminando recorrências.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2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4476"/>
                <a:gridCol w="2949437"/>
                <a:gridCol w="1474718"/>
                <a:gridCol w="2268798"/>
              </a:tblGrid>
              <a:tr h="402336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Ranking GRIS da frota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GRIS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Integridade Mecânica M5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SGI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Regulatório M3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 PM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Índice de Atendimento de Recomendação de Incidentes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sistema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Confiabilidade e Excelência Operacional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384048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114574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6B6682"/>
                </a:solidFill>
                <a:latin typeface="Calibri"/>
              </a:rPr>
              <a:t>Recuperar e sustentar a confiabilidade dos sistemas críticos de geração, compressão, bombeio e processamento, eliminando vulnerabilidades que ameacem produção, segurança ou continuidade operacional. Executar os planos de manutenção com disciplina — preventivas e corretivas — reduzindo o backlog e o volume de ordens vencidas, destravando o detalhamento que hoje impede a execução, tratando as notas sem ordem e as manutenções acima de 180 dias, e formalizando a avaliação de cada postergação. Sustentar a meta de produção elevando a eficiência operacional e a acuracidade do potencial: atacar as perdas por downtime e o desvio operacional em cada ativo, e reduzir a parcela de desvio ainda não identificada para que toda perda tenha mecanismo de falha conhecido e tratamento definido.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31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1996"/>
                <a:gridCol w="2155358"/>
                <a:gridCol w="1361279"/>
                <a:gridCol w="2268798"/>
              </a:tblGrid>
              <a:tr h="4191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Score médio de saúde da frota 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Disponibilidade de Equipamentos Críticos C2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 · Painel de Redundâncias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MTBF C2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Atendimento das Recomendações de Perdas de Produção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parâmetros fora do envelope LIGHTHOUSE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Continuação — frentes com escopo e indicadores mais compactos.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Disciplina de Custos da Operação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44852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32888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Manter CAPEX e OPEX dos projetos dentro da curva orçamentária, com desvios identificados, tratados e acompanhados por ativo.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2852927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acima da curva orçamentária de CAPEX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Fluxo de Caixa — 83 projetos com CAPEX em 2026, 42 mapeados em ativos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(reduzir até 0)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65760" y="3511296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Sustentação e Incremento da Produção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515868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02 · Incremento de Reservas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803904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Entregar o portfólio no prazo e dentro da curva, priorizando projetos de sustentação e incremento da produção por valor econômico, risco, prazo de captura e prontidão de execução.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123944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Aderência da Curva S do Portfólio de DMP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em Planejamento — nota Actio média (16/08/2026)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478231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82312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Gestão do Ciclo de Vida dos Ativos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478688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03 · Extensão da Vida Útil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74920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Gerir degradação, obsolescência e vida remanescente dos ativos com base em criticidade e horizonte econômico.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5559552"/>
          <a:ext cx="1145742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3044951"/>
                <a:gridCol w="2103119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Plano de Recuperação de Equipamentos Obsolescentes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Portfólio — a instrumentar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100% do crítico mapeado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Cumprimento de inspeções de amarras, risers, casco e mangotes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3" name="Text 3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80309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 e Grandes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Manutenções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131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 Integrado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de processo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28" name="Text 2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912769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5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do formulário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Básicos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Mensal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6E7F2-DAAE-2927-7223-1E18157AF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B4D886E-E12D-537A-4402-71A1234CC66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5F8AAAA2-B480-293D-DE0D-5D4F2D76C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2FC8DD42-F11C-F2B1-255D-C6218C0B7F52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A6AC092-E90C-8F99-93CE-74EF00F858A0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3073F5C2-8419-2650-61A4-3E109FDCBCE6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Input manual</a:t>
            </a:r>
            <a:endParaRPr lang="en-US" sz="1300" dirty="0"/>
          </a:p>
        </p:txBody>
      </p:sp>
      <p:pic>
        <p:nvPicPr>
          <p:cNvPr id="12" name="Picture 58">
            <a:extLst>
              <a:ext uri="{FF2B5EF4-FFF2-40B4-BE49-F238E27FC236}">
                <a16:creationId xmlns:a16="http://schemas.microsoft.com/office/drawing/2014/main" id="{58E668D0-E84C-104F-5136-34043AF570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836"/>
          <a:stretch>
            <a:fillRect/>
          </a:stretch>
        </p:blipFill>
        <p:spPr>
          <a:xfrm>
            <a:off x="767133" y="1460628"/>
            <a:ext cx="4101220" cy="5397372"/>
          </a:xfrm>
          <a:prstGeom prst="rect">
            <a:avLst/>
          </a:prstGeom>
        </p:spPr>
      </p:pic>
      <p:pic>
        <p:nvPicPr>
          <p:cNvPr id="14" name="Picture 60">
            <a:extLst>
              <a:ext uri="{FF2B5EF4-FFF2-40B4-BE49-F238E27FC236}">
                <a16:creationId xmlns:a16="http://schemas.microsoft.com/office/drawing/2014/main" id="{7B92B557-EF90-B4E2-CB08-FB11DB2528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98"/>
          <a:stretch>
            <a:fillRect/>
          </a:stretch>
        </p:blipFill>
        <p:spPr>
          <a:xfrm>
            <a:off x="6521569" y="1460628"/>
            <a:ext cx="4074588" cy="5342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74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1316D-67A1-5974-4BAE-D660C873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620079-700A-113F-BEDD-5ADFEF8EFEB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AD129E74-9975-7983-558F-F7A435FAB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39A10AB2-E157-861D-1F7E-523E79F59AE3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A1CAEC2-F1CD-CCAB-AB2C-A2E8BE5F694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832C7207-2F7D-0974-FBB4-CD0DC46CB1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40" y="1637393"/>
            <a:ext cx="10451919" cy="5049157"/>
          </a:xfrm>
          <a:prstGeom prst="rect">
            <a:avLst/>
          </a:prstGeom>
        </p:spPr>
      </p:pic>
      <p:sp>
        <p:nvSpPr>
          <p:cNvPr id="11" name="Text 9">
            <a:extLst>
              <a:ext uri="{FF2B5EF4-FFF2-40B4-BE49-F238E27FC236}">
                <a16:creationId xmlns:a16="http://schemas.microsoft.com/office/drawing/2014/main" id="{7F7B3700-DCAC-F388-3A3E-1F451AFD23C3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Importação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 do SAP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536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5C481-FC7E-D74D-4739-FA0EA4414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76B9A8C-9B13-FA03-463B-B6D845899F1D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91D87BDF-2180-5719-FF6D-8CBAA62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685AFA9-9F2B-C4D6-EF51-291995A6F6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DCC1796-EF45-E57D-E90A-D52D35F2FE28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DCEFF8A6-C658-1999-2B13-D692843153DB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Leveling</a:t>
            </a:r>
            <a:endParaRPr lang="en-US" sz="1300" dirty="0"/>
          </a:p>
        </p:txBody>
      </p:sp>
      <p:pic>
        <p:nvPicPr>
          <p:cNvPr id="7" name="Picture 54">
            <a:extLst>
              <a:ext uri="{FF2B5EF4-FFF2-40B4-BE49-F238E27FC236}">
                <a16:creationId xmlns:a16="http://schemas.microsoft.com/office/drawing/2014/main" id="{DE2E0E7D-F8CF-AAB9-4D4A-F3568CFA3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1" y="3190193"/>
            <a:ext cx="6445263" cy="3054084"/>
          </a:xfrm>
          <a:prstGeom prst="rect">
            <a:avLst/>
          </a:prstGeom>
        </p:spPr>
      </p:pic>
      <p:pic>
        <p:nvPicPr>
          <p:cNvPr id="10" name="Picture 55">
            <a:extLst>
              <a:ext uri="{FF2B5EF4-FFF2-40B4-BE49-F238E27FC236}">
                <a16:creationId xmlns:a16="http://schemas.microsoft.com/office/drawing/2014/main" id="{0FD904C6-26D2-49C0-EE0C-472BCBE16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560" y="1556788"/>
            <a:ext cx="6530102" cy="3084228"/>
          </a:xfrm>
          <a:prstGeom prst="rect">
            <a:avLst/>
          </a:prstGeom>
        </p:spPr>
      </p:pic>
      <p:pic>
        <p:nvPicPr>
          <p:cNvPr id="12" name="Picture 57">
            <a:extLst>
              <a:ext uri="{FF2B5EF4-FFF2-40B4-BE49-F238E27FC236}">
                <a16:creationId xmlns:a16="http://schemas.microsoft.com/office/drawing/2014/main" id="{3DF33741-35B0-9443-F0A3-7527F66D5E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0" y="4883798"/>
            <a:ext cx="1301104" cy="1368791"/>
          </a:xfrm>
          <a:prstGeom prst="rect">
            <a:avLst/>
          </a:prstGeom>
        </p:spPr>
      </p:pic>
      <p:cxnSp>
        <p:nvCxnSpPr>
          <p:cNvPr id="13" name="Connector: Elbow 59">
            <a:extLst>
              <a:ext uri="{FF2B5EF4-FFF2-40B4-BE49-F238E27FC236}">
                <a16:creationId xmlns:a16="http://schemas.microsoft.com/office/drawing/2014/main" id="{0240091A-558B-307D-1289-F94322E9E30D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6996084" y="4487077"/>
            <a:ext cx="1921227" cy="241005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583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729FB-35C5-5297-B3E4-5A449F908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255472E-AA71-115D-14A2-A60B9AB82CD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DD39AB9F-0BC3-2CBC-CB1F-BEB6F8467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792BCB3-75CD-4609-7378-FB466EE7B4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FCA6E0C-F7D1-877C-8C38-F77FB8E6240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2A6ADFBD-569E-C623-6501-9B8D77B82455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 Challenge</a:t>
            </a:r>
            <a:endParaRPr lang="en-US" sz="1300" dirty="0"/>
          </a:p>
        </p:txBody>
      </p:sp>
      <p:pic>
        <p:nvPicPr>
          <p:cNvPr id="11" name="Picture 62">
            <a:extLst>
              <a:ext uri="{FF2B5EF4-FFF2-40B4-BE49-F238E27FC236}">
                <a16:creationId xmlns:a16="http://schemas.microsoft.com/office/drawing/2014/main" id="{CF57D9CC-8B71-30F3-177F-872D3DA3D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36" y="1854300"/>
            <a:ext cx="5880289" cy="2894205"/>
          </a:xfrm>
          <a:prstGeom prst="rect">
            <a:avLst/>
          </a:prstGeom>
        </p:spPr>
      </p:pic>
      <p:pic>
        <p:nvPicPr>
          <p:cNvPr id="14" name="Picture 61">
            <a:extLst>
              <a:ext uri="{FF2B5EF4-FFF2-40B4-BE49-F238E27FC236}">
                <a16:creationId xmlns:a16="http://schemas.microsoft.com/office/drawing/2014/main" id="{603C84AA-552B-17C9-FC7A-68D1AC29B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951" y="1854300"/>
            <a:ext cx="5740412" cy="2825359"/>
          </a:xfrm>
          <a:prstGeom prst="rect">
            <a:avLst/>
          </a:prstGeom>
        </p:spPr>
      </p:pic>
      <p:pic>
        <p:nvPicPr>
          <p:cNvPr id="15" name="Picture 67">
            <a:extLst>
              <a:ext uri="{FF2B5EF4-FFF2-40B4-BE49-F238E27FC236}">
                <a16:creationId xmlns:a16="http://schemas.microsoft.com/office/drawing/2014/main" id="{B24457A5-9873-7C25-A09E-14D6A58E7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9379" y="4938597"/>
            <a:ext cx="1850810" cy="1559057"/>
          </a:xfrm>
          <a:prstGeom prst="rect">
            <a:avLst/>
          </a:prstGeom>
        </p:spPr>
      </p:pic>
      <p:cxnSp>
        <p:nvCxnSpPr>
          <p:cNvPr id="16" name="Connector: Elbow 69">
            <a:extLst>
              <a:ext uri="{FF2B5EF4-FFF2-40B4-BE49-F238E27FC236}">
                <a16:creationId xmlns:a16="http://schemas.microsoft.com/office/drawing/2014/main" id="{90960940-E9EB-06A7-C58F-8FD539504BE5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1652386" y="4941132"/>
            <a:ext cx="1038467" cy="515519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88399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3D5E70-BA41-3A76-E572-58999311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5CF3F8-FC90-0D6E-39D7-29F26DEEE7C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C70A54EE-ADDA-6601-771D-223BEA71B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A5BDD82-4E5D-D40C-A1A4-9FBCCEB83678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B08EE54-4D9F-C62D-C484-CBD8E5187892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pic>
        <p:nvPicPr>
          <p:cNvPr id="7" name="Picture 35">
            <a:extLst>
              <a:ext uri="{FF2B5EF4-FFF2-40B4-BE49-F238E27FC236}">
                <a16:creationId xmlns:a16="http://schemas.microsoft.com/office/drawing/2014/main" id="{C11DDF51-48F3-6F85-92D4-EFA8104CA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111086"/>
            <a:ext cx="7053419" cy="3344578"/>
          </a:xfrm>
          <a:prstGeom prst="rect">
            <a:avLst/>
          </a:prstGeom>
        </p:spPr>
      </p:pic>
      <p:sp>
        <p:nvSpPr>
          <p:cNvPr id="10" name="Text 9">
            <a:extLst>
              <a:ext uri="{FF2B5EF4-FFF2-40B4-BE49-F238E27FC236}">
                <a16:creationId xmlns:a16="http://schemas.microsoft.com/office/drawing/2014/main" id="{8D592044-77A4-EE86-9095-46A40E2C20F9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300" dirty="0"/>
          </a:p>
        </p:txBody>
      </p:sp>
      <p:pic>
        <p:nvPicPr>
          <p:cNvPr id="13" name="Picture 47">
            <a:extLst>
              <a:ext uri="{FF2B5EF4-FFF2-40B4-BE49-F238E27FC236}">
                <a16:creationId xmlns:a16="http://schemas.microsoft.com/office/drawing/2014/main" id="{8D48780C-0225-1943-8661-7B6A45DB7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793" y="1371600"/>
            <a:ext cx="6335687" cy="30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56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Crivo do Coordenador / Gerente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10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09h–11h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16h–18h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Bordo / Todos os ativos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2977</Words>
  <Application>Microsoft Office PowerPoint</Application>
  <PresentationFormat>Widescreen</PresentationFormat>
  <Paragraphs>604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</vt:lpstr>
      <vt:lpstr>Calibri</vt:lpstr>
      <vt:lpstr>Graphik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Lucas Ribas de Andrade</cp:lastModifiedBy>
  <cp:revision>14</cp:revision>
  <dcterms:created xsi:type="dcterms:W3CDTF">2026-08-25T15:57:47Z</dcterms:created>
  <dcterms:modified xsi:type="dcterms:W3CDTF">2026-08-25T17:29:14Z</dcterms:modified>
</cp:coreProperties>
</file>