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839" r:id="rId34"/>
    <p:sldId id="840" r:id="rId35"/>
    <p:sldId id="841" r:id="rId36"/>
    <p:sldId id="842" r:id="rId37"/>
    <p:sldId id="843" r:id="rId38"/>
    <p:sldId id="844" r:id="rId39"/>
    <p:sldId id="835" r:id="rId30"/>
    <p:sldId id="836" r:id="rId31"/>
    <p:sldId id="837" r:id="rId32"/>
    <p:sldId id="838" r:id="rId33"/>
    <p:sldId id="269" r:id="rId11"/>
    <p:sldId id="270" r:id="rId12"/>
    <p:sldId id="271" r:id="rId13"/>
    <p:sldId id="272" r:id="rId14"/>
    <p:sldId id="273" r:id="rId15"/>
    <p:sldId id="274" r:id="rId16"/>
    <p:sldId id="279" r:id="rId17"/>
    <p:sldId id="831" r:id="rId18"/>
    <p:sldId id="832" r:id="rId19"/>
    <p:sldId id="833" r:id="rId20"/>
    <p:sldId id="834" r:id="rId21"/>
    <p:sldId id="275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E34D"/>
    <a:srgbClr val="9787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118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20.xml"/><Relationship Id="rId12" Type="http://schemas.openxmlformats.org/officeDocument/2006/relationships/slide" Target="slides/slide21.xml"/><Relationship Id="rId13" Type="http://schemas.openxmlformats.org/officeDocument/2006/relationships/slide" Target="slides/slide22.xml"/><Relationship Id="rId14" Type="http://schemas.openxmlformats.org/officeDocument/2006/relationships/slide" Target="slides/slide23.xml"/><Relationship Id="rId15" Type="http://schemas.openxmlformats.org/officeDocument/2006/relationships/slide" Target="slides/slide24.xml"/><Relationship Id="rId16" Type="http://schemas.openxmlformats.org/officeDocument/2006/relationships/slide" Target="slides/slide25.xml"/><Relationship Id="rId17" Type="http://schemas.openxmlformats.org/officeDocument/2006/relationships/slide" Target="slides/slide26.xml"/><Relationship Id="rId18" Type="http://schemas.openxmlformats.org/officeDocument/2006/relationships/slide" Target="slides/slide27.xml"/><Relationship Id="rId19" Type="http://schemas.openxmlformats.org/officeDocument/2006/relationships/slide" Target="slides/slide28.xml"/><Relationship Id="rId20" Type="http://schemas.openxmlformats.org/officeDocument/2006/relationships/slide" Target="slides/slide29.xml"/><Relationship Id="rId21" Type="http://schemas.openxmlformats.org/officeDocument/2006/relationships/slide" Target="slides/slide30.xml"/><Relationship Id="rId22" Type="http://schemas.openxmlformats.org/officeDocument/2006/relationships/slide" Target="slides/slide31.xml"/><Relationship Id="rId23" Type="http://schemas.openxmlformats.org/officeDocument/2006/relationships/slide" Target="slides/slide32.xml"/><Relationship Id="rId24" Type="http://schemas.openxmlformats.org/officeDocument/2006/relationships/slide" Target="slides/slide3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10.xml"/><Relationship Id="rId35" Type="http://schemas.openxmlformats.org/officeDocument/2006/relationships/slide" Target="slides/slide11.xml"/><Relationship Id="rId36" Type="http://schemas.openxmlformats.org/officeDocument/2006/relationships/slide" Target="slides/slide12.xml"/><Relationship Id="rId37" Type="http://schemas.openxmlformats.org/officeDocument/2006/relationships/slide" Target="slides/slide13.xml"/><Relationship Id="rId38" Type="http://schemas.openxmlformats.org/officeDocument/2006/relationships/slide" Target="slides/slide14.xml"/><Relationship Id="rId39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852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6B42A-ECF0-5C1D-4728-053099144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9D6EE2-93AD-D31F-6AA0-9DE5A028E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D6BBF7-88CD-51C5-553B-0985FAF7B3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CA8E5-91E5-434D-00BA-542B2D30D3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7335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B6690-54C3-6A0E-338A-0265E179D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80A95F-55C8-FD82-27BB-69BD88C277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01E355-CF84-45D1-52AB-498FB353E3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2222C-3006-49D2-2F3B-73C08A8C59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1528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C9B4D-1E73-A8FB-7C15-FB963C792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6CA679-EE29-873E-7D63-FFD282BCC5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F67056-A521-2F2D-86CA-69CABEB30E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50180-2B0F-17AF-D040-B9FCEA27A8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4455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F0D31-7657-D001-6715-008C68504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F6F725-9EED-BB9B-0525-57CDCD9BC6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449F83-A1B2-7BCC-2DF9-841DE1A26D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90EBA-C8E7-11FF-59C9-8F5F4C107F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4067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A93AA-D837-718E-C845-5BE1E698A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7C8E72-9E0F-E3FF-2D6B-48C5BFA6F9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A3CF6D-8036-A8D3-F458-8D3DFBF738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6A2466-1BD8-3BDF-6D42-E9B6847C57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9910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3.emf"/><Relationship Id="rId5" Type="http://schemas.openxmlformats.org/officeDocument/2006/relationships/image" Target="../media/image4.emf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787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303520" cy="5303520"/>
          </a:xfrm>
          <a:prstGeom prst="ellipse">
            <a:avLst/>
          </a:prstGeom>
          <a:solidFill>
            <a:srgbClr val="2C2849">
              <a:alpha val="2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424160" y="4297680"/>
            <a:ext cx="3291840" cy="3291840"/>
          </a:xfrm>
          <a:prstGeom prst="ellipse">
            <a:avLst/>
          </a:prstGeom>
          <a:solidFill>
            <a:srgbClr val="F2834B">
              <a:alpha val="28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/tmp/claude-0/-workspace-Planejamento/79ba2b6d-20da-5e48-9126-441c472dc123/scratchpad/prio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1874520" cy="3566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965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· DIRETORIA DE OPERAÇÕES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Integrado de Operações Topside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48640" y="370332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construímos, juntos, o plano de trabalho de cada área — os inputs que o alimentam, a forma como priorizamos, e o que a companhia recebe como resultado.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4892040"/>
            <a:ext cx="2606040" cy="1234440"/>
          </a:xfrm>
          <a:prstGeom prst="roundRect">
            <a:avLst>
              <a:gd name="adj" fmla="val 4444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713232" y="5020056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ano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13232" y="5641848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 do plano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55848" y="4892040"/>
            <a:ext cx="2606040" cy="1234440"/>
          </a:xfrm>
          <a:prstGeom prst="roundRect">
            <a:avLst>
              <a:gd name="adj" fmla="val 4444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3520440" y="5020056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3520440" y="5641848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operadas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163056" y="4892040"/>
            <a:ext cx="2606040" cy="1234440"/>
          </a:xfrm>
          <a:prstGeom prst="roundRect">
            <a:avLst>
              <a:gd name="adj" fmla="val 4444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327648" y="5020056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327648" y="5641848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mapeadas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8970264" y="4892040"/>
            <a:ext cx="2606040" cy="1234440"/>
          </a:xfrm>
          <a:prstGeom prst="roundRect">
            <a:avLst>
              <a:gd name="adj" fmla="val 4444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9134856" y="5020056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Semestral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9134856" y="5641848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construção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Reunião de processo — material de apoio, rascunho para validação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2C284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/tmp/claude-0/-workspace-Planejamento/79ba2b6d-20da-5e48-9126-441c472dc123/scratchpad/prio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402336"/>
            <a:ext cx="1042416" cy="1984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65760" y="1115568"/>
            <a:ext cx="11457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 etapas, uma linha de raciocínio única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365760" y="1700784"/>
            <a:ext cx="11457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fluxo do processo até as pendências que ainda precisam de validação do Diretor.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65760" y="23317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8F7F6"/>
          </a:solidFill>
          <a:ln w="12700">
            <a:solidFill>
              <a:srgbClr val="E1DD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36576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50976" y="2276856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50976" y="2560320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7 etapas do rito, ponta a ponta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65760" y="29123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8F7F6"/>
          </a:solidFill>
          <a:ln w="12700">
            <a:solidFill>
              <a:srgbClr val="E1DD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365760" y="29123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50976" y="2857500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de equipes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950976" y="3140964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Responsáveis por área e por unidade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65760" y="34930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8F7F6"/>
          </a:solidFill>
          <a:ln w="12700">
            <a:solidFill>
              <a:srgbClr val="E1DD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365760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50976" y="3438144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950976" y="3721608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 reais do cronograma 2027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365760" y="40736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8F7F6"/>
          </a:solidFill>
          <a:ln w="12700">
            <a:solidFill>
              <a:srgbClr val="E1DD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29"/>
          <p:cNvSpPr/>
          <p:nvPr/>
        </p:nvSpPr>
        <p:spPr>
          <a:xfrm>
            <a:off x="365760" y="40736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950976" y="4018788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que compõem a pontuação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950976" y="4302252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da Matriz de Priorização STAR — pesos, travas e fórmula final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6355080" y="23317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8F7F6"/>
          </a:solidFill>
          <a:ln w="12700">
            <a:solidFill>
              <a:srgbClr val="E1DD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3"/>
          <p:cNvSpPr/>
          <p:nvPr/>
        </p:nvSpPr>
        <p:spPr>
          <a:xfrm>
            <a:off x="63550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6940296" y="2276856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alimenta o plano</a:t>
            </a:r>
            <a:endParaRPr lang="en-US" sz="1350" dirty="0"/>
          </a:p>
        </p:txBody>
      </p:sp>
      <p:sp>
        <p:nvSpPr>
          <p:cNvPr id="38" name="Text 35"/>
          <p:cNvSpPr/>
          <p:nvPr/>
        </p:nvSpPr>
        <p:spPr>
          <a:xfrm>
            <a:off x="6940296" y="2560320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áreas e seus critérios de entrada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6355080" y="29123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8F7F6"/>
          </a:solidFill>
          <a:ln w="12700">
            <a:solidFill>
              <a:srgbClr val="E1DD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7"/>
          <p:cNvSpPr/>
          <p:nvPr/>
        </p:nvSpPr>
        <p:spPr>
          <a:xfrm>
            <a:off x="6355080" y="29123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6940296" y="2857500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transversais</a:t>
            </a:r>
            <a:endParaRPr lang="en-US" sz="1350" dirty="0"/>
          </a:p>
        </p:txBody>
      </p:sp>
      <p:sp>
        <p:nvSpPr>
          <p:cNvPr id="42" name="Text 39"/>
          <p:cNvSpPr/>
          <p:nvPr/>
        </p:nvSpPr>
        <p:spPr>
          <a:xfrm>
            <a:off x="6940296" y="3140964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válidos para qualquer área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6355080" y="34930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8F7F6"/>
          </a:solidFill>
          <a:ln w="12700">
            <a:solidFill>
              <a:srgbClr val="E1DD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41"/>
          <p:cNvSpPr/>
          <p:nvPr/>
        </p:nvSpPr>
        <p:spPr>
          <a:xfrm>
            <a:off x="6355080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6940296" y="3438144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Levantamento</a:t>
            </a:r>
            <a:endParaRPr lang="en-US" sz="1350" dirty="0"/>
          </a:p>
        </p:txBody>
      </p:sp>
      <p:sp>
        <p:nvSpPr>
          <p:cNvPr id="46" name="Text 43"/>
          <p:cNvSpPr/>
          <p:nvPr/>
        </p:nvSpPr>
        <p:spPr>
          <a:xfrm>
            <a:off x="6940296" y="3721608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básicos exigidos por escopo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6355080" y="40736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8F7F6"/>
          </a:solidFill>
          <a:ln w="12700">
            <a:solidFill>
              <a:srgbClr val="E1DD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5"/>
          <p:cNvSpPr/>
          <p:nvPr/>
        </p:nvSpPr>
        <p:spPr>
          <a:xfrm>
            <a:off x="6355080" y="40736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6940296" y="4018788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Consolidação</a:t>
            </a:r>
            <a:endParaRPr lang="en-US" sz="1350" dirty="0"/>
          </a:p>
        </p:txBody>
      </p:sp>
      <p:sp>
        <p:nvSpPr>
          <p:cNvPr id="50" name="Text 47"/>
          <p:cNvSpPr/>
          <p:nvPr/>
        </p:nvSpPr>
        <p:spPr>
          <a:xfrm>
            <a:off x="6940296" y="4302252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escopo priorizado ao plano aprovado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6355080" y="465429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8F7F6"/>
          </a:solidFill>
          <a:ln w="12700">
            <a:solidFill>
              <a:srgbClr val="E1DD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Text 53"/>
          <p:cNvSpPr/>
          <p:nvPr/>
        </p:nvSpPr>
        <p:spPr>
          <a:xfrm>
            <a:off x="6355080" y="4654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57" name="Text 54"/>
          <p:cNvSpPr/>
          <p:nvPr/>
        </p:nvSpPr>
        <p:spPr>
          <a:xfrm>
            <a:off x="6940296" y="4599432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Treinamentos</a:t>
            </a:r>
            <a:endParaRPr lang="en-US" sz="1350" dirty="0"/>
          </a:p>
        </p:txBody>
      </p:sp>
      <p:sp>
        <p:nvSpPr>
          <p:cNvPr id="58" name="Text 55"/>
          <p:cNvSpPr/>
          <p:nvPr/>
        </p:nvSpPr>
        <p:spPr>
          <a:xfrm>
            <a:off x="6940296" y="4882896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capacitação por área</a:t>
            </a:r>
            <a:endParaRPr lang="en-US" sz="1050" dirty="0"/>
          </a:p>
        </p:txBody>
      </p:sp>
      <p:sp>
        <p:nvSpPr>
          <p:cNvPr id="60" name="Text 57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365760" y="465429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8F7F6"/>
          </a:solidFill>
          <a:ln w="12700">
            <a:solidFill>
              <a:srgbClr val="E1DD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Text 53"/>
          <p:cNvSpPr/>
          <p:nvPr/>
        </p:nvSpPr>
        <p:spPr>
          <a:xfrm>
            <a:off x="365760" y="4654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57" name="Text 54"/>
          <p:cNvSpPr/>
          <p:nvPr/>
        </p:nvSpPr>
        <p:spPr>
          <a:xfrm>
            <a:off x="950976" y="4599432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Papéis</a:t>
            </a:r>
            <a:endParaRPr lang="en-US" sz="1350" dirty="0"/>
          </a:p>
        </p:txBody>
      </p:sp>
      <p:sp>
        <p:nvSpPr>
          <p:cNvPr id="58" name="Text 55"/>
          <p:cNvSpPr/>
          <p:nvPr/>
        </p:nvSpPr>
        <p:spPr>
          <a:xfrm>
            <a:off x="950976" y="4882896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solicita, nivela, aprova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2C284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/tmp/claude-0/-workspace-Planejamento/79ba2b6d-20da-5e48-9126-441c472dc123/scratchpad/prio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402336"/>
            <a:ext cx="1042416" cy="1984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DE APRESENTAÇÃO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65760" y="1115568"/>
            <a:ext cx="11457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Priorizamos frentes de trabalho, não atividades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365760" y="1700784"/>
            <a:ext cx="11457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passos para decidir onde investir a evolução da condição do ativo — a base da nova matriz de priorização.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65760" y="2212848"/>
            <a:ext cx="11457432" cy="566928"/>
          </a:xfrm>
          <a:prstGeom prst="roundRect">
            <a:avLst>
              <a:gd name="adj" fmla="val 6452"/>
            </a:avLst>
          </a:prstGeom>
          <a:solidFill>
            <a:srgbClr val="9787D4">
              <a:alpha val="12000"/>
            </a:srgbClr>
          </a:solidFill>
          <a:ln w="12700">
            <a:solidFill>
              <a:srgbClr val="9787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566928" y="2359152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 não é da atividade — é da frente de trabalho: a evolução da condição do </a:t>
            </a:r>
            <a:r>
              <a:rPr lang="en-US" sz="1050" dirty="0" err="1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</a:t>
            </a:r>
            <a:r>
              <a:rPr lang="en-US" sz="10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65760" y="3017520"/>
            <a:ext cx="2727198" cy="3063240"/>
          </a:xfrm>
          <a:prstGeom prst="roundRect">
            <a:avLst>
              <a:gd name="adj" fmla="val 1676"/>
            </a:avLst>
          </a:prstGeom>
          <a:solidFill>
            <a:srgbClr val="FFFFFF"/>
          </a:solidFill>
          <a:ln w="12700">
            <a:solidFill>
              <a:srgbClr val="E1DDEC"/>
            </a:solidFill>
            <a:prstDash val="solid"/>
          </a:ln>
          <a:effectLst>
            <a:outerShdw blurRad="76200" dist="25400" dir="5400000" algn="bl" rotWithShape="0">
              <a:srgbClr val="2C2849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548640" y="3200400"/>
            <a:ext cx="420624" cy="420624"/>
          </a:xfrm>
          <a:prstGeom prst="ellipse">
            <a:avLst/>
          </a:prstGeom>
          <a:solidFill>
            <a:srgbClr val="2C28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548640" y="3200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48640" y="3730752"/>
            <a:ext cx="236143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Insumos de evolução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48640" y="4315968"/>
            <a:ext cx="236143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mostra a evolução da condição do ativo em cada frente — conectado às diretrizes estratégicas de cada Gerência Executiva.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8640" y="5623560"/>
            <a:ext cx="2361438" cy="292608"/>
          </a:xfrm>
          <a:prstGeom prst="roundRect">
            <a:avLst>
              <a:gd name="adj" fmla="val 50000"/>
            </a:avLst>
          </a:prstGeom>
          <a:solidFill>
            <a:srgbClr val="F8F7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21792" y="5623560"/>
            <a:ext cx="22151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Definido</a:t>
            </a:r>
            <a:endParaRPr lang="en-US" sz="830" dirty="0"/>
          </a:p>
        </p:txBody>
      </p:sp>
      <p:sp>
        <p:nvSpPr>
          <p:cNvPr id="16" name="Text 13"/>
          <p:cNvSpPr/>
          <p:nvPr/>
        </p:nvSpPr>
        <p:spPr>
          <a:xfrm>
            <a:off x="3092958" y="4384548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1D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275838" y="3017520"/>
            <a:ext cx="2727198" cy="3063240"/>
          </a:xfrm>
          <a:prstGeom prst="roundRect">
            <a:avLst>
              <a:gd name="adj" fmla="val 1676"/>
            </a:avLst>
          </a:prstGeom>
          <a:solidFill>
            <a:srgbClr val="FFFFFF"/>
          </a:solidFill>
          <a:ln w="12700">
            <a:solidFill>
              <a:srgbClr val="E1DDEC"/>
            </a:solidFill>
            <a:prstDash val="solid"/>
          </a:ln>
          <a:effectLst>
            <a:outerShdw blurRad="76200" dist="25400" dir="5400000" algn="bl" rotWithShape="0">
              <a:srgbClr val="2C2849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3458718" y="3200400"/>
            <a:ext cx="420624" cy="420624"/>
          </a:xfrm>
          <a:prstGeom prst="ellipse">
            <a:avLst/>
          </a:prstGeom>
          <a:solidFill>
            <a:srgbClr val="2C28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3458718" y="3200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458718" y="3730752"/>
            <a:ext cx="236143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entre frentes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3458718" y="4315968"/>
            <a:ext cx="236143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 uma frente (ex.: Integridade) ter prioridade sobre outra (ex.: </a:t>
            </a:r>
            <a:r>
              <a:rPr lang="en-US" sz="1000" dirty="0" err="1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confiabilidade</a:t>
            </a:r>
            <a:r>
              <a:rPr lang="en-US" sz="100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A matriz de priorização é a candidata natural.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458718" y="5623560"/>
            <a:ext cx="2361438" cy="292608"/>
          </a:xfrm>
          <a:prstGeom prst="roundRect">
            <a:avLst>
              <a:gd name="adj" fmla="val 50000"/>
            </a:avLst>
          </a:prstGeom>
          <a:solidFill>
            <a:srgbClr val="F8F7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3531870" y="5623560"/>
            <a:ext cx="22151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definir</a:t>
            </a:r>
            <a:endParaRPr lang="en-US" sz="830" dirty="0"/>
          </a:p>
        </p:txBody>
      </p:sp>
      <p:sp>
        <p:nvSpPr>
          <p:cNvPr id="24" name="Text 21"/>
          <p:cNvSpPr/>
          <p:nvPr/>
        </p:nvSpPr>
        <p:spPr>
          <a:xfrm>
            <a:off x="6003036" y="4384548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1D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185916" y="3017520"/>
            <a:ext cx="2727198" cy="3063240"/>
          </a:xfrm>
          <a:prstGeom prst="roundRect">
            <a:avLst>
              <a:gd name="adj" fmla="val 1676"/>
            </a:avLst>
          </a:prstGeom>
          <a:solidFill>
            <a:srgbClr val="FFFFFF"/>
          </a:solidFill>
          <a:ln w="12700">
            <a:solidFill>
              <a:srgbClr val="E1DDEC"/>
            </a:solidFill>
            <a:prstDash val="solid"/>
          </a:ln>
          <a:effectLst>
            <a:outerShdw blurRad="76200" dist="25400" dir="5400000" algn="bl" rotWithShape="0">
              <a:srgbClr val="2C2849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3"/>
          <p:cNvSpPr/>
          <p:nvPr/>
        </p:nvSpPr>
        <p:spPr>
          <a:xfrm>
            <a:off x="6368796" y="3200400"/>
            <a:ext cx="420624" cy="420624"/>
          </a:xfrm>
          <a:prstGeom prst="ellipse">
            <a:avLst/>
          </a:prstGeom>
          <a:solidFill>
            <a:srgbClr val="2C28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/>
          <p:nvPr/>
        </p:nvSpPr>
        <p:spPr>
          <a:xfrm>
            <a:off x="6368796" y="3200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368796" y="3730752"/>
            <a:ext cx="236143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de entrega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6368796" y="4315968"/>
            <a:ext cx="236143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frente já priorizada, o nível de evolução de condição esperado ao longo do ano.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368796" y="5623560"/>
            <a:ext cx="2361438" cy="292608"/>
          </a:xfrm>
          <a:prstGeom prst="roundRect">
            <a:avLst>
              <a:gd name="adj" fmla="val 50000"/>
            </a:avLst>
          </a:prstGeom>
          <a:solidFill>
            <a:srgbClr val="F8F7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8"/>
          <p:cNvSpPr/>
          <p:nvPr/>
        </p:nvSpPr>
        <p:spPr>
          <a:xfrm>
            <a:off x="6441948" y="5623560"/>
            <a:ext cx="22151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definir</a:t>
            </a:r>
            <a:endParaRPr lang="en-US" sz="830" dirty="0"/>
          </a:p>
        </p:txBody>
      </p:sp>
      <p:sp>
        <p:nvSpPr>
          <p:cNvPr id="32" name="Text 29"/>
          <p:cNvSpPr/>
          <p:nvPr/>
        </p:nvSpPr>
        <p:spPr>
          <a:xfrm>
            <a:off x="8913114" y="4384548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1D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9095994" y="3017520"/>
            <a:ext cx="2727198" cy="3063240"/>
          </a:xfrm>
          <a:prstGeom prst="roundRect">
            <a:avLst>
              <a:gd name="adj" fmla="val 1676"/>
            </a:avLst>
          </a:prstGeom>
          <a:solidFill>
            <a:srgbClr val="FFFFFF"/>
          </a:solidFill>
          <a:ln w="12700">
            <a:solidFill>
              <a:srgbClr val="E1DDEC"/>
            </a:solidFill>
            <a:prstDash val="solid"/>
          </a:ln>
          <a:effectLst>
            <a:outerShdw blurRad="76200" dist="25400" dir="5400000" algn="bl" rotWithShape="0">
              <a:srgbClr val="2C2849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4" name="Shape 31"/>
          <p:cNvSpPr/>
          <p:nvPr/>
        </p:nvSpPr>
        <p:spPr>
          <a:xfrm>
            <a:off x="9278874" y="3200400"/>
            <a:ext cx="420624" cy="420624"/>
          </a:xfrm>
          <a:prstGeom prst="ellipse">
            <a:avLst/>
          </a:prstGeom>
          <a:solidFill>
            <a:srgbClr val="2C28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2"/>
          <p:cNvSpPr/>
          <p:nvPr/>
        </p:nvSpPr>
        <p:spPr>
          <a:xfrm>
            <a:off x="9278874" y="3200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278874" y="3730752"/>
            <a:ext cx="236143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Consolidação da execução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9278874" y="4315968"/>
            <a:ext cx="2361438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precisa ser feito para entregar o nível definido — ex.: 800 cama-dia para zerar um contingenciamento.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9278874" y="5623560"/>
            <a:ext cx="2361438" cy="292608"/>
          </a:xfrm>
          <a:prstGeom prst="roundRect">
            <a:avLst>
              <a:gd name="adj" fmla="val 50000"/>
            </a:avLst>
          </a:prstGeom>
          <a:solidFill>
            <a:srgbClr val="F8F7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6"/>
          <p:cNvSpPr/>
          <p:nvPr/>
        </p:nvSpPr>
        <p:spPr>
          <a:xfrm>
            <a:off x="9352026" y="5623560"/>
            <a:ext cx="22151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Planejamento</a:t>
            </a:r>
            <a:endParaRPr lang="en-US" sz="830" dirty="0"/>
          </a:p>
        </p:txBody>
      </p:sp>
      <p:sp>
        <p:nvSpPr>
          <p:cNvPr id="41" name="Text 38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2C284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/tmp/claude-0/-workspace-Planejamento/79ba2b6d-20da-5e48-9126-441c472dc123/scratchpad/prio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402336"/>
            <a:ext cx="1042416" cy="1984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01 · VISÃO GERAL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65760" y="1115568"/>
            <a:ext cx="11457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processo tem </a:t>
            </a:r>
            <a:r>
              <a:rPr lang="en-US" sz="2900" b="1" dirty="0" err="1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</a:t>
            </a:r>
            <a:r>
              <a:rPr lang="en-US" sz="290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900" b="1" dirty="0" err="1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365760" y="1700784"/>
            <a:ext cx="11457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comunicação inicial até o plano oficial divulgado, cada escopo passa pela mesma esteira — independente da área que o solicitou.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65760" y="2331720"/>
            <a:ext cx="2727198" cy="3703320"/>
          </a:xfrm>
          <a:prstGeom prst="roundRect">
            <a:avLst>
              <a:gd name="adj" fmla="val 1676"/>
            </a:avLst>
          </a:prstGeom>
          <a:solidFill>
            <a:srgbClr val="FFFFFF"/>
          </a:solidFill>
          <a:ln w="12700">
            <a:solidFill>
              <a:srgbClr val="E1DDEC"/>
            </a:solidFill>
            <a:prstDash val="solid"/>
          </a:ln>
          <a:effectLst>
            <a:outerShdw blurRad="76200" dist="25400" dir="5400000" algn="bl" rotWithShape="0">
              <a:srgbClr val="2C2849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420624" cy="420624"/>
          </a:xfrm>
          <a:prstGeom prst="ellipse">
            <a:avLst/>
          </a:prstGeom>
          <a:solidFill>
            <a:srgbClr val="2C28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54864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3044952"/>
            <a:ext cx="236143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&amp; treinamento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3397260"/>
            <a:ext cx="2361438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Divulgação do rito para toda a PRIO; treinamento macro e, na sequência, treinamento intensivo por disciplina.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" y="5577840"/>
            <a:ext cx="2361438" cy="292608"/>
          </a:xfrm>
          <a:prstGeom prst="roundRect">
            <a:avLst>
              <a:gd name="adj" fmla="val 50000"/>
            </a:avLst>
          </a:prstGeom>
          <a:solidFill>
            <a:srgbClr val="F8F7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5577840"/>
            <a:ext cx="22151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Planejamento / Accenture</a:t>
            </a:r>
            <a:endParaRPr lang="en-US" sz="830" dirty="0"/>
          </a:p>
        </p:txBody>
      </p:sp>
      <p:sp>
        <p:nvSpPr>
          <p:cNvPr id="14" name="Text 11"/>
          <p:cNvSpPr/>
          <p:nvPr/>
        </p:nvSpPr>
        <p:spPr>
          <a:xfrm>
            <a:off x="3092958" y="4018788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1D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275838" y="2331720"/>
            <a:ext cx="2727198" cy="3703320"/>
          </a:xfrm>
          <a:prstGeom prst="roundRect">
            <a:avLst>
              <a:gd name="adj" fmla="val 1676"/>
            </a:avLst>
          </a:prstGeom>
          <a:solidFill>
            <a:srgbClr val="FFFFFF"/>
          </a:solidFill>
          <a:ln w="12700">
            <a:solidFill>
              <a:srgbClr val="E1DDEC"/>
            </a:solidFill>
            <a:prstDash val="solid"/>
          </a:ln>
          <a:effectLst>
            <a:outerShdw blurRad="76200" dist="25400" dir="5400000" algn="bl" rotWithShape="0">
              <a:srgbClr val="2C2849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3458718" y="2514600"/>
            <a:ext cx="420624" cy="420624"/>
          </a:xfrm>
          <a:prstGeom prst="ellipse">
            <a:avLst/>
          </a:prstGeom>
          <a:solidFill>
            <a:srgbClr val="2C28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3458718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3458718" y="3044952"/>
            <a:ext cx="236143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458718" y="3397260"/>
            <a:ext cx="2361438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engenheiro solicita escopo com base na Diretriz Estratégica da sua Gerência Executiva, define custo, POB e ano; sincroniza SAP ou importa planilha.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458718" y="5577840"/>
            <a:ext cx="2361438" cy="292608"/>
          </a:xfrm>
          <a:prstGeom prst="roundRect">
            <a:avLst>
              <a:gd name="adj" fmla="val 50000"/>
            </a:avLst>
          </a:prstGeom>
          <a:solidFill>
            <a:srgbClr val="F8F7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3531870" y="5577840"/>
            <a:ext cx="22151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Engenheiros de disciplina</a:t>
            </a:r>
            <a:endParaRPr lang="en-US" sz="830" dirty="0"/>
          </a:p>
        </p:txBody>
      </p:sp>
      <p:sp>
        <p:nvSpPr>
          <p:cNvPr id="22" name="Text 19"/>
          <p:cNvSpPr/>
          <p:nvPr/>
        </p:nvSpPr>
        <p:spPr>
          <a:xfrm>
            <a:off x="6003036" y="4018788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1D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185916" y="2331720"/>
            <a:ext cx="2727198" cy="3703320"/>
          </a:xfrm>
          <a:prstGeom prst="roundRect">
            <a:avLst>
              <a:gd name="adj" fmla="val 1676"/>
            </a:avLst>
          </a:prstGeom>
          <a:solidFill>
            <a:srgbClr val="FFFFFF"/>
          </a:solidFill>
          <a:ln w="12700">
            <a:solidFill>
              <a:srgbClr val="E1DDEC"/>
            </a:solidFill>
            <a:prstDash val="solid"/>
          </a:ln>
          <a:effectLst>
            <a:outerShdw blurRad="76200" dist="25400" dir="5400000" algn="bl" rotWithShape="0">
              <a:srgbClr val="2C2849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21"/>
          <p:cNvSpPr/>
          <p:nvPr/>
        </p:nvSpPr>
        <p:spPr>
          <a:xfrm>
            <a:off x="6368796" y="2514600"/>
            <a:ext cx="420624" cy="420624"/>
          </a:xfrm>
          <a:prstGeom prst="ellipse">
            <a:avLst/>
          </a:prstGeom>
          <a:solidFill>
            <a:srgbClr val="2C28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6368796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368796" y="3044952"/>
            <a:ext cx="236143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Leveling &amp; Challenge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6368796" y="3397260"/>
            <a:ext cx="2361438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Planejamento nivela a demanda pela matriz de priorização, POB e capex disponíveis, e contrapõe as propostas de cada área. Gera o esboço V0.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368796" y="5577840"/>
            <a:ext cx="2361438" cy="292608"/>
          </a:xfrm>
          <a:prstGeom prst="roundRect">
            <a:avLst>
              <a:gd name="adj" fmla="val 50000"/>
            </a:avLst>
          </a:prstGeom>
          <a:solidFill>
            <a:srgbClr val="F8F7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6"/>
          <p:cNvSpPr/>
          <p:nvPr/>
        </p:nvSpPr>
        <p:spPr>
          <a:xfrm>
            <a:off x="6441948" y="5577840"/>
            <a:ext cx="22151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Planejamento / Coordenador do Ativo</a:t>
            </a:r>
            <a:endParaRPr lang="en-US" sz="830" dirty="0"/>
          </a:p>
        </p:txBody>
      </p:sp>
      <p:sp>
        <p:nvSpPr>
          <p:cNvPr id="30" name="Text 27"/>
          <p:cNvSpPr/>
          <p:nvPr/>
        </p:nvSpPr>
        <p:spPr>
          <a:xfrm>
            <a:off x="8913114" y="4018788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1D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9095994" y="2331720"/>
            <a:ext cx="2727198" cy="3703320"/>
          </a:xfrm>
          <a:prstGeom prst="roundRect">
            <a:avLst>
              <a:gd name="adj" fmla="val 1676"/>
            </a:avLst>
          </a:prstGeom>
          <a:solidFill>
            <a:srgbClr val="FFFFFF"/>
          </a:solidFill>
          <a:ln w="12700">
            <a:solidFill>
              <a:srgbClr val="E1DDEC"/>
            </a:solidFill>
            <a:prstDash val="solid"/>
          </a:ln>
          <a:effectLst>
            <a:outerShdw blurRad="76200" dist="25400" dir="5400000" algn="bl" rotWithShape="0">
              <a:srgbClr val="2C2849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2" name="Shape 29"/>
          <p:cNvSpPr/>
          <p:nvPr/>
        </p:nvSpPr>
        <p:spPr>
          <a:xfrm>
            <a:off x="9278874" y="2514600"/>
            <a:ext cx="420624" cy="420624"/>
          </a:xfrm>
          <a:prstGeom prst="ellipse">
            <a:avLst/>
          </a:prstGeom>
          <a:solidFill>
            <a:srgbClr val="2C28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0"/>
          <p:cNvSpPr/>
          <p:nvPr/>
        </p:nvSpPr>
        <p:spPr>
          <a:xfrm>
            <a:off x="9278874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9278874" y="3044952"/>
            <a:ext cx="236143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com Gerentes Executivos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9278874" y="3397260"/>
            <a:ext cx="2361438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o crivo do Coordenador sobre a V0, o Eng. Planejamento do Ativo apresenta o plano ao OIM e aos Gerentes Executivos para alinhamento.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9278874" y="5577840"/>
            <a:ext cx="2361438" cy="292608"/>
          </a:xfrm>
          <a:prstGeom prst="roundRect">
            <a:avLst>
              <a:gd name="adj" fmla="val 50000"/>
            </a:avLst>
          </a:prstGeom>
          <a:solidFill>
            <a:srgbClr val="F8F7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4"/>
          <p:cNvSpPr/>
          <p:nvPr/>
        </p:nvSpPr>
        <p:spPr>
          <a:xfrm>
            <a:off x="9352026" y="5577840"/>
            <a:ext cx="221513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Planejamento / Gerentes / OIM</a:t>
            </a:r>
            <a:endParaRPr lang="en-US" sz="830" dirty="0"/>
          </a:p>
        </p:txBody>
      </p:sp>
      <p:sp>
        <p:nvSpPr>
          <p:cNvPr id="39" name="Text 36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pic>
        <p:nvPicPr>
          <p:cNvPr id="41" name="Picture 63">
            <a:extLst>
              <a:ext uri="{FF2B5EF4-FFF2-40B4-BE49-F238E27FC236}">
                <a16:creationId xmlns:a16="http://schemas.microsoft.com/office/drawing/2014/main" id="{E1460384-5E7F-5040-8058-22B8298C6E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3079" y="4166128"/>
            <a:ext cx="1676185" cy="1394460"/>
          </a:xfrm>
          <a:prstGeom prst="rect">
            <a:avLst/>
          </a:prstGeom>
          <a:ln w="9525">
            <a:solidFill>
              <a:srgbClr val="D580FF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2C284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/tmp/claude-0/-workspace-Planejamento/79ba2b6d-20da-5e48-9126-441c472dc123/scratchpad/prio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402336"/>
            <a:ext cx="1042416" cy="1984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01 · VISÃO GERAL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65760" y="1115568"/>
            <a:ext cx="11457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processo tem sete </a:t>
            </a:r>
            <a:r>
              <a:rPr lang="en-US" sz="2900" b="1" dirty="0" err="1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</a:t>
            </a:r>
            <a:r>
              <a:rPr lang="en-US" sz="290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900" dirty="0"/>
          </a:p>
        </p:txBody>
      </p:sp>
      <p:sp>
        <p:nvSpPr>
          <p:cNvPr id="7" name="Shape 4"/>
          <p:cNvSpPr/>
          <p:nvPr/>
        </p:nvSpPr>
        <p:spPr>
          <a:xfrm>
            <a:off x="365760" y="2331720"/>
            <a:ext cx="3697224" cy="370332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E1DDEC"/>
            </a:solidFill>
            <a:prstDash val="solid"/>
          </a:ln>
          <a:effectLst>
            <a:outerShdw blurRad="76200" dist="25400" dir="5400000" algn="bl" rotWithShape="0">
              <a:srgbClr val="2C2849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420624" cy="420624"/>
          </a:xfrm>
          <a:prstGeom prst="ellipse">
            <a:avLst/>
          </a:prstGeom>
          <a:solidFill>
            <a:srgbClr val="2C28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54864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3044952"/>
            <a:ext cx="3331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— aprovação V0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3630168"/>
            <a:ext cx="3331464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e Coordenador do Ativo revisam a V0 consolidada e aprovam o avanço do plano.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" y="5577840"/>
            <a:ext cx="3331464" cy="292608"/>
          </a:xfrm>
          <a:prstGeom prst="roundRect">
            <a:avLst>
              <a:gd name="adj" fmla="val 50000"/>
            </a:avLst>
          </a:prstGeom>
          <a:solidFill>
            <a:srgbClr val="F8F7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5577840"/>
            <a:ext cx="3185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do Ativo / Coordenador do Ativo</a:t>
            </a:r>
            <a:endParaRPr lang="en-US" sz="830" dirty="0"/>
          </a:p>
        </p:txBody>
      </p:sp>
      <p:sp>
        <p:nvSpPr>
          <p:cNvPr id="14" name="Text 11"/>
          <p:cNvSpPr/>
          <p:nvPr/>
        </p:nvSpPr>
        <p:spPr>
          <a:xfrm>
            <a:off x="4062984" y="4018788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1D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245864" y="2331720"/>
            <a:ext cx="3697224" cy="370332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E1DDEC"/>
            </a:solidFill>
            <a:prstDash val="solid"/>
          </a:ln>
          <a:effectLst>
            <a:outerShdw blurRad="76200" dist="25400" dir="5400000" algn="bl" rotWithShape="0">
              <a:srgbClr val="2C2849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4428744" y="2514600"/>
            <a:ext cx="420624" cy="420624"/>
          </a:xfrm>
          <a:prstGeom prst="ellipse">
            <a:avLst/>
          </a:prstGeom>
          <a:solidFill>
            <a:srgbClr val="2C28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4428744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428744" y="3044952"/>
            <a:ext cx="3331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do plano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428744" y="3630168"/>
            <a:ext cx="3331464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finos no plano aprovado — refinamento de POB, custo e cronograma por área, antes do fechamento.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428744" y="5577840"/>
            <a:ext cx="3331464" cy="292608"/>
          </a:xfrm>
          <a:prstGeom prst="roundRect">
            <a:avLst>
              <a:gd name="adj" fmla="val 50000"/>
            </a:avLst>
          </a:prstGeom>
          <a:solidFill>
            <a:srgbClr val="F8F7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4501896" y="5577840"/>
            <a:ext cx="3185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Planejamento</a:t>
            </a:r>
            <a:endParaRPr lang="en-US" sz="830" dirty="0"/>
          </a:p>
        </p:txBody>
      </p:sp>
      <p:sp>
        <p:nvSpPr>
          <p:cNvPr id="22" name="Text 19"/>
          <p:cNvSpPr/>
          <p:nvPr/>
        </p:nvSpPr>
        <p:spPr>
          <a:xfrm>
            <a:off x="7943088" y="4018788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1D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125968" y="2331720"/>
            <a:ext cx="3697224" cy="370332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E1DDEC"/>
            </a:solidFill>
            <a:prstDash val="solid"/>
          </a:ln>
          <a:effectLst>
            <a:outerShdw blurRad="76200" dist="25400" dir="5400000" algn="bl" rotWithShape="0">
              <a:srgbClr val="2C2849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21"/>
          <p:cNvSpPr/>
          <p:nvPr/>
        </p:nvSpPr>
        <p:spPr>
          <a:xfrm>
            <a:off x="8308848" y="2514600"/>
            <a:ext cx="420624" cy="420624"/>
          </a:xfrm>
          <a:prstGeom prst="ellipse">
            <a:avLst/>
          </a:prstGeom>
          <a:solidFill>
            <a:srgbClr val="2C28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8308848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8308848" y="3044952"/>
            <a:ext cx="3331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Approval — envio do plano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8308848" y="3630168"/>
            <a:ext cx="3331464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final (VF) é aprovado e enviado, divulgado a todas as áreas.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8308848" y="5577840"/>
            <a:ext cx="3331464" cy="292608"/>
          </a:xfrm>
          <a:prstGeom prst="roundRect">
            <a:avLst>
              <a:gd name="adj" fmla="val 50000"/>
            </a:avLst>
          </a:prstGeom>
          <a:solidFill>
            <a:srgbClr val="F8F7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6"/>
          <p:cNvSpPr/>
          <p:nvPr/>
        </p:nvSpPr>
        <p:spPr>
          <a:xfrm>
            <a:off x="8382000" y="5577840"/>
            <a:ext cx="3185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do Ativo</a:t>
            </a:r>
            <a:endParaRPr lang="en-US" sz="830" dirty="0"/>
          </a:p>
        </p:txBody>
      </p:sp>
      <p:sp>
        <p:nvSpPr>
          <p:cNvPr id="31" name="Text 28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2C284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/tmp/claude-0/-workspace-Planejamento/79ba2b6d-20da-5e48-9126-441c472dc123/scratchpad/prio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402336"/>
            <a:ext cx="1042416" cy="1984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02 · QUADRO DE EQUIPES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842015"/>
              </p:ext>
            </p:extLst>
          </p:nvPr>
        </p:nvGraphicFramePr>
        <p:xfrm>
          <a:off x="338328" y="1123796"/>
          <a:ext cx="11457432" cy="556474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48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619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Gerência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corporativa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Polvo &amp; TBMT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Peregrino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Frade/Wahoo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87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796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200" b="1" kern="120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Operações</a:t>
                      </a:r>
                      <a:endParaRPr lang="en-US" sz="1200" b="1" kern="1200" dirty="0">
                        <a:solidFill>
                          <a:schemeClr val="bg1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Operações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Dirlaine Oliveira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João M. Grigolleto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Rafael Cardoso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Carlos Althoff (FPSO)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Aristides Basilio (PRG)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José Newton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Guilherme Batista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Nacib Haddad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Camilla Ito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865">
                <a:tc rowSpan="9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 err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Engenharia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Lourenço Morucci</a:t>
                      </a: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Manutenção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Alex Dantas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Iancaue Soares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Samya Estevam (FPSO)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Paulo Sá (PRG)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Leonardo Paiva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Ygor Teixeira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Confiabilidade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Isabella Oliveira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Guilherme Bassalo / Andrey Medeiros — todas as unidades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6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6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6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Suporte Técnico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Alexandro Felix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8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Matheus Lima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Marcus Loiola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Jose Pacheco (FPSO)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Bruno Schmidt (PRG)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Mauro Arrabal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Luiz E. Gonçalves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Tarcisio Malta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Matheus Lima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Maria Eduarda Aquino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Nathalia Azambuja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Fernando Kume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João Tadeu Vidal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8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 err="1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Planejamento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Lucas Ribas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Nicole Bastos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Marcos Paulo (FPSO/PRG 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Leonardo Simplício (PRG B/C)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Dyanna Lanna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Carolina Soares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1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Mariana Silva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Mariana Silva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Josimar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Mariana Silva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Lenon Reis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98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Victor Souza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Hugo Cantisano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Abraao Leite (FPSO)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Alberto Siqueira (PRG)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Caio Monteiro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Sergio Ramos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186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Parada Programada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Antônio Toffano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Thiago Purcino — todas as unidades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1862">
                <a:tc rowSpan="3"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200" b="1" kern="1200" dirty="0" err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Gestão</a:t>
                      </a:r>
                      <a:r>
                        <a:rPr lang="en-US" sz="1200" b="1" kern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da Produção</a:t>
                      </a:r>
                    </a:p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200" b="0" kern="1200" dirty="0" err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Élida</a:t>
                      </a:r>
                      <a:r>
                        <a:rPr lang="en-US" sz="1200" b="0" kern="120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Gurgel</a:t>
                      </a: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Daniel Stussi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Caio Menezes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Tiago Velasco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Marcelo Vidal / Miguel Base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Gabriel Ramos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1862"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6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 err="1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Químicos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Johanna Vaca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Idianara da Silva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Thamires Laranjeiras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Tayane Miranda / Aryanne Nascimento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Yohana Conde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1862"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6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Medição Fiscal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Larissa Farias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Gustavo Tavares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Joana Augustin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Vanessa Vieira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1862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 err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Sustentabilidade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Thiago Ormonde</a:t>
                      </a: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Seg. Processos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Gabriela Roman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Lara Batista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Mariana Orosa / Melina Prado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Clara Leal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João Antônio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1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Saúde e Seg. Ocup.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Aline Rodrigues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Anderson Castro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Jefferson Pinheiro / Ana Augusta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Tadeu Luiz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Luiz Heltz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186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Meio Ambiente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Aline Almeida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Lorena Brandão — Polvo&amp;TBMT + Peregrino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1862">
                <a:tc row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 err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Desenv</a:t>
                      </a: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 da Produção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200" b="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Iuri Rossi</a:t>
                      </a: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Iuri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Debora Costa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Felippe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Debora Costa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Lorenzzo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Rodrigo Braga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900" b="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Pedro Lago</a:t>
                      </a:r>
                      <a:endParaRPr lang="en-US" sz="900" b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Vanessa </a:t>
                      </a:r>
                      <a:r>
                        <a:rPr lang="en-US" sz="900" b="1" dirty="0" err="1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Arivabene</a:t>
                      </a:r>
                      <a:endParaRPr lang="en-US" sz="900" b="1" dirty="0">
                        <a:solidFill>
                          <a:srgbClr val="6B6682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Jessica, Bruno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186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Subsea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Tiago Pinho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Caio Amaral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Rodrigo Azeredo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Diogo França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Marisol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186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 err="1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</a:t>
                      </a:r>
                      <a:r>
                        <a:rPr lang="en-US" sz="900" b="1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900" b="1" dirty="0" err="1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Poços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Vitor Santos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Rafaela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Rafaela / Alzira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Kamylla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Alzira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5400" marR="25400" marT="12700" marB="12700"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2C284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/tmp/claude-0/-workspace-Planejamento/79ba2b6d-20da-5e48-9126-441c472dc123/scratchpad/prio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402336"/>
            <a:ext cx="1042416" cy="1984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03 · CALENDÁRIO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65760" y="1115568"/>
            <a:ext cx="11457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do tempo consolidada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365760" y="1700784"/>
            <a:ext cx="11457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 reais do Cronograma Plano Integrado 2027 — cada linha é uma etapa do rito, com início e fim confirmados.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2880360" y="2212848"/>
            <a:ext cx="11178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 S4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998214" y="2212848"/>
            <a:ext cx="11178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S1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116068" y="2212848"/>
            <a:ext cx="11178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S2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233922" y="2212848"/>
            <a:ext cx="11178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S3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351776" y="2212848"/>
            <a:ext cx="11178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S4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469630" y="2212848"/>
            <a:ext cx="11178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S1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9587484" y="2212848"/>
            <a:ext cx="11178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S2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0705338" y="2212848"/>
            <a:ext cx="11178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S3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65760" y="2487168"/>
            <a:ext cx="11457432" cy="12802"/>
          </a:xfrm>
          <a:prstGeom prst="rect">
            <a:avLst/>
          </a:prstGeom>
          <a:solidFill>
            <a:srgbClr val="E1DD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365760" y="2514600"/>
            <a:ext cx="23865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&amp; divulgação
</a:t>
            </a:r>
            <a:r>
              <a:rPr lang="en-US" sz="83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25–27/08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880360" y="2487168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3998214" y="2487168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5116068" y="2487168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7"/>
          <p:cNvSpPr/>
          <p:nvPr/>
        </p:nvSpPr>
        <p:spPr>
          <a:xfrm>
            <a:off x="6233922" y="2487168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7351776" y="2487168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8469630" y="2487168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0"/>
          <p:cNvSpPr/>
          <p:nvPr/>
        </p:nvSpPr>
        <p:spPr>
          <a:xfrm>
            <a:off x="9587484" y="2487168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1"/>
          <p:cNvSpPr/>
          <p:nvPr/>
        </p:nvSpPr>
        <p:spPr>
          <a:xfrm>
            <a:off x="10705338" y="2487168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2"/>
          <p:cNvSpPr/>
          <p:nvPr/>
        </p:nvSpPr>
        <p:spPr>
          <a:xfrm>
            <a:off x="2926080" y="2548890"/>
            <a:ext cx="1026414" cy="274320"/>
          </a:xfrm>
          <a:prstGeom prst="roundRect">
            <a:avLst>
              <a:gd name="adj" fmla="val 50000"/>
            </a:avLst>
          </a:prstGeom>
          <a:solidFill>
            <a:srgbClr val="10A9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/>
          <p:nvPr/>
        </p:nvSpPr>
        <p:spPr>
          <a:xfrm>
            <a:off x="365760" y="2912364"/>
            <a:ext cx="23865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Performance — Passo 1: insumos de evolução
</a:t>
            </a:r>
            <a:r>
              <a:rPr lang="en-US" sz="83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27/08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880360" y="2884932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5"/>
          <p:cNvSpPr/>
          <p:nvPr/>
        </p:nvSpPr>
        <p:spPr>
          <a:xfrm>
            <a:off x="3998214" y="2884932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6"/>
          <p:cNvSpPr/>
          <p:nvPr/>
        </p:nvSpPr>
        <p:spPr>
          <a:xfrm>
            <a:off x="5116068" y="2884932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7"/>
          <p:cNvSpPr/>
          <p:nvPr/>
        </p:nvSpPr>
        <p:spPr>
          <a:xfrm>
            <a:off x="6233922" y="2884932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8"/>
          <p:cNvSpPr/>
          <p:nvPr/>
        </p:nvSpPr>
        <p:spPr>
          <a:xfrm>
            <a:off x="7351776" y="2884932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29"/>
          <p:cNvSpPr/>
          <p:nvPr/>
        </p:nvSpPr>
        <p:spPr>
          <a:xfrm>
            <a:off x="8469630" y="2884932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Shape 30"/>
          <p:cNvSpPr/>
          <p:nvPr/>
        </p:nvSpPr>
        <p:spPr>
          <a:xfrm>
            <a:off x="9587484" y="2884932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Shape 31"/>
          <p:cNvSpPr/>
          <p:nvPr/>
        </p:nvSpPr>
        <p:spPr>
          <a:xfrm>
            <a:off x="10705338" y="2884932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2"/>
          <p:cNvSpPr/>
          <p:nvPr/>
        </p:nvSpPr>
        <p:spPr>
          <a:xfrm>
            <a:off x="2926080" y="2946654"/>
            <a:ext cx="1026414" cy="274320"/>
          </a:xfrm>
          <a:prstGeom prst="roundRect">
            <a:avLst>
              <a:gd name="adj" fmla="val 50000"/>
            </a:avLst>
          </a:prstGeom>
          <a:solidFill>
            <a:srgbClr val="10A9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Shape 33"/>
          <p:cNvSpPr/>
          <p:nvPr/>
        </p:nvSpPr>
        <p:spPr>
          <a:xfrm>
            <a:off x="3870198" y="2955798"/>
            <a:ext cx="256032" cy="256032"/>
          </a:xfrm>
          <a:prstGeom prst="ellipse">
            <a:avLst/>
          </a:prstGeom>
          <a:solidFill>
            <a:srgbClr val="2C2849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4"/>
          <p:cNvSpPr/>
          <p:nvPr/>
        </p:nvSpPr>
        <p:spPr>
          <a:xfrm>
            <a:off x="3870198" y="295579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365760" y="3310128"/>
            <a:ext cx="23865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(macro + intensivo)
</a:t>
            </a:r>
            <a:r>
              <a:rPr lang="en-US" sz="83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27/08–02/09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2880360" y="3282696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Shape 37"/>
          <p:cNvSpPr/>
          <p:nvPr/>
        </p:nvSpPr>
        <p:spPr>
          <a:xfrm>
            <a:off x="3998214" y="3282696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Shape 38"/>
          <p:cNvSpPr/>
          <p:nvPr/>
        </p:nvSpPr>
        <p:spPr>
          <a:xfrm>
            <a:off x="5116068" y="3282696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Shape 39"/>
          <p:cNvSpPr/>
          <p:nvPr/>
        </p:nvSpPr>
        <p:spPr>
          <a:xfrm>
            <a:off x="6233922" y="3282696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Shape 40"/>
          <p:cNvSpPr/>
          <p:nvPr/>
        </p:nvSpPr>
        <p:spPr>
          <a:xfrm>
            <a:off x="7351776" y="3282696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Shape 41"/>
          <p:cNvSpPr/>
          <p:nvPr/>
        </p:nvSpPr>
        <p:spPr>
          <a:xfrm>
            <a:off x="8469630" y="3282696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Shape 42"/>
          <p:cNvSpPr/>
          <p:nvPr/>
        </p:nvSpPr>
        <p:spPr>
          <a:xfrm>
            <a:off x="9587484" y="3282696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Shape 43"/>
          <p:cNvSpPr/>
          <p:nvPr/>
        </p:nvSpPr>
        <p:spPr>
          <a:xfrm>
            <a:off x="10705338" y="3282696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Shape 44"/>
          <p:cNvSpPr/>
          <p:nvPr/>
        </p:nvSpPr>
        <p:spPr>
          <a:xfrm>
            <a:off x="2926080" y="3344418"/>
            <a:ext cx="2144268" cy="274320"/>
          </a:xfrm>
          <a:prstGeom prst="roundRect">
            <a:avLst>
              <a:gd name="adj" fmla="val 50000"/>
            </a:avLst>
          </a:prstGeom>
          <a:solidFill>
            <a:srgbClr val="10A9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Text 45"/>
          <p:cNvSpPr/>
          <p:nvPr/>
        </p:nvSpPr>
        <p:spPr>
          <a:xfrm>
            <a:off x="365760" y="3707892"/>
            <a:ext cx="23865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— preenchimento
</a:t>
            </a:r>
            <a:r>
              <a:rPr lang="en-US" sz="83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31/08–11/09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2880360" y="3680460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Shape 47"/>
          <p:cNvSpPr/>
          <p:nvPr/>
        </p:nvSpPr>
        <p:spPr>
          <a:xfrm>
            <a:off x="3998214" y="3680460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Shape 48"/>
          <p:cNvSpPr/>
          <p:nvPr/>
        </p:nvSpPr>
        <p:spPr>
          <a:xfrm>
            <a:off x="5116068" y="3680460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Shape 49"/>
          <p:cNvSpPr/>
          <p:nvPr/>
        </p:nvSpPr>
        <p:spPr>
          <a:xfrm>
            <a:off x="6233922" y="3680460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" name="Shape 50"/>
          <p:cNvSpPr/>
          <p:nvPr/>
        </p:nvSpPr>
        <p:spPr>
          <a:xfrm>
            <a:off x="7351776" y="3680460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Shape 51"/>
          <p:cNvSpPr/>
          <p:nvPr/>
        </p:nvSpPr>
        <p:spPr>
          <a:xfrm>
            <a:off x="8469630" y="3680460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5" name="Shape 52"/>
          <p:cNvSpPr/>
          <p:nvPr/>
        </p:nvSpPr>
        <p:spPr>
          <a:xfrm>
            <a:off x="9587484" y="3680460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Shape 53"/>
          <p:cNvSpPr/>
          <p:nvPr/>
        </p:nvSpPr>
        <p:spPr>
          <a:xfrm>
            <a:off x="10705338" y="3680460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7" name="Shape 54"/>
          <p:cNvSpPr/>
          <p:nvPr/>
        </p:nvSpPr>
        <p:spPr>
          <a:xfrm>
            <a:off x="2926080" y="3742182"/>
            <a:ext cx="3262122" cy="274320"/>
          </a:xfrm>
          <a:prstGeom prst="roundRect">
            <a:avLst>
              <a:gd name="adj" fmla="val 50000"/>
            </a:avLst>
          </a:prstGeom>
          <a:solidFill>
            <a:srgbClr val="10A9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Shape 55"/>
          <p:cNvSpPr/>
          <p:nvPr/>
        </p:nvSpPr>
        <p:spPr>
          <a:xfrm>
            <a:off x="6105906" y="3751326"/>
            <a:ext cx="256032" cy="256032"/>
          </a:xfrm>
          <a:prstGeom prst="ellipse">
            <a:avLst/>
          </a:prstGeom>
          <a:solidFill>
            <a:srgbClr val="2C2849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9" name="Text 56"/>
          <p:cNvSpPr/>
          <p:nvPr/>
        </p:nvSpPr>
        <p:spPr>
          <a:xfrm>
            <a:off x="6105906" y="375132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365760" y="4105656"/>
            <a:ext cx="23865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Leveling &amp; Challenge
</a:t>
            </a:r>
            <a:r>
              <a:rPr lang="en-US" sz="83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14–18/09 · V0/V1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2880360" y="4078224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2" name="Shape 59"/>
          <p:cNvSpPr/>
          <p:nvPr/>
        </p:nvSpPr>
        <p:spPr>
          <a:xfrm>
            <a:off x="3998214" y="4078224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3" name="Shape 60"/>
          <p:cNvSpPr/>
          <p:nvPr/>
        </p:nvSpPr>
        <p:spPr>
          <a:xfrm>
            <a:off x="5116068" y="4078224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4" name="Shape 61"/>
          <p:cNvSpPr/>
          <p:nvPr/>
        </p:nvSpPr>
        <p:spPr>
          <a:xfrm>
            <a:off x="6233922" y="4078224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5" name="Shape 62"/>
          <p:cNvSpPr/>
          <p:nvPr/>
        </p:nvSpPr>
        <p:spPr>
          <a:xfrm>
            <a:off x="7351776" y="4078224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6" name="Shape 63"/>
          <p:cNvSpPr/>
          <p:nvPr/>
        </p:nvSpPr>
        <p:spPr>
          <a:xfrm>
            <a:off x="8469630" y="4078224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7" name="Shape 64"/>
          <p:cNvSpPr/>
          <p:nvPr/>
        </p:nvSpPr>
        <p:spPr>
          <a:xfrm>
            <a:off x="9587484" y="4078224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Shape 65"/>
          <p:cNvSpPr/>
          <p:nvPr/>
        </p:nvSpPr>
        <p:spPr>
          <a:xfrm>
            <a:off x="10705338" y="4078224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9" name="Shape 66"/>
          <p:cNvSpPr/>
          <p:nvPr/>
        </p:nvSpPr>
        <p:spPr>
          <a:xfrm>
            <a:off x="6279642" y="4139946"/>
            <a:ext cx="1026414" cy="274320"/>
          </a:xfrm>
          <a:prstGeom prst="roundRect">
            <a:avLst>
              <a:gd name="adj" fmla="val 50000"/>
            </a:avLst>
          </a:prstGeom>
          <a:solidFill>
            <a:srgbClr val="10A9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0" name="Text 67"/>
          <p:cNvSpPr/>
          <p:nvPr/>
        </p:nvSpPr>
        <p:spPr>
          <a:xfrm>
            <a:off x="365760" y="4503420"/>
            <a:ext cx="23865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Gerencial
</a:t>
            </a:r>
            <a:r>
              <a:rPr lang="en-US" sz="83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21–22/09</a:t>
            </a:r>
            <a:endParaRPr lang="en-US" sz="1000" dirty="0"/>
          </a:p>
        </p:txBody>
      </p:sp>
      <p:sp>
        <p:nvSpPr>
          <p:cNvPr id="71" name="Shape 68"/>
          <p:cNvSpPr/>
          <p:nvPr/>
        </p:nvSpPr>
        <p:spPr>
          <a:xfrm>
            <a:off x="2880360" y="4475988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2" name="Shape 69"/>
          <p:cNvSpPr/>
          <p:nvPr/>
        </p:nvSpPr>
        <p:spPr>
          <a:xfrm>
            <a:off x="3998214" y="4475988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3" name="Shape 70"/>
          <p:cNvSpPr/>
          <p:nvPr/>
        </p:nvSpPr>
        <p:spPr>
          <a:xfrm>
            <a:off x="5116068" y="4475988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4" name="Shape 71"/>
          <p:cNvSpPr/>
          <p:nvPr/>
        </p:nvSpPr>
        <p:spPr>
          <a:xfrm>
            <a:off x="6233922" y="4475988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5" name="Shape 72"/>
          <p:cNvSpPr/>
          <p:nvPr/>
        </p:nvSpPr>
        <p:spPr>
          <a:xfrm>
            <a:off x="7351776" y="4475988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6" name="Shape 73"/>
          <p:cNvSpPr/>
          <p:nvPr/>
        </p:nvSpPr>
        <p:spPr>
          <a:xfrm>
            <a:off x="8469630" y="4475988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7" name="Shape 74"/>
          <p:cNvSpPr/>
          <p:nvPr/>
        </p:nvSpPr>
        <p:spPr>
          <a:xfrm>
            <a:off x="9587484" y="4475988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8" name="Shape 75"/>
          <p:cNvSpPr/>
          <p:nvPr/>
        </p:nvSpPr>
        <p:spPr>
          <a:xfrm>
            <a:off x="10705338" y="4475988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9" name="Shape 76"/>
          <p:cNvSpPr/>
          <p:nvPr/>
        </p:nvSpPr>
        <p:spPr>
          <a:xfrm>
            <a:off x="6279642" y="4537710"/>
            <a:ext cx="2144268" cy="274320"/>
          </a:xfrm>
          <a:prstGeom prst="roundRect">
            <a:avLst>
              <a:gd name="adj" fmla="val 50000"/>
            </a:avLst>
          </a:prstGeom>
          <a:solidFill>
            <a:srgbClr val="10A9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0" name="Text 77"/>
          <p:cNvSpPr/>
          <p:nvPr/>
        </p:nvSpPr>
        <p:spPr>
          <a:xfrm>
            <a:off x="365760" y="4901184"/>
            <a:ext cx="23865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— aprovação V0
</a:t>
            </a:r>
            <a:r>
              <a:rPr lang="en-US" sz="83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23–24/09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2880360" y="4873752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2" name="Shape 79"/>
          <p:cNvSpPr/>
          <p:nvPr/>
        </p:nvSpPr>
        <p:spPr>
          <a:xfrm>
            <a:off x="3998214" y="4873752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3" name="Shape 80"/>
          <p:cNvSpPr/>
          <p:nvPr/>
        </p:nvSpPr>
        <p:spPr>
          <a:xfrm>
            <a:off x="5116068" y="4873752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4" name="Shape 81"/>
          <p:cNvSpPr/>
          <p:nvPr/>
        </p:nvSpPr>
        <p:spPr>
          <a:xfrm>
            <a:off x="6233922" y="4873752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5" name="Shape 82"/>
          <p:cNvSpPr/>
          <p:nvPr/>
        </p:nvSpPr>
        <p:spPr>
          <a:xfrm>
            <a:off x="7351776" y="4873752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6" name="Shape 83"/>
          <p:cNvSpPr/>
          <p:nvPr/>
        </p:nvSpPr>
        <p:spPr>
          <a:xfrm>
            <a:off x="8469630" y="4873752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7" name="Shape 84"/>
          <p:cNvSpPr/>
          <p:nvPr/>
        </p:nvSpPr>
        <p:spPr>
          <a:xfrm>
            <a:off x="9587484" y="4873752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8" name="Shape 85"/>
          <p:cNvSpPr/>
          <p:nvPr/>
        </p:nvSpPr>
        <p:spPr>
          <a:xfrm>
            <a:off x="10705338" y="4873752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9" name="Shape 86"/>
          <p:cNvSpPr/>
          <p:nvPr/>
        </p:nvSpPr>
        <p:spPr>
          <a:xfrm>
            <a:off x="7397496" y="4935474"/>
            <a:ext cx="1026414" cy="274320"/>
          </a:xfrm>
          <a:prstGeom prst="roundRect">
            <a:avLst>
              <a:gd name="adj" fmla="val 50000"/>
            </a:avLst>
          </a:prstGeom>
          <a:solidFill>
            <a:srgbClr val="F2834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0" name="Text 87"/>
          <p:cNvSpPr/>
          <p:nvPr/>
        </p:nvSpPr>
        <p:spPr>
          <a:xfrm>
            <a:off x="365760" y="5298948"/>
            <a:ext cx="23865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do plano
</a:t>
            </a:r>
            <a:r>
              <a:rPr lang="en-US" sz="83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28/09–09/10</a:t>
            </a:r>
            <a:endParaRPr lang="en-US" sz="1000" dirty="0"/>
          </a:p>
        </p:txBody>
      </p:sp>
      <p:sp>
        <p:nvSpPr>
          <p:cNvPr id="91" name="Shape 88"/>
          <p:cNvSpPr/>
          <p:nvPr/>
        </p:nvSpPr>
        <p:spPr>
          <a:xfrm>
            <a:off x="2880360" y="5271516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2" name="Shape 89"/>
          <p:cNvSpPr/>
          <p:nvPr/>
        </p:nvSpPr>
        <p:spPr>
          <a:xfrm>
            <a:off x="3998214" y="5271516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3" name="Shape 90"/>
          <p:cNvSpPr/>
          <p:nvPr/>
        </p:nvSpPr>
        <p:spPr>
          <a:xfrm>
            <a:off x="5116068" y="5271516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4" name="Shape 91"/>
          <p:cNvSpPr/>
          <p:nvPr/>
        </p:nvSpPr>
        <p:spPr>
          <a:xfrm>
            <a:off x="6233922" y="5271516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5" name="Shape 92"/>
          <p:cNvSpPr/>
          <p:nvPr/>
        </p:nvSpPr>
        <p:spPr>
          <a:xfrm>
            <a:off x="7351776" y="5271516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6" name="Shape 93"/>
          <p:cNvSpPr/>
          <p:nvPr/>
        </p:nvSpPr>
        <p:spPr>
          <a:xfrm>
            <a:off x="8469630" y="5271516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7" name="Shape 94"/>
          <p:cNvSpPr/>
          <p:nvPr/>
        </p:nvSpPr>
        <p:spPr>
          <a:xfrm>
            <a:off x="9587484" y="5271516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8" name="Shape 95"/>
          <p:cNvSpPr/>
          <p:nvPr/>
        </p:nvSpPr>
        <p:spPr>
          <a:xfrm>
            <a:off x="10705338" y="5271516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9" name="Shape 96"/>
          <p:cNvSpPr/>
          <p:nvPr/>
        </p:nvSpPr>
        <p:spPr>
          <a:xfrm>
            <a:off x="7397496" y="5333238"/>
            <a:ext cx="3262122" cy="274320"/>
          </a:xfrm>
          <a:prstGeom prst="roundRect">
            <a:avLst>
              <a:gd name="adj" fmla="val 50000"/>
            </a:avLst>
          </a:prstGeom>
          <a:solidFill>
            <a:srgbClr val="10A9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0" name="Text 97"/>
          <p:cNvSpPr/>
          <p:nvPr/>
        </p:nvSpPr>
        <p:spPr>
          <a:xfrm>
            <a:off x="365760" y="5696712"/>
            <a:ext cx="23865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Approval — envio do plano
</a:t>
            </a:r>
            <a:r>
              <a:rPr lang="en-US" sz="83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12/10</a:t>
            </a:r>
            <a:endParaRPr lang="en-US" sz="1000" dirty="0"/>
          </a:p>
        </p:txBody>
      </p:sp>
      <p:sp>
        <p:nvSpPr>
          <p:cNvPr id="101" name="Shape 98"/>
          <p:cNvSpPr/>
          <p:nvPr/>
        </p:nvSpPr>
        <p:spPr>
          <a:xfrm>
            <a:off x="2880360" y="5669280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2" name="Shape 99"/>
          <p:cNvSpPr/>
          <p:nvPr/>
        </p:nvSpPr>
        <p:spPr>
          <a:xfrm>
            <a:off x="3998214" y="5669280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3" name="Shape 100"/>
          <p:cNvSpPr/>
          <p:nvPr/>
        </p:nvSpPr>
        <p:spPr>
          <a:xfrm>
            <a:off x="5116068" y="5669280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4" name="Shape 101"/>
          <p:cNvSpPr/>
          <p:nvPr/>
        </p:nvSpPr>
        <p:spPr>
          <a:xfrm>
            <a:off x="6233922" y="5669280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5" name="Shape 102"/>
          <p:cNvSpPr/>
          <p:nvPr/>
        </p:nvSpPr>
        <p:spPr>
          <a:xfrm>
            <a:off x="7351776" y="5669280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6" name="Shape 103"/>
          <p:cNvSpPr/>
          <p:nvPr/>
        </p:nvSpPr>
        <p:spPr>
          <a:xfrm>
            <a:off x="8469630" y="5669280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7" name="Shape 104"/>
          <p:cNvSpPr/>
          <p:nvPr/>
        </p:nvSpPr>
        <p:spPr>
          <a:xfrm>
            <a:off x="9587484" y="5669280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8" name="Shape 105"/>
          <p:cNvSpPr/>
          <p:nvPr/>
        </p:nvSpPr>
        <p:spPr>
          <a:xfrm>
            <a:off x="10705338" y="5669280"/>
            <a:ext cx="1117854" cy="397764"/>
          </a:xfrm>
          <a:prstGeom prst="rect">
            <a:avLst/>
          </a:prstGeom>
          <a:ln w="6350">
            <a:solidFill>
              <a:srgbClr val="F1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9" name="Shape 106"/>
          <p:cNvSpPr/>
          <p:nvPr/>
        </p:nvSpPr>
        <p:spPr>
          <a:xfrm>
            <a:off x="9633204" y="5731002"/>
            <a:ext cx="1026414" cy="274320"/>
          </a:xfrm>
          <a:prstGeom prst="roundRect">
            <a:avLst>
              <a:gd name="adj" fmla="val 50000"/>
            </a:avLst>
          </a:prstGeom>
          <a:solidFill>
            <a:srgbClr val="F2834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0" name="Shape 107"/>
          <p:cNvSpPr/>
          <p:nvPr/>
        </p:nvSpPr>
        <p:spPr>
          <a:xfrm>
            <a:off x="10577322" y="5740146"/>
            <a:ext cx="256032" cy="256032"/>
          </a:xfrm>
          <a:prstGeom prst="ellipse">
            <a:avLst/>
          </a:prstGeom>
          <a:solidFill>
            <a:srgbClr val="2C2849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1" name="Text 108"/>
          <p:cNvSpPr/>
          <p:nvPr/>
        </p:nvSpPr>
        <p:spPr>
          <a:xfrm>
            <a:off x="10577322" y="574014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112" name="Shape 109"/>
          <p:cNvSpPr/>
          <p:nvPr/>
        </p:nvSpPr>
        <p:spPr>
          <a:xfrm>
            <a:off x="365760" y="6149340"/>
            <a:ext cx="201168" cy="128016"/>
          </a:xfrm>
          <a:prstGeom prst="roundRect">
            <a:avLst/>
          </a:prstGeom>
          <a:solidFill>
            <a:srgbClr val="10A9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3" name="Text 110"/>
          <p:cNvSpPr/>
          <p:nvPr/>
        </p:nvSpPr>
        <p:spPr>
          <a:xfrm>
            <a:off x="621792" y="609447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Rito do plano</a:t>
            </a:r>
            <a:endParaRPr lang="en-US" sz="950" dirty="0"/>
          </a:p>
        </p:txBody>
      </p:sp>
      <p:sp>
        <p:nvSpPr>
          <p:cNvPr id="114" name="Shape 111"/>
          <p:cNvSpPr/>
          <p:nvPr/>
        </p:nvSpPr>
        <p:spPr>
          <a:xfrm>
            <a:off x="2286000" y="6149340"/>
            <a:ext cx="201168" cy="128016"/>
          </a:xfrm>
          <a:prstGeom prst="roundRect">
            <a:avLst/>
          </a:prstGeom>
          <a:solidFill>
            <a:srgbClr val="F2834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5" name="Text 112"/>
          <p:cNvSpPr/>
          <p:nvPr/>
        </p:nvSpPr>
        <p:spPr>
          <a:xfrm>
            <a:off x="2542032" y="609447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/ revisão</a:t>
            </a:r>
            <a:endParaRPr lang="en-US" sz="950" dirty="0"/>
          </a:p>
        </p:txBody>
      </p:sp>
      <p:sp>
        <p:nvSpPr>
          <p:cNvPr id="116" name="Text 113"/>
          <p:cNvSpPr/>
          <p:nvPr/>
        </p:nvSpPr>
        <p:spPr>
          <a:xfrm>
            <a:off x="4846320" y="6094476"/>
            <a:ext cx="6976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= 27/08 · workshop Performance (Passo 1)  ·  11 = 11/09 · fim do Building  ·  12 = 12/10 · envio do plano</a:t>
            </a:r>
            <a:endParaRPr lang="en-US" sz="830" dirty="0"/>
          </a:p>
        </p:txBody>
      </p:sp>
      <p:sp>
        <p:nvSpPr>
          <p:cNvPr id="118" name="Text 115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2C284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/tmp/claude-0/-workspace-Planejamento/79ba2b6d-20da-5e48-9126-441c472dc123/scratchpad/prio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402336"/>
            <a:ext cx="1042416" cy="1984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04 · O QUE ESTÁ POR TRÁS DO PLANO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65760" y="1115568"/>
            <a:ext cx="11457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Prioridade × Esforço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365760" y="1700784"/>
            <a:ext cx="11457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Adaptação da matriz Prêmio × </a:t>
            </a:r>
            <a:r>
              <a:rPr lang="en-US" sz="1250" dirty="0" err="1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Esforço</a:t>
            </a:r>
            <a:r>
              <a:rPr lang="en-US" sz="12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prioridade no eixo vertical, esforço em cama-dia no eixo horizontal.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2212848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ilustrativa — pontos de exemplo, não dados reais do ciclo atual.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2542032"/>
            <a:ext cx="3474720" cy="1883664"/>
          </a:xfrm>
          <a:prstGeom prst="rect">
            <a:avLst/>
          </a:prstGeom>
          <a:solidFill>
            <a:srgbClr val="85E34D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4023360" y="2542032"/>
            <a:ext cx="3474720" cy="1883664"/>
          </a:xfrm>
          <a:prstGeom prst="rect">
            <a:avLst/>
          </a:prstGeom>
          <a:solidFill>
            <a:srgbClr val="F2834B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548640" y="4425696"/>
            <a:ext cx="3474720" cy="1883664"/>
          </a:xfrm>
          <a:prstGeom prst="rect">
            <a:avLst/>
          </a:prstGeom>
          <a:solidFill>
            <a:srgbClr val="9A93B8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023360" y="4425696"/>
            <a:ext cx="3474720" cy="1883664"/>
          </a:xfrm>
          <a:prstGeom prst="rect">
            <a:avLst/>
          </a:prstGeom>
          <a:solidFill>
            <a:srgbClr val="D1554B">
              <a:alpha val="1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658368" y="2596896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5E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133088" y="2596896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 com antecedência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58368" y="4480560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Oportunista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133088" y="4480560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155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Reavaliar / backlog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48640" y="2542032"/>
            <a:ext cx="12802" cy="3767328"/>
          </a:xfrm>
          <a:prstGeom prst="rect">
            <a:avLst/>
          </a:prstGeom>
          <a:solidFill>
            <a:srgbClr val="6B66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548640" y="6309360"/>
            <a:ext cx="6949440" cy="12802"/>
          </a:xfrm>
          <a:prstGeom prst="rect">
            <a:avLst/>
          </a:prstGeom>
          <a:solidFill>
            <a:srgbClr val="6B668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548640" y="6355080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Esforço (cama-dia) →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 rot="16200000">
            <a:off x="-1600200" y="42885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 (pts) →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21588" y="5208880"/>
            <a:ext cx="158191" cy="158191"/>
          </a:xfrm>
          <a:prstGeom prst="ellipse">
            <a:avLst/>
          </a:prstGeom>
          <a:solidFill>
            <a:srgbClr val="F2834B">
              <a:alpha val="82000"/>
            </a:srgbClr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952348" y="5090008"/>
            <a:ext cx="173736" cy="173736"/>
          </a:xfrm>
          <a:prstGeom prst="ellipse">
            <a:avLst/>
          </a:prstGeom>
          <a:solidFill>
            <a:srgbClr val="2C284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952348" y="509000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1243584" y="4043477"/>
            <a:ext cx="193853" cy="193853"/>
          </a:xfrm>
          <a:prstGeom prst="ellipse">
            <a:avLst/>
          </a:prstGeom>
          <a:solidFill>
            <a:srgbClr val="10A9FF">
              <a:alpha val="82000"/>
            </a:srgbClr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1"/>
          <p:cNvSpPr/>
          <p:nvPr/>
        </p:nvSpPr>
        <p:spPr>
          <a:xfrm>
            <a:off x="1410005" y="3924605"/>
            <a:ext cx="173736" cy="173736"/>
          </a:xfrm>
          <a:prstGeom prst="ellipse">
            <a:avLst/>
          </a:prstGeom>
          <a:solidFill>
            <a:srgbClr val="2C284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1410005" y="3924605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1639519" y="3093415"/>
            <a:ext cx="281635" cy="281635"/>
          </a:xfrm>
          <a:prstGeom prst="ellipse">
            <a:avLst/>
          </a:prstGeom>
          <a:solidFill>
            <a:srgbClr val="10A9FF">
              <a:alpha val="82000"/>
            </a:srgbClr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/>
          <p:nvPr/>
        </p:nvSpPr>
        <p:spPr>
          <a:xfrm>
            <a:off x="1639519" y="3093415"/>
            <a:ext cx="281635" cy="28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2818638" y="3364535"/>
            <a:ext cx="386791" cy="386791"/>
          </a:xfrm>
          <a:prstGeom prst="ellipse">
            <a:avLst/>
          </a:prstGeom>
          <a:solidFill>
            <a:srgbClr val="F2834B">
              <a:alpha val="82000"/>
            </a:srgbClr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6"/>
          <p:cNvSpPr/>
          <p:nvPr/>
        </p:nvSpPr>
        <p:spPr>
          <a:xfrm>
            <a:off x="2818638" y="3364535"/>
            <a:ext cx="386791" cy="386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408780" y="2435504"/>
            <a:ext cx="562356" cy="562356"/>
          </a:xfrm>
          <a:prstGeom prst="ellipse">
            <a:avLst/>
          </a:prstGeom>
          <a:solidFill>
            <a:srgbClr val="10A9FF">
              <a:alpha val="82000"/>
            </a:srgbClr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8"/>
          <p:cNvSpPr/>
          <p:nvPr/>
        </p:nvSpPr>
        <p:spPr>
          <a:xfrm>
            <a:off x="4408780" y="2435504"/>
            <a:ext cx="562356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876038" y="2802179"/>
            <a:ext cx="492862" cy="492862"/>
          </a:xfrm>
          <a:prstGeom prst="ellipse">
            <a:avLst/>
          </a:prstGeom>
          <a:solidFill>
            <a:srgbClr val="F2834B">
              <a:alpha val="82000"/>
            </a:srgbClr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Text 30"/>
          <p:cNvSpPr/>
          <p:nvPr/>
        </p:nvSpPr>
        <p:spPr>
          <a:xfrm>
            <a:off x="4876038" y="2802179"/>
            <a:ext cx="492862" cy="49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879592" y="4191610"/>
            <a:ext cx="422453" cy="422453"/>
          </a:xfrm>
          <a:prstGeom prst="ellipse">
            <a:avLst/>
          </a:prstGeom>
          <a:solidFill>
            <a:srgbClr val="10A9FF">
              <a:alpha val="82000"/>
            </a:srgbClr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2"/>
          <p:cNvSpPr/>
          <p:nvPr/>
        </p:nvSpPr>
        <p:spPr>
          <a:xfrm>
            <a:off x="5879592" y="4191610"/>
            <a:ext cx="422453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829654" y="2286000"/>
            <a:ext cx="632765" cy="632765"/>
          </a:xfrm>
          <a:prstGeom prst="ellipse">
            <a:avLst/>
          </a:prstGeom>
          <a:solidFill>
            <a:srgbClr val="F2834B">
              <a:alpha val="82000"/>
            </a:srgbClr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4"/>
          <p:cNvSpPr/>
          <p:nvPr/>
        </p:nvSpPr>
        <p:spPr>
          <a:xfrm>
            <a:off x="6829654" y="2286000"/>
            <a:ext cx="632765" cy="6327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7772400" y="2596896"/>
            <a:ext cx="201168" cy="201168"/>
          </a:xfrm>
          <a:prstGeom prst="ellipse">
            <a:avLst/>
          </a:prstGeom>
          <a:solidFill>
            <a:srgbClr val="F2834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6"/>
          <p:cNvSpPr/>
          <p:nvPr/>
        </p:nvSpPr>
        <p:spPr>
          <a:xfrm>
            <a:off x="7772400" y="25968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8065008" y="2542032"/>
            <a:ext cx="3666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3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Viabilidade (Backlog)  ·  CAPEX</a:t>
            </a:r>
            <a:endParaRPr lang="en-US" sz="930" dirty="0"/>
          </a:p>
        </p:txBody>
      </p:sp>
      <p:sp>
        <p:nvSpPr>
          <p:cNvPr id="41" name="Text 38"/>
          <p:cNvSpPr/>
          <p:nvPr/>
        </p:nvSpPr>
        <p:spPr>
          <a:xfrm>
            <a:off x="8065008" y="2779776"/>
            <a:ext cx="3666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pts · ~80 cama-dia · US$ 30k</a:t>
            </a:r>
            <a:endParaRPr lang="en-US" sz="820" dirty="0"/>
          </a:p>
        </p:txBody>
      </p:sp>
      <p:sp>
        <p:nvSpPr>
          <p:cNvPr id="42" name="Shape 39"/>
          <p:cNvSpPr/>
          <p:nvPr/>
        </p:nvSpPr>
        <p:spPr>
          <a:xfrm>
            <a:off x="7772400" y="3067812"/>
            <a:ext cx="201168" cy="201168"/>
          </a:xfrm>
          <a:prstGeom prst="ellipse">
            <a:avLst/>
          </a:prstGeom>
          <a:solidFill>
            <a:srgbClr val="10A9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40"/>
          <p:cNvSpPr/>
          <p:nvPr/>
        </p:nvSpPr>
        <p:spPr>
          <a:xfrm>
            <a:off x="7772400" y="30678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8065008" y="3012948"/>
            <a:ext cx="3666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3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Calibração de Medidores Fiscais  ·  OPEX</a:t>
            </a:r>
            <a:endParaRPr lang="en-US" sz="930" dirty="0"/>
          </a:p>
        </p:txBody>
      </p:sp>
      <p:sp>
        <p:nvSpPr>
          <p:cNvPr id="45" name="Text 42"/>
          <p:cNvSpPr/>
          <p:nvPr/>
        </p:nvSpPr>
        <p:spPr>
          <a:xfrm>
            <a:off x="8065008" y="3250692"/>
            <a:ext cx="3666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pts · ~150 cama-dia · US$ 50k</a:t>
            </a:r>
            <a:endParaRPr lang="en-US" sz="820" dirty="0"/>
          </a:p>
        </p:txBody>
      </p:sp>
      <p:sp>
        <p:nvSpPr>
          <p:cNvPr id="46" name="Shape 43"/>
          <p:cNvSpPr/>
          <p:nvPr/>
        </p:nvSpPr>
        <p:spPr>
          <a:xfrm>
            <a:off x="7772400" y="3538728"/>
            <a:ext cx="201168" cy="201168"/>
          </a:xfrm>
          <a:prstGeom prst="ellipse">
            <a:avLst/>
          </a:prstGeom>
          <a:solidFill>
            <a:srgbClr val="10A9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Text 44"/>
          <p:cNvSpPr/>
          <p:nvPr/>
        </p:nvSpPr>
        <p:spPr>
          <a:xfrm>
            <a:off x="7772400" y="35387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8065008" y="3483864"/>
            <a:ext cx="3666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3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 de Selo Mecânico  ·  OPEX</a:t>
            </a:r>
            <a:endParaRPr lang="en-US" sz="930" dirty="0"/>
          </a:p>
        </p:txBody>
      </p:sp>
      <p:sp>
        <p:nvSpPr>
          <p:cNvPr id="49" name="Text 46"/>
          <p:cNvSpPr/>
          <p:nvPr/>
        </p:nvSpPr>
        <p:spPr>
          <a:xfrm>
            <a:off x="8065008" y="3721608"/>
            <a:ext cx="3666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pts · ~230 cama-dia · US$ 175k</a:t>
            </a:r>
            <a:endParaRPr lang="en-US" sz="820" dirty="0"/>
          </a:p>
        </p:txBody>
      </p:sp>
      <p:sp>
        <p:nvSpPr>
          <p:cNvPr id="50" name="Shape 47"/>
          <p:cNvSpPr/>
          <p:nvPr/>
        </p:nvSpPr>
        <p:spPr>
          <a:xfrm>
            <a:off x="7772400" y="4009644"/>
            <a:ext cx="201168" cy="201168"/>
          </a:xfrm>
          <a:prstGeom prst="ellipse">
            <a:avLst/>
          </a:prstGeom>
          <a:solidFill>
            <a:srgbClr val="F2834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Text 48"/>
          <p:cNvSpPr/>
          <p:nvPr/>
        </p:nvSpPr>
        <p:spPr>
          <a:xfrm>
            <a:off x="7772400" y="40096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8065008" y="3954780"/>
            <a:ext cx="3666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3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 CO2 (Sustentabilidade)  ·  CAPEX</a:t>
            </a:r>
            <a:endParaRPr lang="en-US" sz="930" dirty="0"/>
          </a:p>
        </p:txBody>
      </p:sp>
      <p:sp>
        <p:nvSpPr>
          <p:cNvPr id="53" name="Text 50"/>
          <p:cNvSpPr/>
          <p:nvPr/>
        </p:nvSpPr>
        <p:spPr>
          <a:xfrm>
            <a:off x="8065008" y="4192524"/>
            <a:ext cx="3666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pts · ~420 cama-dia · US$ 600k</a:t>
            </a:r>
            <a:endParaRPr lang="en-US" sz="820" dirty="0"/>
          </a:p>
        </p:txBody>
      </p:sp>
      <p:sp>
        <p:nvSpPr>
          <p:cNvPr id="54" name="Shape 51"/>
          <p:cNvSpPr/>
          <p:nvPr/>
        </p:nvSpPr>
        <p:spPr>
          <a:xfrm>
            <a:off x="7772400" y="4480560"/>
            <a:ext cx="201168" cy="201168"/>
          </a:xfrm>
          <a:prstGeom prst="ellipse">
            <a:avLst/>
          </a:prstGeom>
          <a:solidFill>
            <a:srgbClr val="10A9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5" name="Text 52"/>
          <p:cNvSpPr/>
          <p:nvPr/>
        </p:nvSpPr>
        <p:spPr>
          <a:xfrm>
            <a:off x="7772400" y="44805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8065008" y="4425696"/>
            <a:ext cx="3666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3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de Tanques (Naval)  ·  OPEX</a:t>
            </a:r>
            <a:endParaRPr lang="en-US" sz="930" dirty="0"/>
          </a:p>
        </p:txBody>
      </p:sp>
      <p:sp>
        <p:nvSpPr>
          <p:cNvPr id="57" name="Text 54"/>
          <p:cNvSpPr/>
          <p:nvPr/>
        </p:nvSpPr>
        <p:spPr>
          <a:xfrm>
            <a:off x="8065008" y="4663440"/>
            <a:ext cx="3666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pts · ~830 cama-dia · US$ 5,9M</a:t>
            </a:r>
            <a:endParaRPr lang="en-US" sz="820" dirty="0"/>
          </a:p>
        </p:txBody>
      </p:sp>
      <p:sp>
        <p:nvSpPr>
          <p:cNvPr id="58" name="Shape 55"/>
          <p:cNvSpPr/>
          <p:nvPr/>
        </p:nvSpPr>
        <p:spPr>
          <a:xfrm>
            <a:off x="7772400" y="4951476"/>
            <a:ext cx="201168" cy="201168"/>
          </a:xfrm>
          <a:prstGeom prst="ellipse">
            <a:avLst/>
          </a:prstGeom>
          <a:solidFill>
            <a:srgbClr val="F2834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9" name="Text 56"/>
          <p:cNvSpPr/>
          <p:nvPr/>
        </p:nvSpPr>
        <p:spPr>
          <a:xfrm>
            <a:off x="7772400" y="49514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8065008" y="4896612"/>
            <a:ext cx="3666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3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Adequação Topside — Novo Poço  ·  CAPEX</a:t>
            </a:r>
            <a:endParaRPr lang="en-US" sz="930" dirty="0"/>
          </a:p>
        </p:txBody>
      </p:sp>
      <p:sp>
        <p:nvSpPr>
          <p:cNvPr id="61" name="Text 58"/>
          <p:cNvSpPr/>
          <p:nvPr/>
        </p:nvSpPr>
        <p:spPr>
          <a:xfrm>
            <a:off x="8065008" y="5134356"/>
            <a:ext cx="3666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pts · ~980 cama-dia · US$ 3,2M</a:t>
            </a:r>
            <a:endParaRPr lang="en-US" sz="820" dirty="0"/>
          </a:p>
        </p:txBody>
      </p:sp>
      <p:sp>
        <p:nvSpPr>
          <p:cNvPr id="62" name="Shape 59"/>
          <p:cNvSpPr/>
          <p:nvPr/>
        </p:nvSpPr>
        <p:spPr>
          <a:xfrm>
            <a:off x="7772400" y="5422392"/>
            <a:ext cx="201168" cy="201168"/>
          </a:xfrm>
          <a:prstGeom prst="ellipse">
            <a:avLst/>
          </a:prstGeom>
          <a:solidFill>
            <a:srgbClr val="10A9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3" name="Text 60"/>
          <p:cNvSpPr/>
          <p:nvPr/>
        </p:nvSpPr>
        <p:spPr>
          <a:xfrm>
            <a:off x="7772400" y="54223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8065008" y="5367528"/>
            <a:ext cx="3666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3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Pintura / Preservação (Integridade)  ·  OPEX</a:t>
            </a:r>
            <a:endParaRPr lang="en-US" sz="930" dirty="0"/>
          </a:p>
        </p:txBody>
      </p:sp>
      <p:sp>
        <p:nvSpPr>
          <p:cNvPr id="65" name="Text 62"/>
          <p:cNvSpPr/>
          <p:nvPr/>
        </p:nvSpPr>
        <p:spPr>
          <a:xfrm>
            <a:off x="8065008" y="5605272"/>
            <a:ext cx="3666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pts · ~1.250 cama-dia · US$ 1,1M</a:t>
            </a:r>
            <a:endParaRPr lang="en-US" sz="820" dirty="0"/>
          </a:p>
        </p:txBody>
      </p:sp>
      <p:sp>
        <p:nvSpPr>
          <p:cNvPr id="66" name="Shape 63"/>
          <p:cNvSpPr/>
          <p:nvPr/>
        </p:nvSpPr>
        <p:spPr>
          <a:xfrm>
            <a:off x="7772400" y="5893308"/>
            <a:ext cx="201168" cy="201168"/>
          </a:xfrm>
          <a:prstGeom prst="ellipse">
            <a:avLst/>
          </a:prstGeom>
          <a:solidFill>
            <a:srgbClr val="F2834B">
              <a:alpha val="82000"/>
            </a:srgbClr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7" name="Text 64"/>
          <p:cNvSpPr/>
          <p:nvPr/>
        </p:nvSpPr>
        <p:spPr>
          <a:xfrm>
            <a:off x="7772400" y="58933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68" name="Text 65"/>
          <p:cNvSpPr/>
          <p:nvPr/>
        </p:nvSpPr>
        <p:spPr>
          <a:xfrm>
            <a:off x="8065008" y="5838444"/>
            <a:ext cx="3666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93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 Programada 2027  ·  CAPEX</a:t>
            </a:r>
            <a:endParaRPr lang="en-US" sz="930" dirty="0"/>
          </a:p>
        </p:txBody>
      </p:sp>
      <p:sp>
        <p:nvSpPr>
          <p:cNvPr id="69" name="Text 66"/>
          <p:cNvSpPr/>
          <p:nvPr/>
        </p:nvSpPr>
        <p:spPr>
          <a:xfrm>
            <a:off x="8065008" y="6076188"/>
            <a:ext cx="3666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pts · ~2.600 cama-dia · US$ 8,0M</a:t>
            </a:r>
            <a:endParaRPr lang="en-US" sz="820" dirty="0"/>
          </a:p>
        </p:txBody>
      </p:sp>
      <p:sp>
        <p:nvSpPr>
          <p:cNvPr id="71" name="Text 68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2C284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/tmp/claude-0/-workspace-Planejamento/79ba2b6d-20da-5e48-9126-441c472dc123/scratchpad/prio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402336"/>
            <a:ext cx="1042416" cy="1984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05 · PRIORIZAÇÃO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65760" y="1115568"/>
            <a:ext cx="11457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</a:t>
            </a:r>
            <a:r>
              <a:rPr lang="en-US" sz="2900" b="1" dirty="0" err="1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priorização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365760" y="1700784"/>
            <a:ext cx="11457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pontos em quatro blocos, com trava automática para risco crítico de SMS ou regulatório.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65760" y="2298080"/>
            <a:ext cx="2727198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9050">
            <a:solidFill>
              <a:srgbClr val="F2834B"/>
            </a:solidFill>
            <a:prstDash val="solid"/>
          </a:ln>
          <a:effectLst>
            <a:outerShdw blurRad="76200" dist="25400" dir="5400000" algn="bl" rotWithShape="0">
              <a:srgbClr val="2C2849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512064" y="2426096"/>
            <a:ext cx="24345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12064" y="2865008"/>
            <a:ext cx="24345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pts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12064" y="3267344"/>
            <a:ext cx="2434590" cy="109728"/>
          </a:xfrm>
          <a:prstGeom prst="roundRect">
            <a:avLst>
              <a:gd name="adj" fmla="val 50000"/>
            </a:avLst>
          </a:prstGeom>
          <a:solidFill>
            <a:srgbClr val="F8F7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512064" y="3267344"/>
            <a:ext cx="2434590" cy="109728"/>
          </a:xfrm>
          <a:prstGeom prst="roundRect">
            <a:avLst>
              <a:gd name="adj" fmla="val 50000"/>
            </a:avLst>
          </a:prstGeom>
          <a:solidFill>
            <a:srgbClr val="F2834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512064" y="3468512"/>
            <a:ext cx="24345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 P1 se houver risco de fatalidade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75838" y="2298080"/>
            <a:ext cx="2727198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9050">
            <a:solidFill>
              <a:srgbClr val="F2834B"/>
            </a:solidFill>
            <a:prstDash val="solid"/>
          </a:ln>
          <a:effectLst>
            <a:outerShdw blurRad="76200" dist="25400" dir="5400000" algn="bl" rotWithShape="0">
              <a:srgbClr val="2C2849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3422142" y="2426096"/>
            <a:ext cx="24345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Regulatório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422142" y="2865008"/>
            <a:ext cx="24345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pts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3422142" y="3267344"/>
            <a:ext cx="2434590" cy="109728"/>
          </a:xfrm>
          <a:prstGeom prst="roundRect">
            <a:avLst>
              <a:gd name="adj" fmla="val 50000"/>
            </a:avLst>
          </a:prstGeom>
          <a:solidFill>
            <a:srgbClr val="F8F7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7"/>
          <p:cNvSpPr/>
          <p:nvPr/>
        </p:nvSpPr>
        <p:spPr>
          <a:xfrm>
            <a:off x="3422142" y="3267344"/>
            <a:ext cx="2020710" cy="109728"/>
          </a:xfrm>
          <a:prstGeom prst="roundRect">
            <a:avLst>
              <a:gd name="adj" fmla="val 50000"/>
            </a:avLst>
          </a:prstGeom>
          <a:solidFill>
            <a:srgbClr val="F2834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3422142" y="3468512"/>
            <a:ext cx="24345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 P1 se houver embargo / interdição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185916" y="2298080"/>
            <a:ext cx="2727198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1DDEC"/>
            </a:solidFill>
            <a:prstDash val="solid"/>
          </a:ln>
          <a:effectLst>
            <a:outerShdw blurRad="76200" dist="25400" dir="5400000" algn="bl" rotWithShape="0">
              <a:srgbClr val="2C2849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6332220" y="2426096"/>
            <a:ext cx="24345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 &amp; Patrimônio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332220" y="2865008"/>
            <a:ext cx="24345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pts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6332220" y="3267344"/>
            <a:ext cx="2434590" cy="109728"/>
          </a:xfrm>
          <a:prstGeom prst="roundRect">
            <a:avLst>
              <a:gd name="adj" fmla="val 50000"/>
            </a:avLst>
          </a:prstGeom>
          <a:solidFill>
            <a:srgbClr val="F8F7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3"/>
          <p:cNvSpPr/>
          <p:nvPr/>
        </p:nvSpPr>
        <p:spPr>
          <a:xfrm>
            <a:off x="6332220" y="3267344"/>
            <a:ext cx="1631175" cy="109728"/>
          </a:xfrm>
          <a:prstGeom prst="roundRect">
            <a:avLst>
              <a:gd name="adj" fmla="val 50000"/>
            </a:avLst>
          </a:prstGeom>
          <a:solidFill>
            <a:srgbClr val="F2834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4"/>
          <p:cNvSpPr/>
          <p:nvPr/>
        </p:nvSpPr>
        <p:spPr>
          <a:xfrm>
            <a:off x="9095994" y="2298080"/>
            <a:ext cx="2727198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1DDEC"/>
            </a:solidFill>
            <a:prstDash val="solid"/>
          </a:ln>
          <a:effectLst>
            <a:outerShdw blurRad="76200" dist="25400" dir="5400000" algn="bl" rotWithShape="0">
              <a:srgbClr val="2C2849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9242298" y="2426096"/>
            <a:ext cx="24345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de Óleo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242298" y="2865008"/>
            <a:ext cx="24345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pts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9242298" y="3267344"/>
            <a:ext cx="2434590" cy="109728"/>
          </a:xfrm>
          <a:prstGeom prst="roundRect">
            <a:avLst>
              <a:gd name="adj" fmla="val 50000"/>
            </a:avLst>
          </a:prstGeom>
          <a:solidFill>
            <a:srgbClr val="F8F7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8"/>
          <p:cNvSpPr/>
          <p:nvPr/>
        </p:nvSpPr>
        <p:spPr>
          <a:xfrm>
            <a:off x="9242298" y="3267344"/>
            <a:ext cx="2020710" cy="109728"/>
          </a:xfrm>
          <a:prstGeom prst="roundRect">
            <a:avLst>
              <a:gd name="adj" fmla="val 50000"/>
            </a:avLst>
          </a:prstGeom>
          <a:solidFill>
            <a:srgbClr val="F2834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29"/>
          <p:cNvSpPr/>
          <p:nvPr/>
        </p:nvSpPr>
        <p:spPr>
          <a:xfrm>
            <a:off x="9242298" y="3468512"/>
            <a:ext cx="24345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computa após validação da GP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365760" y="4172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final (por frente de trabalho, proposta):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365760" y="4538360"/>
            <a:ext cx="2933395" cy="384048"/>
          </a:xfrm>
          <a:prstGeom prst="roundRect">
            <a:avLst>
              <a:gd name="adj" fmla="val 50000"/>
            </a:avLst>
          </a:prstGeom>
          <a:solidFill>
            <a:srgbClr val="D1554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2"/>
          <p:cNvSpPr/>
          <p:nvPr/>
        </p:nvSpPr>
        <p:spPr>
          <a:xfrm>
            <a:off x="365760" y="4538360"/>
            <a:ext cx="29333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Crítica · ≥ 85 pts ou trava acionada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3482035" y="4538360"/>
            <a:ext cx="1353312" cy="384048"/>
          </a:xfrm>
          <a:prstGeom prst="roundRect">
            <a:avLst>
              <a:gd name="adj" fmla="val 50000"/>
            </a:avLst>
          </a:prstGeom>
          <a:solidFill>
            <a:srgbClr val="F2834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4"/>
          <p:cNvSpPr/>
          <p:nvPr/>
        </p:nvSpPr>
        <p:spPr>
          <a:xfrm>
            <a:off x="3482035" y="453836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Alta · 70–84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5018227" y="4538360"/>
            <a:ext cx="1419149" cy="384048"/>
          </a:xfrm>
          <a:prstGeom prst="roundRect">
            <a:avLst>
              <a:gd name="adj" fmla="val 50000"/>
            </a:avLst>
          </a:prstGeom>
          <a:solidFill>
            <a:srgbClr val="10A9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6"/>
          <p:cNvSpPr/>
          <p:nvPr/>
        </p:nvSpPr>
        <p:spPr>
          <a:xfrm>
            <a:off x="5018227" y="4538360"/>
            <a:ext cx="141914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Média · 50–69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6620256" y="4538360"/>
            <a:ext cx="1353312" cy="384048"/>
          </a:xfrm>
          <a:prstGeom prst="roundRect">
            <a:avLst>
              <a:gd name="adj" fmla="val 50000"/>
            </a:avLst>
          </a:prstGeom>
          <a:solidFill>
            <a:srgbClr val="9A93B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Text 38"/>
          <p:cNvSpPr/>
          <p:nvPr/>
        </p:nvSpPr>
        <p:spPr>
          <a:xfrm>
            <a:off x="6620256" y="453836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Baixa · &lt; 50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92608"/>
            <a:ext cx="1371600" cy="384048"/>
          </a:xfrm>
          <a:prstGeom prst="roundRect">
            <a:avLst>
              <a:gd name="adj" fmla="val 20000"/>
            </a:avLst>
          </a:prstGeom>
          <a:solidFill>
            <a:srgbClr val="2C28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02336"/>
            <a:ext cx="1042415" cy="1984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8412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834B"/>
                </a:solidFill>
                <a:latin typeface="Calibri"/>
              </a:rPr>
              <a:t>SEÇÃO 04 · O QUE ESTÁ POR TRÁS DA NOTA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15568"/>
            <a:ext cx="114574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C2849"/>
                </a:solidFill>
                <a:latin typeface="Calibri"/>
              </a:rPr>
              <a:t>Critérios que compõem a pontuação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00784"/>
            <a:ext cx="11457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682"/>
                </a:solidFill>
                <a:latin typeface="Calibri"/>
              </a:rPr>
              <a:t>Regras oficiais da Matriz de Priorização STAR: pesos, travas, critérios de cada bloco e fórmula final.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240280"/>
            <a:ext cx="11457432" cy="566928"/>
          </a:xfrm>
          <a:prstGeom prst="roundRect">
            <a:avLst>
              <a:gd name="adj" fmla="val 4000"/>
            </a:avLst>
          </a:prstGeom>
          <a:solidFill>
            <a:srgbClr val="FBEFE8"/>
          </a:solidFill>
          <a:ln w="9525">
            <a:solidFill>
              <a:srgbClr val="F28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350008"/>
            <a:ext cx="1105509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b="1" sz="1050">
                <a:solidFill>
                  <a:srgbClr val="2C2849"/>
                </a:solidFill>
                <a:latin typeface="Calibri"/>
              </a:rPr>
              <a:t>Travas automáticas — não dependem da nota total. </a:t>
            </a:r>
            <a:r>
              <a:rPr sz="1050">
                <a:solidFill>
                  <a:srgbClr val="6B6682"/>
                </a:solidFill>
                <a:latin typeface="Calibri"/>
              </a:rPr>
              <a:t>Quando qualquer condição abaixo é selecionada, o projeto é elevado para P1 — Crítica, independente da pontuação.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999232"/>
            <a:ext cx="5637276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DD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145536"/>
            <a:ext cx="52715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C2849"/>
                </a:solidFill>
                <a:latin typeface="Calibri"/>
              </a:rPr>
              <a:t>Trava de Segurança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74720"/>
            <a:ext cx="527151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6682"/>
                </a:solidFill>
                <a:latin typeface="Calibri"/>
              </a:rPr>
              <a:t>Fatalidade, explosão, incêndio, H2S ou grande acidente (10 pts no campo) · Barreira crítica indisponível ou degradada (8 pts no campo)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5916" y="2999232"/>
            <a:ext cx="5637276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DD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8796" y="3145536"/>
            <a:ext cx="52715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C2849"/>
                </a:solidFill>
                <a:latin typeface="Calibri"/>
              </a:rPr>
              <a:t>Trava Regulatória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8796" y="3474720"/>
            <a:ext cx="527151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B6682"/>
                </a:solidFill>
                <a:latin typeface="Calibri"/>
              </a:rPr>
              <a:t>Prazo regulatório vencido (7 pts no campo) · Embargo, interdição ou perda de licença (7 pts no campo)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709160"/>
            <a:ext cx="11457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C2849"/>
                </a:solidFill>
                <a:latin typeface="Calibri"/>
              </a:rPr>
              <a:t>Os 4 blocos da matriz — 100 pontos no total: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5074920"/>
            <a:ext cx="2727198" cy="1051560"/>
          </a:xfrm>
          <a:prstGeom prst="roundRect">
            <a:avLst>
              <a:gd name="adj" fmla="val 6000"/>
            </a:avLst>
          </a:prstGeom>
          <a:solidFill>
            <a:srgbClr val="F8F7F6"/>
          </a:solidFill>
          <a:ln w="12700">
            <a:solidFill>
              <a:srgbClr val="E1DD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5212080"/>
            <a:ext cx="239801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2C2849"/>
                </a:solidFill>
                <a:latin typeface="Calibri"/>
              </a:rPr>
              <a:t>Segurança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5779008"/>
            <a:ext cx="23980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2834B"/>
                </a:solidFill>
                <a:latin typeface="Calibri"/>
              </a:rPr>
              <a:t>30 pts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75838" y="5074920"/>
            <a:ext cx="2727198" cy="1051560"/>
          </a:xfrm>
          <a:prstGeom prst="roundRect">
            <a:avLst>
              <a:gd name="adj" fmla="val 6000"/>
            </a:avLst>
          </a:prstGeom>
          <a:solidFill>
            <a:srgbClr val="F8F7F6"/>
          </a:solidFill>
          <a:ln w="12700">
            <a:solidFill>
              <a:srgbClr val="E1DD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40430" y="5212080"/>
            <a:ext cx="239801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2C2849"/>
                </a:solidFill>
                <a:latin typeface="Calibri"/>
              </a:rPr>
              <a:t>Regulatório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40430" y="5779008"/>
            <a:ext cx="23980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2834B"/>
                </a:solidFill>
                <a:latin typeface="Calibri"/>
              </a:rPr>
              <a:t>25 pts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5916" y="5074920"/>
            <a:ext cx="2727198" cy="1051560"/>
          </a:xfrm>
          <a:prstGeom prst="roundRect">
            <a:avLst>
              <a:gd name="adj" fmla="val 6000"/>
            </a:avLst>
          </a:prstGeom>
          <a:solidFill>
            <a:srgbClr val="F8F7F6"/>
          </a:solidFill>
          <a:ln w="12700">
            <a:solidFill>
              <a:srgbClr val="E1DD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0508" y="5212080"/>
            <a:ext cx="239801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2C2849"/>
                </a:solidFill>
                <a:latin typeface="Calibri"/>
              </a:rPr>
              <a:t>Financeiro &amp; Patrimônio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0508" y="5779008"/>
            <a:ext cx="23980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2834B"/>
                </a:solidFill>
                <a:latin typeface="Calibri"/>
              </a:rPr>
              <a:t>20 pts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5994" y="5074920"/>
            <a:ext cx="2727198" cy="1051560"/>
          </a:xfrm>
          <a:prstGeom prst="roundRect">
            <a:avLst>
              <a:gd name="adj" fmla="val 6000"/>
            </a:avLst>
          </a:prstGeom>
          <a:solidFill>
            <a:srgbClr val="F8F7F6"/>
          </a:solidFill>
          <a:ln w="12700">
            <a:solidFill>
              <a:srgbClr val="E1DD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60586" y="5212080"/>
            <a:ext cx="239801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2C2849"/>
                </a:solidFill>
                <a:latin typeface="Calibri"/>
              </a:rPr>
              <a:t>Produção de Óleo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0586" y="5779008"/>
            <a:ext cx="23980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2834B"/>
                </a:solidFill>
                <a:latin typeface="Calibri"/>
              </a:rPr>
              <a:t>25 pts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668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92608"/>
            <a:ext cx="1371600" cy="384048"/>
          </a:xfrm>
          <a:prstGeom prst="roundRect">
            <a:avLst>
              <a:gd name="adj" fmla="val 20000"/>
            </a:avLst>
          </a:prstGeom>
          <a:solidFill>
            <a:srgbClr val="2C28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02336"/>
            <a:ext cx="1042415" cy="1984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8412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834B"/>
                </a:solidFill>
                <a:latin typeface="Calibri"/>
              </a:rPr>
              <a:t>SEÇÃO 04 · O QUE ESTÁ POR TRÁS DA NOTA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15568"/>
            <a:ext cx="114574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C2849"/>
                </a:solidFill>
                <a:latin typeface="Calibri"/>
              </a:rPr>
              <a:t>1 · Segurança — 30 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00784"/>
            <a:ext cx="11457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682"/>
                </a:solidFill>
                <a:latin typeface="Calibri"/>
              </a:rPr>
              <a:t>Soma simples dos 5 critérios abaixo, limitada a 30 pontos.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2331720"/>
          <a:ext cx="1145743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7772400"/>
                <a:gridCol w="1399032"/>
              </a:tblGrid>
              <a:tr h="457200"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76200" marR="76200" marT="25400" marB="25400" anchor="ctr"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Opções</a:t>
                      </a:r>
                    </a:p>
                  </a:txBody>
                  <a:tcPr marL="76200" marR="76200" marT="25400" marB="25400" anchor="ctr"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Pontos</a:t>
                      </a:r>
                    </a:p>
                  </a:txBody>
                  <a:tcPr marL="76200" marR="76200" marT="25400" marB="25400" anchor="ctr">
                    <a:solidFill>
                      <a:srgbClr val="9787D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Severidade do pior cenário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Sem impacto de SMS · lesão leve · lesão grave · fatalidade/grande acidente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0 · 3 · 6 · 10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Barreira crítica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Não se aplica · barreira crítica degradada · barreira crítica indisponível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0 · 4 · 8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Histórico de incidente ou recorrência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Sem registro · desvio isolado · ocorrência em outro equipamento do mesmo TAG · incidente com ação aberta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0 · 2 · 4 · 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Abrangência da exposição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Pontual · equipe pequena · módulo/turno/operação recorrente · unidade inteira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0 · 1 · 3 · 4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Urgência da mitigação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Ciclo normal · até 180 dias · até 90 dias · imediato/próxima janela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0 · 1 · 2 · 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668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92608"/>
            <a:ext cx="1371600" cy="384048"/>
          </a:xfrm>
          <a:prstGeom prst="roundRect">
            <a:avLst>
              <a:gd name="adj" fmla="val 20000"/>
            </a:avLst>
          </a:prstGeom>
          <a:solidFill>
            <a:srgbClr val="2C28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02336"/>
            <a:ext cx="1042415" cy="1984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8412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834B"/>
                </a:solidFill>
                <a:latin typeface="Calibri"/>
              </a:rPr>
              <a:t>SEÇÃO 04 · O QUE ESTÁ POR TRÁS DA NOTA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15568"/>
            <a:ext cx="114574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C2849"/>
                </a:solidFill>
                <a:latin typeface="Calibri"/>
              </a:rPr>
              <a:t>2 · Regulatório — 25 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00784"/>
            <a:ext cx="11457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682"/>
                </a:solidFill>
                <a:latin typeface="Calibri"/>
              </a:rPr>
              <a:t>Soma simples dos 5 critérios abaixo, limitada a 25 pontos.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2331720"/>
          <a:ext cx="1145743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7772400"/>
                <a:gridCol w="1399032"/>
              </a:tblGrid>
              <a:tr h="457200"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76200" marR="76200" marT="25400" marB="25400" anchor="ctr"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Opções</a:t>
                      </a:r>
                    </a:p>
                  </a:txBody>
                  <a:tcPr marL="76200" marR="76200" marT="25400" marB="25400" anchor="ctr"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Pontos</a:t>
                      </a:r>
                    </a:p>
                  </a:txBody>
                  <a:tcPr marL="76200" marR="76200" marT="25400" marB="25400" anchor="ctr">
                    <a:solidFill>
                      <a:srgbClr val="9787D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Obrigação legal ou normativa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Sem obrigação · recomendação interna · requisito aplicável · obrigação formal externa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0 · 2 · 4 · 6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Prazo regulatório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Sem prazo · acima de 90 dias · 31 a 90 dias · até 30 dias · vencido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0 · 2 · 4 · 6 · 7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Consequência do não atendimento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Baixo impacto · retrabalho · não conformidade · multa/restrição · embargo/interdição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0 · 2 · 4 · 6 · 7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Evidência formal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Não · registro interno · evidência interna validada · evidência externa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0 · 1 · 2 · 3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Abrangência regulatória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Pontual · unidade específica · múltiplas unidades/processo corporativo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0 · 1 · 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668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92608"/>
            <a:ext cx="1371600" cy="384048"/>
          </a:xfrm>
          <a:prstGeom prst="roundRect">
            <a:avLst>
              <a:gd name="adj" fmla="val 20000"/>
            </a:avLst>
          </a:prstGeom>
          <a:solidFill>
            <a:srgbClr val="2C28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02336"/>
            <a:ext cx="1042415" cy="1984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8412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834B"/>
                </a:solidFill>
                <a:latin typeface="Calibri"/>
              </a:rPr>
              <a:t>SEÇÃO 04 · O QUE ESTÁ POR TRÁS DA NOTA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15568"/>
            <a:ext cx="114574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C2849"/>
                </a:solidFill>
                <a:latin typeface="Calibri"/>
              </a:rPr>
              <a:t>3 · Financeiro &amp; Patrimônio — 20 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00784"/>
            <a:ext cx="11457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682"/>
                </a:solidFill>
                <a:latin typeface="Calibri"/>
              </a:rPr>
              <a:t>O bloco tem duas avaliações internas — a nota final é a maior entre as duas, não a soma.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121408"/>
            <a:ext cx="114574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C2849"/>
                </a:solidFill>
                <a:latin typeface="Calibri"/>
              </a:rPr>
              <a:t>3.1 Avaliação Financeira Econômica — soma até 20 pts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340864"/>
          <a:ext cx="1145743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7040880"/>
                <a:gridCol w="1399032"/>
              </a:tblGrid>
              <a:tr h="310896">
                <a:tc>
                  <a:txBody>
                    <a:bodyPr/>
                    <a:lstStyle/>
                    <a:p>
                      <a:r>
                        <a:rPr b="1" sz="850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76200" marR="76200" marT="25400" marB="25400" anchor="ctr"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50">
                          <a:solidFill>
                            <a:srgbClr val="FFFFFF"/>
                          </a:solidFill>
                          <a:latin typeface="Calibri"/>
                        </a:rPr>
                        <a:t>Regra</a:t>
                      </a:r>
                    </a:p>
                  </a:txBody>
                  <a:tcPr marL="76200" marR="76200" marT="25400" marB="25400" anchor="ctr"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50">
                          <a:solidFill>
                            <a:srgbClr val="FFFFFF"/>
                          </a:solidFill>
                          <a:latin typeface="Calibri"/>
                        </a:rPr>
                        <a:t>Pontos</a:t>
                      </a:r>
                    </a:p>
                  </a:txBody>
                  <a:tcPr marL="76200" marR="76200" marT="25400" marB="25400" anchor="ctr">
                    <a:solidFill>
                      <a:srgbClr val="9787D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6B6682"/>
                          </a:solidFill>
                          <a:latin typeface="Calibri"/>
                        </a:rPr>
                        <a:t>Relação benefício/custo (até 8)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6B6682"/>
                          </a:solidFill>
                          <a:latin typeface="Calibri"/>
                        </a:rPr>
                        <a:t>≥ 10x · ≥ 5x · ≥ 2x · ≥ 1x · &lt; 1x ou sem dados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6B6682"/>
                          </a:solidFill>
                          <a:latin typeface="Calibri"/>
                        </a:rPr>
                        <a:t>8 · 6 · 4 · 2 · 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6B6682"/>
                          </a:solidFill>
                          <a:latin typeface="Calibri"/>
                        </a:rPr>
                        <a:t>Custo de não fazer / custo do projeto (até 5)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6B6682"/>
                          </a:solidFill>
                          <a:latin typeface="Calibri"/>
                        </a:rPr>
                        <a:t>≥ 3x · ≥ 1,5x · ≥ 1x · ≥ 0,5x · &gt; 0 e &lt; 0,5x · sem dados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6B6682"/>
                          </a:solidFill>
                          <a:latin typeface="Calibri"/>
                        </a:rPr>
                        <a:t>5 · 4 · 3 · 2 · 1 · 0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6B6682"/>
                          </a:solidFill>
                          <a:latin typeface="Calibri"/>
                        </a:rPr>
                        <a:t>Tempo de captura do valor (até 3)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6B6682"/>
                          </a:solidFill>
                          <a:latin typeface="Calibri"/>
                        </a:rPr>
                        <a:t>Acima de 24 meses/indefinido · 12 a 24 meses · 6 a 12 meses · até 6 meses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6B6682"/>
                          </a:solidFill>
                          <a:latin typeface="Calibri"/>
                        </a:rPr>
                        <a:t>0 · 1 · 2 · 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6B6682"/>
                          </a:solidFill>
                          <a:latin typeface="Calibri"/>
                        </a:rPr>
                        <a:t>Maturidade da estimativa (até 4)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6B6682"/>
                          </a:solidFill>
                          <a:latin typeface="Calibri"/>
                        </a:rPr>
                        <a:t>Conceitual · orçamento preliminar · cotação/contrato/estimativa validada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6B6682"/>
                          </a:solidFill>
                          <a:latin typeface="Calibri"/>
                        </a:rPr>
                        <a:t>0 · 2 · 4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4041648"/>
            <a:ext cx="114574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C2849"/>
                </a:solidFill>
                <a:latin typeface="Calibri"/>
              </a:rPr>
              <a:t>3.2 Avaliação de Patrimônio/Integridade — bruta até 25 pts, convertida como bruta × 20 / 25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4261104"/>
          <a:ext cx="11457432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7040880"/>
                <a:gridCol w="1399032"/>
              </a:tblGrid>
              <a:tr h="310896">
                <a:tc>
                  <a:txBody>
                    <a:bodyPr/>
                    <a:lstStyle/>
                    <a:p>
                      <a:r>
                        <a:rPr b="1" sz="850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76200" marR="76200" marT="25400" marB="25400" anchor="ctr"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50">
                          <a:solidFill>
                            <a:srgbClr val="FFFFFF"/>
                          </a:solidFill>
                          <a:latin typeface="Calibri"/>
                        </a:rPr>
                        <a:t>Opções</a:t>
                      </a:r>
                    </a:p>
                  </a:txBody>
                  <a:tcPr marL="76200" marR="76200" marT="25400" marB="25400" anchor="ctr"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50">
                          <a:solidFill>
                            <a:srgbClr val="FFFFFF"/>
                          </a:solidFill>
                          <a:latin typeface="Calibri"/>
                        </a:rPr>
                        <a:t>Pontos</a:t>
                      </a:r>
                    </a:p>
                  </a:txBody>
                  <a:tcPr marL="76200" marR="76200" marT="25400" marB="25400" anchor="ctr">
                    <a:solidFill>
                      <a:srgbClr val="9787D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6B6682"/>
                          </a:solidFill>
                          <a:latin typeface="Calibri"/>
                        </a:rPr>
                        <a:t>Comprometimento de ativo crítico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6B6682"/>
                          </a:solidFill>
                          <a:latin typeface="Calibri"/>
                        </a:rPr>
                        <a:t>Não compromete · ativo auxiliar · ativo relevante · ativo crítico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6B6682"/>
                          </a:solidFill>
                          <a:latin typeface="Calibri"/>
                        </a:rPr>
                        <a:t>0 · 2 · 5 · 8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6B6682"/>
                          </a:solidFill>
                          <a:latin typeface="Calibri"/>
                        </a:rPr>
                        <a:t>Degradação evidenciada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6B6682"/>
                          </a:solidFill>
                          <a:latin typeface="Calibri"/>
                        </a:rPr>
                        <a:t>Sem evidência · suspeita técnica · evidência registrada · degradação confirmada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6B6682"/>
                          </a:solidFill>
                          <a:latin typeface="Calibri"/>
                        </a:rPr>
                        <a:t>0 · 2 · 4 · 6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6B6682"/>
                          </a:solidFill>
                          <a:latin typeface="Calibri"/>
                        </a:rPr>
                        <a:t>Redundância do sistema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6B6682"/>
                          </a:solidFill>
                          <a:latin typeface="Calibri"/>
                        </a:rPr>
                        <a:t>Redundância plena · parcial · limitada · sem redundância/caminho crítico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6B6682"/>
                          </a:solidFill>
                          <a:latin typeface="Calibri"/>
                        </a:rPr>
                        <a:t>0 · 2 · 3 · 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6B6682"/>
                          </a:solidFill>
                          <a:latin typeface="Calibri"/>
                        </a:rPr>
                        <a:t>Janela rara ou parada maior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6B6682"/>
                          </a:solidFill>
                          <a:latin typeface="Calibri"/>
                        </a:rPr>
                        <a:t>Não · baixa vantagem · janela relevante · janela crítica/rara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6B6682"/>
                          </a:solidFill>
                          <a:latin typeface="Calibri"/>
                        </a:rPr>
                        <a:t>0 · 1 · 2 · 3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6B6682"/>
                          </a:solidFill>
                          <a:latin typeface="Calibri"/>
                        </a:rPr>
                        <a:t>Risco de manutenção emergencial futura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6B6682"/>
                          </a:solidFill>
                          <a:latin typeface="Calibri"/>
                        </a:rPr>
                        <a:t>Não reduz · redução baixa · moderada · alta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6B6682"/>
                          </a:solidFill>
                          <a:latin typeface="Calibri"/>
                        </a:rPr>
                        <a:t>0 · 1 · 2 · 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668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92608"/>
            <a:ext cx="1371600" cy="384048"/>
          </a:xfrm>
          <a:prstGeom prst="roundRect">
            <a:avLst>
              <a:gd name="adj" fmla="val 20000"/>
            </a:avLst>
          </a:prstGeom>
          <a:solidFill>
            <a:srgbClr val="2C28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02336"/>
            <a:ext cx="1042415" cy="1984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8412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834B"/>
                </a:solidFill>
                <a:latin typeface="Calibri"/>
              </a:rPr>
              <a:t>SEÇÃO 04 · O QUE ESTÁ POR TRÁS DA NOTA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15568"/>
            <a:ext cx="114574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2C2849"/>
                </a:solidFill>
                <a:latin typeface="Calibri"/>
              </a:rPr>
              <a:t>4 · Produção de Óleo — GP — 25 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00784"/>
            <a:ext cx="11457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682"/>
                </a:solidFill>
                <a:latin typeface="Calibri"/>
              </a:rPr>
              <a:t>Só entra no total quando o escopo influencia diretamente a produção e o status da GP está “Validada - computada”; nos demais status, entra como 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12848"/>
            <a:ext cx="5577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C2849"/>
                </a:solidFill>
                <a:latin typeface="Calibri"/>
              </a:rPr>
              <a:t>4.1 Relevância da Perda do Sistema — até 15 pts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432304"/>
          <a:ext cx="5577839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737359"/>
              </a:tblGrid>
              <a:tr h="259080"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Participação do sistema no total de perdas</a:t>
                      </a:r>
                    </a:p>
                  </a:txBody>
                  <a:tcPr marL="76200" marR="76200" marT="25400" marB="25400" anchor="ctr"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Pontos</a:t>
                      </a:r>
                    </a:p>
                  </a:txBody>
                  <a:tcPr marL="76200" marR="76200" marT="25400" marB="25400" anchor="ctr">
                    <a:solidFill>
                      <a:srgbClr val="9787D4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≥ 25%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≥ 15% e &lt; 25%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≥ 8% e &lt; 15%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≥ 3% e &lt; 8%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&lt; 3%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45352" y="2212848"/>
            <a:ext cx="5577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C2849"/>
                </a:solidFill>
                <a:latin typeface="Calibri"/>
              </a:rPr>
              <a:t>4.2 Benefício/Custo — até 10 pts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45352" y="2432304"/>
          <a:ext cx="5577839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1737359"/>
              </a:tblGrid>
              <a:tr h="259080"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Relação benefício/custo</a:t>
                      </a:r>
                    </a:p>
                  </a:txBody>
                  <a:tcPr marL="76200" marR="76200" marT="25400" marB="25400" anchor="ctr"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Pontos</a:t>
                      </a:r>
                    </a:p>
                  </a:txBody>
                  <a:tcPr marL="76200" marR="76200" marT="25400" marB="25400" anchor="ctr">
                    <a:solidFill>
                      <a:srgbClr val="9787D4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≥ 20x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≥ 10x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≥ 5x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≥ 1x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&lt; 1x ou sem custo informado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65760" y="4224528"/>
            <a:ext cx="11457432" cy="960120"/>
          </a:xfrm>
          <a:prstGeom prst="roundRect">
            <a:avLst>
              <a:gd name="adj" fmla="val 4000"/>
            </a:avLst>
          </a:prstGeom>
          <a:solidFill>
            <a:srgbClr val="FBEFE8"/>
          </a:solidFill>
          <a:ln w="9525">
            <a:solidFill>
              <a:srgbClr val="F28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334256"/>
            <a:ext cx="11055096" cy="740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b="1" sz="1050">
                <a:solidFill>
                  <a:srgbClr val="2C2849"/>
                </a:solidFill>
                <a:latin typeface="Calibri"/>
              </a:rPr>
              <a:t>Campo informativo e regras de consistência da GP (não pontuam). </a:t>
            </a:r>
            <a:r>
              <a:rPr sz="1050">
                <a:solidFill>
                  <a:srgbClr val="6B6682"/>
                </a:solidFill>
                <a:latin typeface="Calibri"/>
              </a:rPr>
              <a:t>Benefício em US$ = perda evitada em bbl × 75; relação = benefício ÷ custo do projeto. Se a perda evitada for maior que a perda projetada do sistema, a ferramenta alerta para revisão de premissas. “Esse escopo é originador de incremento de produção?” é informativo e não altera a pontuação.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6682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92608"/>
            <a:ext cx="1371600" cy="384048"/>
          </a:xfrm>
          <a:prstGeom prst="roundRect">
            <a:avLst>
              <a:gd name="adj" fmla="val 20000"/>
            </a:avLst>
          </a:prstGeom>
          <a:solidFill>
            <a:srgbClr val="2C28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02336"/>
            <a:ext cx="1042415" cy="1984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8412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834B"/>
                </a:solidFill>
                <a:latin typeface="Calibri"/>
              </a:rPr>
              <a:t>SEÇÃO 04 · O QUE ESTÁ POR TRÁS DA NOTA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15568"/>
            <a:ext cx="114574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C2849"/>
                </a:solidFill>
                <a:latin typeface="Calibri"/>
              </a:rPr>
              <a:t>Fórmula final e critério de desempate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00784"/>
            <a:ext cx="11457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6682"/>
                </a:solidFill>
                <a:latin typeface="Calibri"/>
              </a:rPr>
              <a:t>Como os 4 blocos se somam e como resolver pontuações próximas entre frentes.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286000"/>
            <a:ext cx="11457432" cy="777240"/>
          </a:xfrm>
          <a:prstGeom prst="roundRect">
            <a:avLst>
              <a:gd name="adj" fmla="val 4000"/>
            </a:avLst>
          </a:prstGeom>
          <a:solidFill>
            <a:srgbClr val="FBEFE8"/>
          </a:solidFill>
          <a:ln w="9525">
            <a:solidFill>
              <a:srgbClr val="F28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395728"/>
            <a:ext cx="11055096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b="1" sz="1050">
                <a:solidFill>
                  <a:srgbClr val="2C2849"/>
                </a:solidFill>
                <a:latin typeface="Calibri"/>
              </a:rPr>
              <a:t>Fórmula final. Nota final = </a:t>
            </a:r>
            <a:r>
              <a:rPr sz="1050">
                <a:solidFill>
                  <a:srgbClr val="6B6682"/>
                </a:solidFill>
                <a:latin typeface="Calibri"/>
              </a:rPr>
              <a:t>Segurança + Regulatório + Financeiro e Patrimônio + Produção de Óleo (GP validada) — máximo de 100 pontos.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246120"/>
            <a:ext cx="2727198" cy="868680"/>
          </a:xfrm>
          <a:prstGeom prst="roundRect">
            <a:avLst>
              <a:gd name="adj" fmla="val 8000"/>
            </a:avLst>
          </a:prstGeom>
          <a:solidFill>
            <a:srgbClr val="F8F7F6"/>
          </a:solidFill>
          <a:ln w="12700">
            <a:solidFill>
              <a:srgbClr val="E1DD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3346704"/>
            <a:ext cx="243459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2834B"/>
                </a:solidFill>
                <a:latin typeface="Calibri"/>
              </a:rPr>
              <a:t>P1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3675887"/>
            <a:ext cx="243459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30" b="0" i="0">
                <a:solidFill>
                  <a:srgbClr val="6B6682"/>
                </a:solidFill>
                <a:latin typeface="Calibri"/>
              </a:rPr>
              <a:t>Crítica · ≥ 85 pts ou trava acionada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75838" y="3246120"/>
            <a:ext cx="2727198" cy="868680"/>
          </a:xfrm>
          <a:prstGeom prst="roundRect">
            <a:avLst>
              <a:gd name="adj" fmla="val 8000"/>
            </a:avLst>
          </a:prstGeom>
          <a:solidFill>
            <a:srgbClr val="F8F7F6"/>
          </a:solidFill>
          <a:ln w="12700">
            <a:solidFill>
              <a:srgbClr val="E1DD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2142" y="3346704"/>
            <a:ext cx="243459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2834B"/>
                </a:solidFill>
                <a:latin typeface="Calibri"/>
              </a:rPr>
              <a:t>P2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2142" y="3675887"/>
            <a:ext cx="243459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30" b="0" i="0">
                <a:solidFill>
                  <a:srgbClr val="6B6682"/>
                </a:solidFill>
                <a:latin typeface="Calibri"/>
              </a:rPr>
              <a:t>Alta · 70–84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5916" y="3246120"/>
            <a:ext cx="2727198" cy="868680"/>
          </a:xfrm>
          <a:prstGeom prst="roundRect">
            <a:avLst>
              <a:gd name="adj" fmla="val 8000"/>
            </a:avLst>
          </a:prstGeom>
          <a:solidFill>
            <a:srgbClr val="F8F7F6"/>
          </a:solidFill>
          <a:ln w="12700">
            <a:solidFill>
              <a:srgbClr val="E1DD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2220" y="3346704"/>
            <a:ext cx="243459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2834B"/>
                </a:solidFill>
                <a:latin typeface="Calibri"/>
              </a:rPr>
              <a:t>P3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2220" y="3675887"/>
            <a:ext cx="243459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30" b="0" i="0">
                <a:solidFill>
                  <a:srgbClr val="6B6682"/>
                </a:solidFill>
                <a:latin typeface="Calibri"/>
              </a:rPr>
              <a:t>Média · 50–69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5994" y="3246120"/>
            <a:ext cx="2727198" cy="868680"/>
          </a:xfrm>
          <a:prstGeom prst="roundRect">
            <a:avLst>
              <a:gd name="adj" fmla="val 8000"/>
            </a:avLst>
          </a:prstGeom>
          <a:solidFill>
            <a:srgbClr val="F8F7F6"/>
          </a:solidFill>
          <a:ln w="12700">
            <a:solidFill>
              <a:srgbClr val="E1DD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42298" y="3346704"/>
            <a:ext cx="243459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2834B"/>
                </a:solidFill>
                <a:latin typeface="Calibri"/>
              </a:rPr>
              <a:t>P4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2298" y="3675887"/>
            <a:ext cx="243459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30" b="0" i="0">
                <a:solidFill>
                  <a:srgbClr val="6B6682"/>
                </a:solidFill>
                <a:latin typeface="Calibri"/>
              </a:rPr>
              <a:t>Baixa · &lt; 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434840"/>
            <a:ext cx="11457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C2849"/>
                </a:solidFill>
                <a:latin typeface="Calibri"/>
              </a:rPr>
              <a:t>Critério de desempate, quando duas frentes têm classificação ou pontuação próxima: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773168"/>
            <a:ext cx="2174443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DD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" y="4882896"/>
            <a:ext cx="191841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2834B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" y="5230368"/>
            <a:ext cx="191841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60" b="1" i="0">
                <a:solidFill>
                  <a:srgbClr val="2C2849"/>
                </a:solidFill>
                <a:latin typeface="Calibri"/>
              </a:rPr>
              <a:t>Segurança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86507" y="4773168"/>
            <a:ext cx="2174443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DD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14523" y="4882896"/>
            <a:ext cx="191841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2834B"/>
                </a:solidFill>
                <a:latin typeface="Calibr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14523" y="5230368"/>
            <a:ext cx="191841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60" b="1" i="0">
                <a:solidFill>
                  <a:srgbClr val="2C2849"/>
                </a:solidFill>
                <a:latin typeface="Calibri"/>
              </a:rPr>
              <a:t>Regulatório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07254" y="4773168"/>
            <a:ext cx="2174443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DD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35270" y="4882896"/>
            <a:ext cx="191841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2834B"/>
                </a:solidFill>
                <a:latin typeface="Calibr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35270" y="5230368"/>
            <a:ext cx="191841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60" b="1" i="0">
                <a:solidFill>
                  <a:srgbClr val="2C2849"/>
                </a:solidFill>
                <a:latin typeface="Calibri"/>
              </a:rPr>
              <a:t>Produção validada pela GP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28001" y="4773168"/>
            <a:ext cx="2174443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DD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56017" y="4882896"/>
            <a:ext cx="191841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2834B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6017" y="5230368"/>
            <a:ext cx="191841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60" b="1" i="0">
                <a:solidFill>
                  <a:srgbClr val="2C2849"/>
                </a:solidFill>
                <a:latin typeface="Calibri"/>
              </a:rPr>
              <a:t>Financeiro/Patrimônio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48748" y="4773168"/>
            <a:ext cx="2174443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DD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76764" y="4882896"/>
            <a:ext cx="191841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2834B"/>
                </a:solidFill>
                <a:latin typeface="Calibr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76764" y="5230368"/>
            <a:ext cx="191841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60" b="1" i="0">
                <a:solidFill>
                  <a:srgbClr val="2C2849"/>
                </a:solidFill>
                <a:latin typeface="Calibri"/>
              </a:rPr>
              <a:t>Menor custo para executar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6682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92608"/>
            <a:ext cx="1371600" cy="384048"/>
          </a:xfrm>
          <a:prstGeom prst="roundRect">
            <a:avLst>
              <a:gd name="adj" fmla="val 20000"/>
            </a:avLst>
          </a:prstGeom>
          <a:solidFill>
            <a:srgbClr val="2C28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02336"/>
            <a:ext cx="1042415" cy="1984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8412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834B"/>
                </a:solidFill>
                <a:latin typeface="Calibri"/>
              </a:rPr>
              <a:t>GUIA · PASSO 1 DA PRIORIZAÇÃO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15568"/>
            <a:ext cx="114574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C2849"/>
                </a:solidFill>
                <a:latin typeface="Calibri"/>
              </a:rPr>
              <a:t>Diretrizes estratégicas de Operações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00784"/>
            <a:ext cx="11457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682"/>
                </a:solidFill>
                <a:latin typeface="Calibri"/>
              </a:rPr>
              <a:t>As 4 diretrizes que orientam todas as frentes estratégicas e, a partir delas, o plano de trabalho.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286000"/>
            <a:ext cx="5637276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DD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32304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2834B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98064"/>
            <a:ext cx="52715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C2849"/>
                </a:solidFill>
                <a:latin typeface="Calibri"/>
              </a:rPr>
              <a:t>Eficiência na Produção de Óleo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27248"/>
            <a:ext cx="5271516" cy="868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6682"/>
                </a:solidFill>
                <a:latin typeface="Calibri"/>
              </a:rPr>
              <a:t>Maximizar a produção por meio da acuracidade do planejamento, estabilidade operacional, previsibilidade da produção, execução disciplinada dos projetos e utilização eficiente dos recursos.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5916" y="2286000"/>
            <a:ext cx="5637276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DD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8796" y="2432304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2834B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8796" y="2798064"/>
            <a:ext cx="52715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C2849"/>
                </a:solidFill>
                <a:latin typeface="Calibri"/>
              </a:rPr>
              <a:t>Incremento de Reservas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8796" y="3127248"/>
            <a:ext cx="5271516" cy="868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6682"/>
                </a:solidFill>
                <a:latin typeface="Calibri"/>
              </a:rPr>
              <a:t>Expandir as reservas reduzindo o custo de incorporação, priorizando soluções de maior retorno e ampliando o horizonte produtivo dos ativos.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343400"/>
            <a:ext cx="5637276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DD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489704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2834B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855464"/>
            <a:ext cx="52715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C2849"/>
                </a:solidFill>
                <a:latin typeface="Calibri"/>
              </a:rPr>
              <a:t>Extensão da Vida Útil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84648"/>
            <a:ext cx="5271516" cy="868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6682"/>
                </a:solidFill>
                <a:latin typeface="Calibri"/>
              </a:rPr>
              <a:t>Direcionar investimentos, estratégias de manutenção e intervenções com base no ciclo de vida dos ativos, priorizando soluções que ampliem sua vida útil sempre que economicamente justificável.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5916" y="4343400"/>
            <a:ext cx="5637276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1DD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8796" y="4489704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2834B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8796" y="4855464"/>
            <a:ext cx="52715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C2849"/>
                </a:solidFill>
                <a:latin typeface="Calibri"/>
              </a:rPr>
              <a:t>Controle dos Riscos Operacionais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8796" y="5184648"/>
            <a:ext cx="5271516" cy="868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6682"/>
                </a:solidFill>
                <a:latin typeface="Calibri"/>
              </a:rPr>
              <a:t>Manter a operação dentro de níveis aceitáveis de risco, preservando pessoas, meio ambiente, integridade dos ativos e conformidade regulatória.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6682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92608"/>
            <a:ext cx="1371600" cy="384048"/>
          </a:xfrm>
          <a:prstGeom prst="roundRect">
            <a:avLst>
              <a:gd name="adj" fmla="val 20000"/>
            </a:avLst>
          </a:prstGeom>
          <a:solidFill>
            <a:srgbClr val="2C28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02336"/>
            <a:ext cx="1042415" cy="1984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8412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834B"/>
                </a:solidFill>
                <a:latin typeface="Calibri"/>
              </a:rPr>
              <a:t>GUIA · PASSO 1 DA PRIORIZAÇÃO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15568"/>
            <a:ext cx="114574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C2849"/>
                </a:solidFill>
                <a:latin typeface="Calibri"/>
              </a:rPr>
              <a:t>5 frentes estratégicas (FB1–FB5)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00784"/>
            <a:ext cx="11457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682"/>
                </a:solidFill>
                <a:latin typeface="Calibri"/>
              </a:rPr>
              <a:t>Cada frente vinculada a uma diretriz, com indicadores de evolução da condição do ativo assumidos no workshop de Performance.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286000"/>
            <a:ext cx="548640" cy="237744"/>
          </a:xfrm>
          <a:prstGeom prst="roundRect">
            <a:avLst>
              <a:gd name="adj" fmla="val 50000"/>
            </a:avLst>
          </a:prstGeom>
          <a:solidFill>
            <a:srgbClr val="85E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850" b="1">
                <a:solidFill>
                  <a:srgbClr val="2C2849"/>
                </a:solidFill>
                <a:latin typeface="Calibri"/>
              </a:rPr>
              <a:t>FB1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C2849"/>
                </a:solidFill>
                <a:latin typeface="Calibri"/>
              </a:rPr>
              <a:t>Segurança e Conformidade Regulatória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2295144"/>
            <a:ext cx="4206240" cy="237744"/>
          </a:xfrm>
          <a:prstGeom prst="roundRect">
            <a:avLst>
              <a:gd name="adj" fmla="val 50000"/>
            </a:avLst>
          </a:prstGeom>
          <a:solidFill>
            <a:srgbClr val="978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850" b="1">
                <a:solidFill>
                  <a:srgbClr val="2C2849"/>
                </a:solidFill>
                <a:latin typeface="Calibri"/>
              </a:rPr>
              <a:t>Diretriz 04 · Controle dos Riscos Operacionais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70048"/>
            <a:ext cx="1145743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6682"/>
                </a:solidFill>
                <a:latin typeface="Calibri"/>
              </a:rPr>
              <a:t>Reduzir de forma material os principais riscos de segurança, integridade e áreas classificadas, mantendo estudos de risco atualizados, barreiras críticas eficazes e planos de recuperação para todas as exposições relevantes. Assegurar conformidade contínua com ANP, classe e demais autoridades, tratando desvios por severidade, antecipando certificações e eliminando recorrências.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794760"/>
          <a:ext cx="1145742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4476"/>
                <a:gridCol w="2949437"/>
                <a:gridCol w="1474718"/>
                <a:gridCol w="2268798"/>
              </a:tblGrid>
              <a:tr h="402336"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 marL="76200" marR="76200" marT="25400" marB="25400" anchor="ctr"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Fonte</a:t>
                      </a:r>
                    </a:p>
                  </a:txBody>
                  <a:tcPr marL="76200" marR="76200" marT="25400" marB="25400" anchor="ctr"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Hoje</a:t>
                      </a:r>
                    </a:p>
                  </a:txBody>
                  <a:tcPr marL="76200" marR="76200" marT="25400" marB="25400" anchor="ctr"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Meta 2027</a:t>
                      </a:r>
                    </a:p>
                  </a:txBody>
                  <a:tcPr marL="76200" marR="76200" marT="25400" marB="25400" anchor="ctr">
                    <a:solidFill>
                      <a:srgbClr val="9787D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Ranking GRIS da frota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GRIS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sem meta numérica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IARI Integridade Mecânica M5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SGI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sem meta numérica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IARI Regulatório M3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SAP PM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sem meta numérica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Índice de Atendimento de Recomendação de Incidentes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Sem sistema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sem meta numérica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6682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92608"/>
            <a:ext cx="1371600" cy="384048"/>
          </a:xfrm>
          <a:prstGeom prst="roundRect">
            <a:avLst>
              <a:gd name="adj" fmla="val 20000"/>
            </a:avLst>
          </a:prstGeom>
          <a:solidFill>
            <a:srgbClr val="2C28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02336"/>
            <a:ext cx="1042415" cy="1984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8412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834B"/>
                </a:solidFill>
                <a:latin typeface="Calibri"/>
              </a:rPr>
              <a:t>GUIA · PASSO 1 DA PRIORIZAÇÃO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15568"/>
            <a:ext cx="114574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C2849"/>
                </a:solidFill>
                <a:latin typeface="Calibri"/>
              </a:rPr>
              <a:t>5 frentes estratégicas (FB1–FB5)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00784"/>
            <a:ext cx="11457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682"/>
                </a:solidFill>
                <a:latin typeface="Calibri"/>
              </a:rPr>
              <a:t>Cada frente vinculada a uma diretriz, com indicadores de evolução da condição do ativo assumidos no workshop de Performance.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286000"/>
            <a:ext cx="548640" cy="237744"/>
          </a:xfrm>
          <a:prstGeom prst="roundRect">
            <a:avLst>
              <a:gd name="adj" fmla="val 50000"/>
            </a:avLst>
          </a:prstGeom>
          <a:solidFill>
            <a:srgbClr val="85E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850" b="1">
                <a:solidFill>
                  <a:srgbClr val="2C2849"/>
                </a:solidFill>
                <a:latin typeface="Calibri"/>
              </a:rPr>
              <a:t>FB2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C2849"/>
                </a:solidFill>
                <a:latin typeface="Calibri"/>
              </a:rPr>
              <a:t>Confiabilidade e Excelência Operacional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2295144"/>
            <a:ext cx="3840480" cy="237744"/>
          </a:xfrm>
          <a:prstGeom prst="roundRect">
            <a:avLst>
              <a:gd name="adj" fmla="val 50000"/>
            </a:avLst>
          </a:prstGeom>
          <a:solidFill>
            <a:srgbClr val="978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850" b="1">
                <a:solidFill>
                  <a:srgbClr val="2C2849"/>
                </a:solidFill>
                <a:latin typeface="Calibri"/>
              </a:rPr>
              <a:t>Diretriz 01 · Eficiência na Produção de Óleo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51760"/>
            <a:ext cx="11457432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i="0">
                <a:solidFill>
                  <a:srgbClr val="6B6682"/>
                </a:solidFill>
                <a:latin typeface="Calibri"/>
              </a:rPr>
              <a:t>Recuperar e sustentar a confiabilidade dos sistemas críticos de geração, compressão, bombeio e processamento, eliminando vulnerabilidades que ameacem produção, segurança ou continuidade operacional. Executar os planos de manutenção com disciplina — preventivas e corretivas — reduzindo o backlog e o volume de ordens vencidas, destravando o detalhamento que hoje impede a execução, tratando as notas sem ordem e as manutenções acima de 180 dias, e formalizando a avaliação de cada postergação. Sustentar a meta de produção elevando a eficiência operacional e a acuracidade do potencial: atacar as perdas por downtime e o desvio operacional em cada ativo, e reduzir a parcela de desvio ainda não identificada para que toda perda tenha mecanismo de falha conhecido e tratamento definido.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3794760"/>
          <a:ext cx="11457431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1996"/>
                <a:gridCol w="2155358"/>
                <a:gridCol w="1361279"/>
                <a:gridCol w="2268798"/>
              </a:tblGrid>
              <a:tr h="419100"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 marL="76200" marR="76200" marT="25400" marB="25400" anchor="ctr"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Fonte</a:t>
                      </a:r>
                    </a:p>
                  </a:txBody>
                  <a:tcPr marL="76200" marR="76200" marT="25400" marB="25400" anchor="ctr"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Hoje</a:t>
                      </a:r>
                    </a:p>
                  </a:txBody>
                  <a:tcPr marL="76200" marR="76200" marT="25400" marB="25400" anchor="ctr"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Meta 2027</a:t>
                      </a:r>
                    </a:p>
                  </a:txBody>
                  <a:tcPr marL="76200" marR="76200" marT="25400" marB="25400" anchor="ctr">
                    <a:solidFill>
                      <a:srgbClr val="9787D4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Score médio de saúde da frota CONFIA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Confia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sem meta numérica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% de Disponibilidade de Equipamentos Críticos C2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Confia · Painel de Redundâncias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sem meta numérica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MTBF C2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SAP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sem meta numérica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% de Atendimento das Recomendações de Perdas de Produção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sem meta numérica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% de parâmetros fora do envelope LIGHTHOUSE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sem meta numérica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6682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92608"/>
            <a:ext cx="1371600" cy="384048"/>
          </a:xfrm>
          <a:prstGeom prst="roundRect">
            <a:avLst>
              <a:gd name="adj" fmla="val 20000"/>
            </a:avLst>
          </a:prstGeom>
          <a:solidFill>
            <a:srgbClr val="2C28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402336"/>
            <a:ext cx="1042415" cy="1984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8412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834B"/>
                </a:solidFill>
                <a:latin typeface="Calibri"/>
              </a:rPr>
              <a:t>GUIA · PASSO 1 DA PRIORIZAÇÃO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15568"/>
            <a:ext cx="114574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C2849"/>
                </a:solidFill>
                <a:latin typeface="Calibri"/>
              </a:rPr>
              <a:t>5 frentes estratégicas (FB1–FB5)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00784"/>
            <a:ext cx="11457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682"/>
                </a:solidFill>
                <a:latin typeface="Calibri"/>
              </a:rPr>
              <a:t>Continuação — frentes com escopo e indicadores mais compactos.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240280"/>
            <a:ext cx="548640" cy="237744"/>
          </a:xfrm>
          <a:prstGeom prst="roundRect">
            <a:avLst>
              <a:gd name="adj" fmla="val 50000"/>
            </a:avLst>
          </a:prstGeom>
          <a:solidFill>
            <a:srgbClr val="85E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850" b="1">
                <a:solidFill>
                  <a:srgbClr val="2C2849"/>
                </a:solidFill>
                <a:latin typeface="Calibri"/>
              </a:rPr>
              <a:t>FB3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49377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C2849"/>
                </a:solidFill>
                <a:latin typeface="Calibri"/>
              </a:rPr>
              <a:t>Disciplina de Custos da Operação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2244852"/>
            <a:ext cx="4206240" cy="237744"/>
          </a:xfrm>
          <a:prstGeom prst="roundRect">
            <a:avLst>
              <a:gd name="adj" fmla="val 50000"/>
            </a:avLst>
          </a:prstGeom>
          <a:solidFill>
            <a:srgbClr val="978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800" b="1">
                <a:solidFill>
                  <a:srgbClr val="2C2849"/>
                </a:solidFill>
                <a:latin typeface="Calibri"/>
              </a:rPr>
              <a:t>Diretriz 01 · Eficiência na Produção de Óleo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532888"/>
            <a:ext cx="114574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30" b="0" i="0">
                <a:solidFill>
                  <a:srgbClr val="6B6682"/>
                </a:solidFill>
                <a:latin typeface="Calibri"/>
              </a:rPr>
              <a:t>Manter CAPEX e OPEX dos projetos dentro da curva orçamentária, com desvios identificados, tratados e acompanhados por ativo.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2852927"/>
          <a:ext cx="11457430" cy="512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79"/>
                <a:gridCol w="4142231"/>
                <a:gridCol w="1005840"/>
                <a:gridCol w="2468880"/>
              </a:tblGrid>
              <a:tr h="256032"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 marL="76200" marR="76200" marT="25400" marB="25400" anchor="ctr"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Fonte</a:t>
                      </a:r>
                    </a:p>
                  </a:txBody>
                  <a:tcPr marL="76200" marR="76200" marT="25400" marB="25400" anchor="ctr"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Hoje</a:t>
                      </a:r>
                    </a:p>
                  </a:txBody>
                  <a:tcPr marL="76200" marR="76200" marT="25400" marB="25400" anchor="ctr"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Meta 2027</a:t>
                      </a:r>
                    </a:p>
                  </a:txBody>
                  <a:tcPr marL="76200" marR="76200" marT="25400" marB="25400" anchor="ctr">
                    <a:solidFill>
                      <a:srgbClr val="9787D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Projetos acima da curva orçamentária de CAPEX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Fluxo de Caixa — 83 projetos com CAPEX em 2026, 42 mapeados em ativos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0 (reduzir até 0)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365760" y="3511296"/>
            <a:ext cx="548640" cy="237744"/>
          </a:xfrm>
          <a:prstGeom prst="roundRect">
            <a:avLst>
              <a:gd name="adj" fmla="val 50000"/>
            </a:avLst>
          </a:prstGeom>
          <a:solidFill>
            <a:srgbClr val="85E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850" b="1">
                <a:solidFill>
                  <a:srgbClr val="2C2849"/>
                </a:solidFill>
                <a:latin typeface="Calibri"/>
              </a:rPr>
              <a:t>FB4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511296"/>
            <a:ext cx="49377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C2849"/>
                </a:solidFill>
                <a:latin typeface="Calibri"/>
              </a:rPr>
              <a:t>Sustentação e Incremento da Produção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3515868"/>
            <a:ext cx="4206240" cy="237744"/>
          </a:xfrm>
          <a:prstGeom prst="roundRect">
            <a:avLst>
              <a:gd name="adj" fmla="val 50000"/>
            </a:avLst>
          </a:prstGeom>
          <a:solidFill>
            <a:srgbClr val="978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800" b="1">
                <a:solidFill>
                  <a:srgbClr val="2C2849"/>
                </a:solidFill>
                <a:latin typeface="Calibri"/>
              </a:rPr>
              <a:t>Diretriz 02 · Incremento de Reservas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803904"/>
            <a:ext cx="114574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30" b="0" i="0">
                <a:solidFill>
                  <a:srgbClr val="6B6682"/>
                </a:solidFill>
                <a:latin typeface="Calibri"/>
              </a:rPr>
              <a:t>Entregar o portfólio no prazo e dentro da curva, priorizando projetos de sustentação e incremento da produção por valor econômico, risco, prazo de captura e prontidão de execução.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5760" y="4123944"/>
          <a:ext cx="11457430" cy="512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79"/>
                <a:gridCol w="4142231"/>
                <a:gridCol w="1005840"/>
                <a:gridCol w="2468880"/>
              </a:tblGrid>
              <a:tr h="256032"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 marL="76200" marR="76200" marT="25400" marB="25400" anchor="ctr"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Fonte</a:t>
                      </a:r>
                    </a:p>
                  </a:txBody>
                  <a:tcPr marL="76200" marR="76200" marT="25400" marB="25400" anchor="ctr"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Hoje</a:t>
                      </a:r>
                    </a:p>
                  </a:txBody>
                  <a:tcPr marL="76200" marR="76200" marT="25400" marB="25400" anchor="ctr"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Meta 2027</a:t>
                      </a:r>
                    </a:p>
                  </a:txBody>
                  <a:tcPr marL="76200" marR="76200" marT="25400" marB="25400" anchor="ctr">
                    <a:solidFill>
                      <a:srgbClr val="9787D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Aderência da Curva S do Portfólio de DMP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Projetos em Planejamento — nota Actio média (16/08/2026)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71%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≥ 90%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365760" y="4782312"/>
            <a:ext cx="548640" cy="237744"/>
          </a:xfrm>
          <a:prstGeom prst="roundRect">
            <a:avLst>
              <a:gd name="adj" fmla="val 50000"/>
            </a:avLst>
          </a:prstGeom>
          <a:solidFill>
            <a:srgbClr val="85E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850" b="1">
                <a:solidFill>
                  <a:srgbClr val="2C2849"/>
                </a:solidFill>
                <a:latin typeface="Calibri"/>
              </a:rPr>
              <a:t>FB5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782312"/>
            <a:ext cx="49377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C2849"/>
                </a:solidFill>
                <a:latin typeface="Calibri"/>
              </a:rPr>
              <a:t>Gestão do Ciclo de Vida dos Ativos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0" y="4786884"/>
            <a:ext cx="4206240" cy="237744"/>
          </a:xfrm>
          <a:prstGeom prst="roundRect">
            <a:avLst>
              <a:gd name="adj" fmla="val 50000"/>
            </a:avLst>
          </a:prstGeom>
          <a:solidFill>
            <a:srgbClr val="9787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800" b="1">
                <a:solidFill>
                  <a:srgbClr val="2C2849"/>
                </a:solidFill>
                <a:latin typeface="Calibri"/>
              </a:rPr>
              <a:t>Diretriz 03 · Extensão da Vida Útil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074920"/>
            <a:ext cx="114574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30" b="0" i="0">
                <a:solidFill>
                  <a:srgbClr val="6B6682"/>
                </a:solidFill>
                <a:latin typeface="Calibri"/>
              </a:rPr>
              <a:t>Gerir degradação, obsolescência e vida remanescente dos ativos com base em criticidade e horizonte econômico.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65760" y="5559552"/>
          <a:ext cx="11457429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79"/>
                <a:gridCol w="3044951"/>
                <a:gridCol w="2103119"/>
                <a:gridCol w="2468880"/>
              </a:tblGrid>
              <a:tr h="256032"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 marL="76200" marR="76200" marT="25400" marB="25400" anchor="ctr"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Fonte</a:t>
                      </a:r>
                    </a:p>
                  </a:txBody>
                  <a:tcPr marL="76200" marR="76200" marT="25400" marB="25400" anchor="ctr"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Hoje</a:t>
                      </a:r>
                    </a:p>
                  </a:txBody>
                  <a:tcPr marL="76200" marR="76200" marT="25400" marB="25400" anchor="ctr"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  <a:latin typeface="Calibri"/>
                        </a:rPr>
                        <a:t>Meta 2027</a:t>
                      </a:r>
                    </a:p>
                  </a:txBody>
                  <a:tcPr marL="76200" marR="76200" marT="25400" marB="25400" anchor="ctr">
                    <a:solidFill>
                      <a:srgbClr val="9787D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Plano de Recuperação de Equipamentos Obsolescentes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Portfólio — a instrumentar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100% do crítico mapeado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sem meta numérica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Cumprimento de inspeções de amarras, risers, casco e mangotes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6B6682"/>
                          </a:solidFill>
                          <a:latin typeface="Calibri"/>
                        </a:rPr>
                        <a:t>sem meta numérica</a:t>
                      </a:r>
                    </a:p>
                  </a:txBody>
                  <a:tcPr marL="76200" marR="76200" marT="25400" marB="25400" anchor="ctr">
                    <a:solidFill>
                      <a:srgbClr val="F8F7F6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B6682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2C284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/tmp/claude-0/-workspace-Planejamento/79ba2b6d-20da-5e48-9126-441c472dc123/scratchpad/prio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402336"/>
            <a:ext cx="1042416" cy="1984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05 · GOVERNANÇA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65760" y="1115568"/>
            <a:ext cx="11457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Papéis e responsabilidades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365760" y="1700784"/>
            <a:ext cx="11457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perfis sustentam o rito de ponta a ponta — do lançamento do escopo à aprovação final.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65760" y="2286000"/>
            <a:ext cx="3697224" cy="189738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1DDEC"/>
            </a:solidFill>
            <a:prstDash val="solid"/>
          </a:ln>
          <a:effectLst>
            <a:outerShdw blurRad="76200" dist="25400" dir="5400000" algn="bl" rotWithShape="0">
              <a:srgbClr val="2C2849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512064" y="2432304"/>
            <a:ext cx="859536" cy="237744"/>
          </a:xfrm>
          <a:prstGeom prst="roundRect">
            <a:avLst>
              <a:gd name="adj" fmla="val 50000"/>
            </a:avLst>
          </a:prstGeom>
          <a:solidFill>
            <a:srgbClr val="F2834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512064" y="2432304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2064" y="2761488"/>
            <a:ext cx="3404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Engenheiro de disciplina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12064" y="3218688"/>
            <a:ext cx="3404616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97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 e cadastra o escopo: dados básicos, POB mensal, custo de material/serviço e responde a priorização.</a:t>
            </a:r>
            <a:endParaRPr lang="en-US" sz="970" dirty="0"/>
          </a:p>
        </p:txBody>
      </p:sp>
      <p:sp>
        <p:nvSpPr>
          <p:cNvPr id="12" name="Shape 9"/>
          <p:cNvSpPr/>
          <p:nvPr/>
        </p:nvSpPr>
        <p:spPr>
          <a:xfrm>
            <a:off x="4245864" y="2286000"/>
            <a:ext cx="3697224" cy="189738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1DDEC"/>
            </a:solidFill>
            <a:prstDash val="solid"/>
          </a:ln>
          <a:effectLst>
            <a:outerShdw blurRad="76200" dist="25400" dir="5400000" algn="bl" rotWithShape="0">
              <a:srgbClr val="2C2849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4392168" y="2432304"/>
            <a:ext cx="859536" cy="237744"/>
          </a:xfrm>
          <a:prstGeom prst="roundRect">
            <a:avLst>
              <a:gd name="adj" fmla="val 50000"/>
            </a:avLst>
          </a:prstGeom>
          <a:solidFill>
            <a:srgbClr val="F2834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4392168" y="2432304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392168" y="2761488"/>
            <a:ext cx="3404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Planejamento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392168" y="3218688"/>
            <a:ext cx="3404616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97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 do processo. Treina, nivela POB/capex, consolida propostas e monta as versões do plano (V0 → VF).</a:t>
            </a:r>
            <a:endParaRPr lang="en-US" sz="970" dirty="0"/>
          </a:p>
        </p:txBody>
      </p:sp>
      <p:sp>
        <p:nvSpPr>
          <p:cNvPr id="17" name="Shape 14"/>
          <p:cNvSpPr/>
          <p:nvPr/>
        </p:nvSpPr>
        <p:spPr>
          <a:xfrm>
            <a:off x="8125968" y="2286000"/>
            <a:ext cx="3697224" cy="189738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1DDEC"/>
            </a:solidFill>
            <a:prstDash val="solid"/>
          </a:ln>
          <a:effectLst>
            <a:outerShdw blurRad="76200" dist="25400" dir="5400000" algn="bl" rotWithShape="0">
              <a:srgbClr val="2C2849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8272272" y="2432304"/>
            <a:ext cx="859536" cy="237744"/>
          </a:xfrm>
          <a:prstGeom prst="roundRect">
            <a:avLst>
              <a:gd name="adj" fmla="val 50000"/>
            </a:avLst>
          </a:prstGeom>
          <a:solidFill>
            <a:srgbClr val="F2834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8272272" y="2432304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272272" y="2761488"/>
            <a:ext cx="3404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Coordenador de Operações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272272" y="3218688"/>
            <a:ext cx="3404616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97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 a solicitação priorizada contra a diretriz estratégica do ativo e aprova, recusa ou devolve para ajuste.</a:t>
            </a:r>
            <a:endParaRPr lang="en-US" sz="970" dirty="0"/>
          </a:p>
        </p:txBody>
      </p:sp>
      <p:sp>
        <p:nvSpPr>
          <p:cNvPr id="22" name="Shape 19"/>
          <p:cNvSpPr/>
          <p:nvPr/>
        </p:nvSpPr>
        <p:spPr>
          <a:xfrm>
            <a:off x="365760" y="4366260"/>
            <a:ext cx="3697224" cy="189738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1DDEC"/>
            </a:solidFill>
            <a:prstDash val="solid"/>
          </a:ln>
          <a:effectLst>
            <a:outerShdw blurRad="76200" dist="25400" dir="5400000" algn="bl" rotWithShape="0">
              <a:srgbClr val="2C2849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20"/>
          <p:cNvSpPr/>
          <p:nvPr/>
        </p:nvSpPr>
        <p:spPr>
          <a:xfrm>
            <a:off x="512064" y="4512564"/>
            <a:ext cx="859536" cy="237744"/>
          </a:xfrm>
          <a:prstGeom prst="roundRect">
            <a:avLst>
              <a:gd name="adj" fmla="val 50000"/>
            </a:avLst>
          </a:prstGeom>
          <a:solidFill>
            <a:srgbClr val="F2834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512064" y="4512564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12064" y="4841748"/>
            <a:ext cx="3404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Gerentes Executivos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12064" y="5298948"/>
            <a:ext cx="3404616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97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Participam, com o OIM do ativo, do workshop de V0 apresentado pelo Eng. Planejamento, para alinhar o plano com a diretriz estratégica.</a:t>
            </a:r>
            <a:endParaRPr lang="en-US" sz="970" dirty="0"/>
          </a:p>
        </p:txBody>
      </p:sp>
      <p:sp>
        <p:nvSpPr>
          <p:cNvPr id="27" name="Shape 24"/>
          <p:cNvSpPr/>
          <p:nvPr/>
        </p:nvSpPr>
        <p:spPr>
          <a:xfrm>
            <a:off x="4245864" y="4366260"/>
            <a:ext cx="3697224" cy="189738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1DDEC"/>
            </a:solidFill>
            <a:prstDash val="solid"/>
          </a:ln>
          <a:effectLst>
            <a:outerShdw blurRad="76200" dist="25400" dir="5400000" algn="bl" rotWithShape="0">
              <a:srgbClr val="2C2849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Shape 25"/>
          <p:cNvSpPr/>
          <p:nvPr/>
        </p:nvSpPr>
        <p:spPr>
          <a:xfrm>
            <a:off x="4392168" y="4512564"/>
            <a:ext cx="859536" cy="237744"/>
          </a:xfrm>
          <a:prstGeom prst="roundRect">
            <a:avLst>
              <a:gd name="adj" fmla="val 50000"/>
            </a:avLst>
          </a:prstGeom>
          <a:solidFill>
            <a:srgbClr val="F2834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6"/>
          <p:cNvSpPr/>
          <p:nvPr/>
        </p:nvSpPr>
        <p:spPr>
          <a:xfrm>
            <a:off x="4392168" y="4512564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392168" y="4841748"/>
            <a:ext cx="3404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do Ativo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4392168" y="5298948"/>
            <a:ext cx="3404616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97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final do plano consolidado (POB + custo) antes do envio e divulgação oficial.</a:t>
            </a:r>
            <a:endParaRPr lang="en-US" sz="970" dirty="0"/>
          </a:p>
        </p:txBody>
      </p:sp>
      <p:sp>
        <p:nvSpPr>
          <p:cNvPr id="33" name="Text 30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2C284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/tmp/claude-0/-workspace-Planejamento/79ba2b6d-20da-5e48-9126-441c472dc123/scratchpad/prio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402336"/>
            <a:ext cx="1042416" cy="1984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06 · QUEM ALIMENTA O PLANO (1/3)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65760" y="1115568"/>
            <a:ext cx="11457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da PRIO e seus inputs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365760" y="1700784"/>
            <a:ext cx="11457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Cruzado com os planos reais de 2026 de ABL, CLUSTER e FPSO Frade — linhas confirmadas foram validadas por esse histórico (1/3).</a:t>
            </a:r>
            <a:endParaRPr lang="en-US" sz="1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8803092"/>
              </p:ext>
            </p:extLst>
          </p:nvPr>
        </p:nvGraphicFramePr>
        <p:xfrm>
          <a:off x="365760" y="2331720"/>
          <a:ext cx="11457432" cy="402336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046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Solicitante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normalmente entra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 de elegibilidade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87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b="1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Manutenção e Confiabilidade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Eng. de Manutenção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Ordens preventivas e corretivas (SAP), campanhas de Manutenção e Grandes </a:t>
                      </a:r>
                      <a:r>
                        <a:rPr lang="en-US" sz="830" dirty="0" err="1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Manutenções</a:t>
                      </a:r>
                      <a:r>
                        <a:rPr lang="en-US" sz="83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POB de terceiro (vendor) — entra independente de OPEX ou CAPEX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confirmado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E3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b="1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Eng. de Projetos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Modificação de Eficiência da Produção; Desenvolvimento da Produção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Maturidade mínima PML2 (Fase FEL ≥ FEL 2 - Básico)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confirmado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E3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b="1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Construção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Eng. de Construção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Intervenções estruturais e de turnaround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Ordens corretivas M1 e M5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confirmado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E3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b="1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Eng. de Integridade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Inspeções e campanhas de integridade (ENDs, CUI, válvulas)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 Integridade/Regulatório; risco a barreira crítica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confirmado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E3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2C284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/tmp/claude-0/-workspace-Planejamento/79ba2b6d-20da-5e48-9126-441c472dc123/scratchpad/prio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402336"/>
            <a:ext cx="1042416" cy="1984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06 · QUEM ALIMENTA O PLANO (2/3)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65760" y="1115568"/>
            <a:ext cx="11457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da PRIO e seus inputs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365760" y="1700784"/>
            <a:ext cx="11457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Continuação — critérios de elegibilidade por área, cruzados com o histórico real de 2026 (2/3).</a:t>
            </a:r>
            <a:endParaRPr lang="en-US" sz="12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331720"/>
          <a:ext cx="11457432" cy="402336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046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Solicitante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normalmente entra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 de elegibilidade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87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b="1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Naval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Eng. de Naval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Campanha naval: tanques, mangotes, vasos, amarras, casco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Exigências das classificadoras (ABS, DNV) e inspeções de classe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confirmado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E3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b="1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Medição Fiscal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Depto. de Medição Fiscal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Calibração/testes de medidores fiscais, cromatografia, auditorias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Conformidade regulatória de medição fiscal (ANP)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confirmado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E3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b="1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Parada Programada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Eng. Parada/Manut./Constr./Integr./Projetos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 escopos de múltiplas disciplinas na janela de parada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Ordens Z17 — entra sempre, sem exceção de priorização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confirmado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E3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b="1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 — Ocup., Processos, Saúde e Qualidade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Eng. de SMS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Ações corretivas de risco, adequação a barreiras críticas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Potencial de lesão/fatalidade ou dano ambiental; NR/SGSO (ANP)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confirmado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E3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2C284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/tmp/claude-0/-workspace-Planejamento/79ba2b6d-20da-5e48-9126-441c472dc123/scratchpad/prio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402336"/>
            <a:ext cx="1042416" cy="1984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06 · QUEM ALIMENTA O PLANO (3/3)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65760" y="1115568"/>
            <a:ext cx="11457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da PRIO e seus inputs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365760" y="1700784"/>
            <a:ext cx="11457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Regulatório não aparece como área própria: suas exigências estão distribuídas entre Naval (classificadoras) e SMS (ANP) — (3/3).</a:t>
            </a:r>
            <a:endParaRPr lang="en-US" sz="12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5991312"/>
              </p:ext>
            </p:extLst>
          </p:nvPr>
        </p:nvGraphicFramePr>
        <p:xfrm>
          <a:off x="365760" y="2331720"/>
          <a:ext cx="11457432" cy="402336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046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Solicitante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normalmente entra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 de elegibilidade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87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b="1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Processos e Químicos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Eng. de Processos e Químicos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Otimização de processo, tratamento químico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 em confiabilidade de processo ou consumo químico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confirmado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E3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b="1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Suporte Técnico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Eng. de Suporte Técnico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 err="1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Estudos</a:t>
                      </a:r>
                      <a:r>
                        <a:rPr lang="en-US" sz="83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830" dirty="0" err="1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técnicos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 direto </a:t>
                      </a:r>
                      <a:r>
                        <a:rPr lang="en-US" sz="830" dirty="0" err="1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</a:t>
                      </a:r>
                      <a:r>
                        <a:rPr lang="en-US" sz="83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830" dirty="0" err="1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eficiência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 err="1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confirmado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E3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b="1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Desenvolvimento da Produção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Eng. de Desenvolvimento da Produção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Comissionamento de novos poços; escopos de conexão à planta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Categoria Desenvolvimento da Produção; necessário para start-up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confirmado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E3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46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b="1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Planejamento Integrado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Eng. de Planejamento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Consolidação, nivelamento e versionamento do plano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3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Dono do processo — não solicita escopo próprio</a:t>
                      </a:r>
                      <a:endParaRPr lang="en-US" sz="8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papel de processo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87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2C284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/tmp/claude-0/-workspace-Planejamento/79ba2b6d-20da-5e48-9126-441c472dc123/scratchpad/prio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402336"/>
            <a:ext cx="1042416" cy="1984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07 · REGRAS TRANSVERSAIS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65760" y="1115568"/>
            <a:ext cx="11457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gerais de elegibilidade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365760" y="1700784"/>
            <a:ext cx="11457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Valem para qualquer área, antes dos critérios específicos de cada uma.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65760" y="2286000"/>
            <a:ext cx="3697224" cy="189738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1DDEC"/>
            </a:solidFill>
            <a:prstDash val="solid"/>
          </a:ln>
          <a:effectLst>
            <a:outerShdw blurRad="76200" dist="25400" dir="5400000" algn="bl" rotWithShape="0">
              <a:srgbClr val="2C2849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512064" y="243230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12064" y="2724912"/>
            <a:ext cx="3404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 de terceiro (vendor)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12064" y="3182112"/>
            <a:ext cx="3404616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97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atividade exige POB terceiro, ela entra no plano — não importa se é OPEX ou CAPEX.</a:t>
            </a:r>
            <a:endParaRPr lang="en-US" sz="970" dirty="0"/>
          </a:p>
        </p:txBody>
      </p:sp>
      <p:sp>
        <p:nvSpPr>
          <p:cNvPr id="11" name="Shape 8"/>
          <p:cNvSpPr/>
          <p:nvPr/>
        </p:nvSpPr>
        <p:spPr>
          <a:xfrm>
            <a:off x="4245864" y="2286000"/>
            <a:ext cx="3697224" cy="189738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1DDEC"/>
            </a:solidFill>
            <a:prstDash val="solid"/>
          </a:ln>
          <a:effectLst>
            <a:outerShdw blurRad="76200" dist="25400" dir="5400000" algn="bl" rotWithShape="0">
              <a:srgbClr val="2C2849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4392168" y="243230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392168" y="2724912"/>
            <a:ext cx="3404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CAPEX × OPEX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392168" y="3182112"/>
            <a:ext cx="3404616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97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≥ US$ 150k são tratados como CAPEX; abaixo disso, alocados como OPEX (premissa do ciclo anterior).</a:t>
            </a:r>
            <a:endParaRPr lang="en-US" sz="970" dirty="0"/>
          </a:p>
        </p:txBody>
      </p:sp>
      <p:sp>
        <p:nvSpPr>
          <p:cNvPr id="15" name="Shape 12"/>
          <p:cNvSpPr/>
          <p:nvPr/>
        </p:nvSpPr>
        <p:spPr>
          <a:xfrm>
            <a:off x="8125968" y="2286000"/>
            <a:ext cx="3697224" cy="189738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1DDEC"/>
            </a:solidFill>
            <a:prstDash val="solid"/>
          </a:ln>
          <a:effectLst>
            <a:outerShdw blurRad="76200" dist="25400" dir="5400000" algn="bl" rotWithShape="0">
              <a:srgbClr val="2C2849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8272272" y="243230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272272" y="2724912"/>
            <a:ext cx="3404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 Programada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272272" y="3182112"/>
            <a:ext cx="3404616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97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Ordens Z17 entram.</a:t>
            </a:r>
            <a:endParaRPr lang="en-US" sz="970" dirty="0"/>
          </a:p>
        </p:txBody>
      </p:sp>
      <p:sp>
        <p:nvSpPr>
          <p:cNvPr id="19" name="Shape 16"/>
          <p:cNvSpPr/>
          <p:nvPr/>
        </p:nvSpPr>
        <p:spPr>
          <a:xfrm>
            <a:off x="365760" y="4366260"/>
            <a:ext cx="3697224" cy="189738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1DDEC"/>
            </a:solidFill>
            <a:prstDash val="solid"/>
          </a:ln>
          <a:effectLst>
            <a:outerShdw blurRad="76200" dist="25400" dir="5400000" algn="bl" rotWithShape="0">
              <a:srgbClr val="2C2849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512064" y="451256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12064" y="4805172"/>
            <a:ext cx="3404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Maturidade de projeto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12064" y="5262372"/>
            <a:ext cx="3404616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97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só entram a partir da fase PML2 (Fase FEL ≥ FEL 2 - Básico), como Eficiência da Produção ou Desenvolvimento da Produção.</a:t>
            </a:r>
            <a:endParaRPr lang="en-US" sz="970" dirty="0"/>
          </a:p>
        </p:txBody>
      </p:sp>
      <p:sp>
        <p:nvSpPr>
          <p:cNvPr id="23" name="Shape 20"/>
          <p:cNvSpPr/>
          <p:nvPr/>
        </p:nvSpPr>
        <p:spPr>
          <a:xfrm>
            <a:off x="4245864" y="4366260"/>
            <a:ext cx="3697224" cy="189738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1DDEC"/>
            </a:solidFill>
            <a:prstDash val="solid"/>
          </a:ln>
          <a:effectLst>
            <a:outerShdw blurRad="76200" dist="25400" dir="5400000" algn="bl" rotWithShape="0">
              <a:srgbClr val="2C2849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4392168" y="4512564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4392168" y="4805172"/>
            <a:ext cx="3404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Diretriz estratégica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4392168" y="5262372"/>
            <a:ext cx="3404616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97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solicitante já levanta o escopo, no Building, com base na Diretriz Estratégica da sua Gerência Executiva — vínculo definido na origem, não só checado na aprovação.</a:t>
            </a:r>
            <a:endParaRPr lang="en-US" sz="970" dirty="0"/>
          </a:p>
        </p:txBody>
      </p:sp>
      <p:sp>
        <p:nvSpPr>
          <p:cNvPr id="28" name="Text 25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2C284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/tmp/claude-0/-workspace-Planejamento/79ba2b6d-20da-5e48-9126-441c472dc123/scratchpad/prio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402336"/>
            <a:ext cx="1042416" cy="1984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08 · LEVANTAMENTO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65760" y="1115568"/>
            <a:ext cx="11457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básicos por escopo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365760" y="1700784"/>
            <a:ext cx="11457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preenchidos pelo engenheiro de disciplina ao abrir a atividade, organizados pelas etapas do formulário.</a:t>
            </a:r>
            <a:endParaRPr lang="en-US" sz="12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912769"/>
              </p:ext>
            </p:extLst>
          </p:nvPr>
        </p:nvGraphicFramePr>
        <p:xfrm>
          <a:off x="365760" y="2331720"/>
          <a:ext cx="11457432" cy="384048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05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80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 do formulário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87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 Básicos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 da atividade, solicitante, equipe demandante, categoria do escopo, aplicação (OPEX/CAPEX), equipe executora, fornecedor, localidade funcional, fase FEL, ano, recorrência, ordem de serviço, tipo de ordem, centro de trabalho, terceiro fixo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POB Mensal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Distribuição de POB (pessoas·dia) mês a mês ao longo do ano do plano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de material, custo de serviço, custo total consolidado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Priorização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20000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6B66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Respostas aos critérios de Segurança, Regulatório, Financeiro/Patrimônio e Produção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E6E7F2-DAAE-2927-7223-1E18157AF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B4D886E-E12D-537A-4402-71A1234CC665}"/>
              </a:ext>
            </a:extLst>
          </p:cNvPr>
          <p:cNvSpPr/>
          <p:nvPr/>
        </p:nvSpPr>
        <p:spPr>
          <a:xfrm>
            <a:off x="365760" y="29260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2C284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/tmp/claude-0/-workspace-Planejamento/79ba2b6d-20da-5e48-9126-441c472dc123/scratchpad/prio_logo_white.png">
            <a:extLst>
              <a:ext uri="{FF2B5EF4-FFF2-40B4-BE49-F238E27FC236}">
                <a16:creationId xmlns:a16="http://schemas.microsoft.com/office/drawing/2014/main" id="{5F8AAAA2-B480-293D-DE0D-5D4F2D76C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402336"/>
            <a:ext cx="1042416" cy="198425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2FC8DD42-F11C-F2B1-255D-C6218C0B7F52}"/>
              </a:ext>
            </a:extLst>
          </p:cNvPr>
          <p:cNvSpPr/>
          <p:nvPr/>
        </p:nvSpPr>
        <p:spPr>
          <a:xfrm>
            <a:off x="36576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08 · LEVANTAMENTO</a:t>
            </a:r>
            <a:endParaRPr lang="en-US" sz="12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0A6AC092-E90C-8F99-93CE-74EF00F858A0}"/>
              </a:ext>
            </a:extLst>
          </p:cNvPr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3073F5C2-8419-2650-61A4-3E109FDCBCE6}"/>
              </a:ext>
            </a:extLst>
          </p:cNvPr>
          <p:cNvSpPr/>
          <p:nvPr/>
        </p:nvSpPr>
        <p:spPr>
          <a:xfrm>
            <a:off x="320040" y="12746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0040"/>
                </a:solidFill>
                <a:latin typeface="Graphik" pitchFamily="34" charset="0"/>
                <a:ea typeface="Calibri" pitchFamily="34" charset="-122"/>
                <a:cs typeface="Calibri" pitchFamily="34" charset="-120"/>
              </a:rPr>
              <a:t>Input manual</a:t>
            </a:r>
            <a:endParaRPr lang="en-US" sz="1300" dirty="0"/>
          </a:p>
        </p:txBody>
      </p:sp>
      <p:pic>
        <p:nvPicPr>
          <p:cNvPr id="12" name="Picture 58">
            <a:extLst>
              <a:ext uri="{FF2B5EF4-FFF2-40B4-BE49-F238E27FC236}">
                <a16:creationId xmlns:a16="http://schemas.microsoft.com/office/drawing/2014/main" id="{58E668D0-E84C-104F-5136-34043AF570F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2836"/>
          <a:stretch>
            <a:fillRect/>
          </a:stretch>
        </p:blipFill>
        <p:spPr>
          <a:xfrm>
            <a:off x="767133" y="1460628"/>
            <a:ext cx="4101220" cy="5397372"/>
          </a:xfrm>
          <a:prstGeom prst="rect">
            <a:avLst/>
          </a:prstGeom>
        </p:spPr>
      </p:pic>
      <p:pic>
        <p:nvPicPr>
          <p:cNvPr id="14" name="Picture 60">
            <a:extLst>
              <a:ext uri="{FF2B5EF4-FFF2-40B4-BE49-F238E27FC236}">
                <a16:creationId xmlns:a16="http://schemas.microsoft.com/office/drawing/2014/main" id="{7B92B557-EF90-B4E2-CB08-FB11DB2528E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2698"/>
          <a:stretch>
            <a:fillRect/>
          </a:stretch>
        </p:blipFill>
        <p:spPr>
          <a:xfrm>
            <a:off x="6521569" y="1460628"/>
            <a:ext cx="4074588" cy="5342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1748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61316D-67A1-5974-4BAE-D660C873E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E620079-700A-113F-BEDD-5ADFEF8EFEBA}"/>
              </a:ext>
            </a:extLst>
          </p:cNvPr>
          <p:cNvSpPr/>
          <p:nvPr/>
        </p:nvSpPr>
        <p:spPr>
          <a:xfrm>
            <a:off x="365760" y="29260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2C284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/tmp/claude-0/-workspace-Planejamento/79ba2b6d-20da-5e48-9126-441c472dc123/scratchpad/prio_logo_white.png">
            <a:extLst>
              <a:ext uri="{FF2B5EF4-FFF2-40B4-BE49-F238E27FC236}">
                <a16:creationId xmlns:a16="http://schemas.microsoft.com/office/drawing/2014/main" id="{AD129E74-9975-7983-558F-F7A435FAB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402336"/>
            <a:ext cx="1042416" cy="198425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39A10AB2-E157-861D-1F7E-523E79F59AE3}"/>
              </a:ext>
            </a:extLst>
          </p:cNvPr>
          <p:cNvSpPr/>
          <p:nvPr/>
        </p:nvSpPr>
        <p:spPr>
          <a:xfrm>
            <a:off x="36576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08 · LEVANTAMENTO</a:t>
            </a:r>
            <a:endParaRPr lang="en-US" sz="12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1A1CAEC2-F1CD-CCAB-AB2C-A2E8BE5F6944}"/>
              </a:ext>
            </a:extLst>
          </p:cNvPr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50" dirty="0"/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832C7207-2F7D-0974-FBB4-CD0DC46CB1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040" y="1637393"/>
            <a:ext cx="10451919" cy="5049157"/>
          </a:xfrm>
          <a:prstGeom prst="rect">
            <a:avLst/>
          </a:prstGeom>
        </p:spPr>
      </p:pic>
      <p:sp>
        <p:nvSpPr>
          <p:cNvPr id="11" name="Text 9">
            <a:extLst>
              <a:ext uri="{FF2B5EF4-FFF2-40B4-BE49-F238E27FC236}">
                <a16:creationId xmlns:a16="http://schemas.microsoft.com/office/drawing/2014/main" id="{7F7B3700-DCAC-F388-3A3E-1F451AFD23C3}"/>
              </a:ext>
            </a:extLst>
          </p:cNvPr>
          <p:cNvSpPr/>
          <p:nvPr/>
        </p:nvSpPr>
        <p:spPr>
          <a:xfrm>
            <a:off x="320040" y="12746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1A0040"/>
                </a:solidFill>
                <a:effectLst/>
                <a:uLnTx/>
                <a:uFillTx/>
                <a:latin typeface="Graphik" pitchFamily="34" charset="0"/>
                <a:ea typeface="Calibri" pitchFamily="34" charset="-122"/>
                <a:cs typeface="Calibri" pitchFamily="34" charset="-120"/>
              </a:rPr>
              <a:t>Importação</a:t>
            </a: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A0040"/>
                </a:solidFill>
                <a:effectLst/>
                <a:uLnTx/>
                <a:uFillTx/>
                <a:latin typeface="Graphik" pitchFamily="34" charset="0"/>
                <a:ea typeface="Calibri" pitchFamily="34" charset="-122"/>
                <a:cs typeface="Calibri" pitchFamily="34" charset="-120"/>
              </a:rPr>
              <a:t> do SAP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05360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B5C481-FC7E-D74D-4739-FA0EA4414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76B9A8C-9B13-FA03-463B-B6D845899F1D}"/>
              </a:ext>
            </a:extLst>
          </p:cNvPr>
          <p:cNvSpPr/>
          <p:nvPr/>
        </p:nvSpPr>
        <p:spPr>
          <a:xfrm>
            <a:off x="365760" y="29260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2C284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/tmp/claude-0/-workspace-Planejamento/79ba2b6d-20da-5e48-9126-441c472dc123/scratchpad/prio_logo_white.png">
            <a:extLst>
              <a:ext uri="{FF2B5EF4-FFF2-40B4-BE49-F238E27FC236}">
                <a16:creationId xmlns:a16="http://schemas.microsoft.com/office/drawing/2014/main" id="{91D87BDF-2180-5719-FF6D-8CBAA6233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402336"/>
            <a:ext cx="1042416" cy="198425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A685AFA9-9F2B-C4D6-EF51-291995A6F6BB}"/>
              </a:ext>
            </a:extLst>
          </p:cNvPr>
          <p:cNvSpPr/>
          <p:nvPr/>
        </p:nvSpPr>
        <p:spPr>
          <a:xfrm>
            <a:off x="36576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08 · LEVANTAMENTO</a:t>
            </a:r>
            <a:endParaRPr lang="en-US" sz="12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5DCC1796-EF45-E57D-E90A-D52D35F2FE28}"/>
              </a:ext>
            </a:extLst>
          </p:cNvPr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5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DCEFF8A6-C658-1999-2B13-D692843153DB}"/>
              </a:ext>
            </a:extLst>
          </p:cNvPr>
          <p:cNvSpPr/>
          <p:nvPr/>
        </p:nvSpPr>
        <p:spPr>
          <a:xfrm>
            <a:off x="504338" y="14081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A0040"/>
                </a:solidFill>
                <a:latin typeface="Graphik" pitchFamily="34" charset="0"/>
                <a:ea typeface="Calibri" pitchFamily="34" charset="-122"/>
                <a:cs typeface="Calibri" pitchFamily="34" charset="-120"/>
              </a:rPr>
              <a:t>Telas</a:t>
            </a:r>
            <a:r>
              <a:rPr lang="en-US" sz="1300" b="1" dirty="0">
                <a:solidFill>
                  <a:srgbClr val="1A0040"/>
                </a:solidFill>
                <a:latin typeface="Graphik" pitchFamily="34" charset="0"/>
                <a:ea typeface="Calibri" pitchFamily="34" charset="-122"/>
                <a:cs typeface="Calibri" pitchFamily="34" charset="-120"/>
              </a:rPr>
              <a:t> Leveling</a:t>
            </a:r>
            <a:endParaRPr lang="en-US" sz="1300" dirty="0"/>
          </a:p>
        </p:txBody>
      </p:sp>
      <p:pic>
        <p:nvPicPr>
          <p:cNvPr id="7" name="Picture 54">
            <a:extLst>
              <a:ext uri="{FF2B5EF4-FFF2-40B4-BE49-F238E27FC236}">
                <a16:creationId xmlns:a16="http://schemas.microsoft.com/office/drawing/2014/main" id="{DE2E0E7D-F8CF-AAB9-4D4A-F3568CFA37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361" y="3190193"/>
            <a:ext cx="6445263" cy="3054084"/>
          </a:xfrm>
          <a:prstGeom prst="rect">
            <a:avLst/>
          </a:prstGeom>
        </p:spPr>
      </p:pic>
      <p:pic>
        <p:nvPicPr>
          <p:cNvPr id="10" name="Picture 55">
            <a:extLst>
              <a:ext uri="{FF2B5EF4-FFF2-40B4-BE49-F238E27FC236}">
                <a16:creationId xmlns:a16="http://schemas.microsoft.com/office/drawing/2014/main" id="{0FD904C6-26D2-49C0-EE0C-472BCBE16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7560" y="1556788"/>
            <a:ext cx="6530102" cy="3084228"/>
          </a:xfrm>
          <a:prstGeom prst="rect">
            <a:avLst/>
          </a:prstGeom>
        </p:spPr>
      </p:pic>
      <p:pic>
        <p:nvPicPr>
          <p:cNvPr id="12" name="Picture 57">
            <a:extLst>
              <a:ext uri="{FF2B5EF4-FFF2-40B4-BE49-F238E27FC236}">
                <a16:creationId xmlns:a16="http://schemas.microsoft.com/office/drawing/2014/main" id="{3DF33741-35B0-9443-F0A3-7527F66D5E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7200" y="4883798"/>
            <a:ext cx="1301104" cy="1368791"/>
          </a:xfrm>
          <a:prstGeom prst="rect">
            <a:avLst/>
          </a:prstGeom>
        </p:spPr>
      </p:pic>
      <p:cxnSp>
        <p:nvCxnSpPr>
          <p:cNvPr id="13" name="Connector: Elbow 59">
            <a:extLst>
              <a:ext uri="{FF2B5EF4-FFF2-40B4-BE49-F238E27FC236}">
                <a16:creationId xmlns:a16="http://schemas.microsoft.com/office/drawing/2014/main" id="{0240091A-558B-307D-1289-F94322E9E30D}"/>
              </a:ext>
            </a:extLst>
          </p:cNvPr>
          <p:cNvCxnSpPr>
            <a:endCxn id="12" idx="1"/>
          </p:cNvCxnSpPr>
          <p:nvPr/>
        </p:nvCxnSpPr>
        <p:spPr>
          <a:xfrm rot="16200000" flipH="1">
            <a:off x="6996084" y="4487077"/>
            <a:ext cx="1921227" cy="241005"/>
          </a:xfrm>
          <a:prstGeom prst="bentConnector2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15832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6729FB-35C5-5297-B3E4-5A449F908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255472E-AA71-115D-14A2-A60B9AB82CDA}"/>
              </a:ext>
            </a:extLst>
          </p:cNvPr>
          <p:cNvSpPr/>
          <p:nvPr/>
        </p:nvSpPr>
        <p:spPr>
          <a:xfrm>
            <a:off x="365760" y="29260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2C284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/tmp/claude-0/-workspace-Planejamento/79ba2b6d-20da-5e48-9126-441c472dc123/scratchpad/prio_logo_white.png">
            <a:extLst>
              <a:ext uri="{FF2B5EF4-FFF2-40B4-BE49-F238E27FC236}">
                <a16:creationId xmlns:a16="http://schemas.microsoft.com/office/drawing/2014/main" id="{DD39AB9F-0BC3-2CBC-CB1F-BEB6F8467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402336"/>
            <a:ext cx="1042416" cy="198425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9792BCB3-75CD-4609-7378-FB466EE7B4BB}"/>
              </a:ext>
            </a:extLst>
          </p:cNvPr>
          <p:cNvSpPr/>
          <p:nvPr/>
        </p:nvSpPr>
        <p:spPr>
          <a:xfrm>
            <a:off x="36576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08 · LEVANTAMENTO</a:t>
            </a:r>
            <a:endParaRPr lang="en-US" sz="12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BFCA6E0C-F7D1-877C-8C38-F77FB8E62404}"/>
              </a:ext>
            </a:extLst>
          </p:cNvPr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50" dirty="0"/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2A6ADFBD-569E-C623-6501-9B8D77B82455}"/>
              </a:ext>
            </a:extLst>
          </p:cNvPr>
          <p:cNvSpPr/>
          <p:nvPr/>
        </p:nvSpPr>
        <p:spPr>
          <a:xfrm>
            <a:off x="504338" y="14081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0040"/>
                </a:solidFill>
                <a:latin typeface="Graphik" pitchFamily="34" charset="0"/>
                <a:ea typeface="Calibri" pitchFamily="34" charset="-122"/>
                <a:cs typeface="Calibri" pitchFamily="34" charset="-120"/>
              </a:rPr>
              <a:t>Tela Challenge</a:t>
            </a:r>
            <a:endParaRPr lang="en-US" sz="1300" dirty="0"/>
          </a:p>
        </p:txBody>
      </p:sp>
      <p:pic>
        <p:nvPicPr>
          <p:cNvPr id="11" name="Picture 62">
            <a:extLst>
              <a:ext uri="{FF2B5EF4-FFF2-40B4-BE49-F238E27FC236}">
                <a16:creationId xmlns:a16="http://schemas.microsoft.com/office/drawing/2014/main" id="{CF57D9CC-8B71-30F3-177F-872D3DA3D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636" y="1854300"/>
            <a:ext cx="5880289" cy="2894205"/>
          </a:xfrm>
          <a:prstGeom prst="rect">
            <a:avLst/>
          </a:prstGeom>
        </p:spPr>
      </p:pic>
      <p:pic>
        <p:nvPicPr>
          <p:cNvPr id="14" name="Picture 61">
            <a:extLst>
              <a:ext uri="{FF2B5EF4-FFF2-40B4-BE49-F238E27FC236}">
                <a16:creationId xmlns:a16="http://schemas.microsoft.com/office/drawing/2014/main" id="{603C84AA-552B-17C9-FC7A-68D1AC29B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951" y="1854300"/>
            <a:ext cx="5740412" cy="2825359"/>
          </a:xfrm>
          <a:prstGeom prst="rect">
            <a:avLst/>
          </a:prstGeom>
        </p:spPr>
      </p:pic>
      <p:pic>
        <p:nvPicPr>
          <p:cNvPr id="15" name="Picture 67">
            <a:extLst>
              <a:ext uri="{FF2B5EF4-FFF2-40B4-BE49-F238E27FC236}">
                <a16:creationId xmlns:a16="http://schemas.microsoft.com/office/drawing/2014/main" id="{B24457A5-9873-7C25-A09E-14D6A58E77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9379" y="4938597"/>
            <a:ext cx="1850810" cy="1559057"/>
          </a:xfrm>
          <a:prstGeom prst="rect">
            <a:avLst/>
          </a:prstGeom>
        </p:spPr>
      </p:pic>
      <p:cxnSp>
        <p:nvCxnSpPr>
          <p:cNvPr id="16" name="Connector: Elbow 69">
            <a:extLst>
              <a:ext uri="{FF2B5EF4-FFF2-40B4-BE49-F238E27FC236}">
                <a16:creationId xmlns:a16="http://schemas.microsoft.com/office/drawing/2014/main" id="{90960940-E9EB-06A7-C58F-8FD539504BE5}"/>
              </a:ext>
            </a:extLst>
          </p:cNvPr>
          <p:cNvCxnSpPr>
            <a:cxnSpLocks/>
            <a:endCxn id="15" idx="1"/>
          </p:cNvCxnSpPr>
          <p:nvPr/>
        </p:nvCxnSpPr>
        <p:spPr>
          <a:xfrm rot="16200000" flipH="1">
            <a:off x="1652386" y="4941132"/>
            <a:ext cx="1038467" cy="515519"/>
          </a:xfrm>
          <a:prstGeom prst="bentConnector2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88399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3D5E70-BA41-3A76-E572-589993113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85CF3F8-FC90-0D6E-39D7-29F26DEEE7C5}"/>
              </a:ext>
            </a:extLst>
          </p:cNvPr>
          <p:cNvSpPr/>
          <p:nvPr/>
        </p:nvSpPr>
        <p:spPr>
          <a:xfrm>
            <a:off x="365760" y="29260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2C284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/tmp/claude-0/-workspace-Planejamento/79ba2b6d-20da-5e48-9126-441c472dc123/scratchpad/prio_logo_white.png">
            <a:extLst>
              <a:ext uri="{FF2B5EF4-FFF2-40B4-BE49-F238E27FC236}">
                <a16:creationId xmlns:a16="http://schemas.microsoft.com/office/drawing/2014/main" id="{C70A54EE-ADDA-6601-771D-223BEA71B4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402336"/>
            <a:ext cx="1042416" cy="198425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EA5BDD82-4E5D-D40C-A1A4-9FBCCEB83678}"/>
              </a:ext>
            </a:extLst>
          </p:cNvPr>
          <p:cNvSpPr/>
          <p:nvPr/>
        </p:nvSpPr>
        <p:spPr>
          <a:xfrm>
            <a:off x="36576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08 · LEVANTAMENTO</a:t>
            </a:r>
            <a:endParaRPr lang="en-US" sz="12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DB08EE54-4D9F-C62D-C484-CBD8E5187892}"/>
              </a:ext>
            </a:extLst>
          </p:cNvPr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850" dirty="0"/>
          </a:p>
        </p:txBody>
      </p:sp>
      <p:pic>
        <p:nvPicPr>
          <p:cNvPr id="7" name="Picture 35">
            <a:extLst>
              <a:ext uri="{FF2B5EF4-FFF2-40B4-BE49-F238E27FC236}">
                <a16:creationId xmlns:a16="http://schemas.microsoft.com/office/drawing/2014/main" id="{C11DDF51-48F3-6F85-92D4-EFA8104CA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111086"/>
            <a:ext cx="7053419" cy="3344578"/>
          </a:xfrm>
          <a:prstGeom prst="rect">
            <a:avLst/>
          </a:prstGeom>
        </p:spPr>
      </p:pic>
      <p:sp>
        <p:nvSpPr>
          <p:cNvPr id="10" name="Text 9">
            <a:extLst>
              <a:ext uri="{FF2B5EF4-FFF2-40B4-BE49-F238E27FC236}">
                <a16:creationId xmlns:a16="http://schemas.microsoft.com/office/drawing/2014/main" id="{8D592044-77A4-EE86-9095-46A40E2C20F9}"/>
              </a:ext>
            </a:extLst>
          </p:cNvPr>
          <p:cNvSpPr/>
          <p:nvPr/>
        </p:nvSpPr>
        <p:spPr>
          <a:xfrm>
            <a:off x="504338" y="14081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A0040"/>
                </a:solidFill>
                <a:latin typeface="Graphik" pitchFamily="34" charset="0"/>
                <a:ea typeface="Calibri" pitchFamily="34" charset="-122"/>
                <a:cs typeface="Calibri" pitchFamily="34" charset="-120"/>
              </a:rPr>
              <a:t>Telas</a:t>
            </a:r>
            <a:r>
              <a:rPr lang="en-US" sz="1300" b="1" dirty="0">
                <a:solidFill>
                  <a:srgbClr val="1A0040"/>
                </a:solidFill>
                <a:latin typeface="Graphik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1A0040"/>
                </a:solidFill>
                <a:latin typeface="Graphik" pitchFamily="34" charset="0"/>
                <a:ea typeface="Calibri" pitchFamily="34" charset="-122"/>
                <a:cs typeface="Calibri" pitchFamily="34" charset="-120"/>
              </a:rPr>
              <a:t>Aprovação</a:t>
            </a:r>
            <a:endParaRPr lang="en-US" sz="1300" dirty="0"/>
          </a:p>
        </p:txBody>
      </p:sp>
      <p:pic>
        <p:nvPicPr>
          <p:cNvPr id="13" name="Picture 47">
            <a:extLst>
              <a:ext uri="{FF2B5EF4-FFF2-40B4-BE49-F238E27FC236}">
                <a16:creationId xmlns:a16="http://schemas.microsoft.com/office/drawing/2014/main" id="{8D48780C-0225-1943-8661-7B6A45DB7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5793" y="1371600"/>
            <a:ext cx="6335687" cy="3000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7561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2C284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/tmp/claude-0/-workspace-Planejamento/79ba2b6d-20da-5e48-9126-441c472dc123/scratchpad/prio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402336"/>
            <a:ext cx="1042416" cy="1984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09 · CONSOLIDAÇÃO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65760" y="1115568"/>
            <a:ext cx="11457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escopo priorizado ao plano aprovado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365760" y="1700784"/>
            <a:ext cx="11457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Coordenador confronta prioridade com diretriz estratégica; o resultado é alinhado com os Gerentes Executivos antes de virar plano de POB e custo.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65760" y="2377440"/>
            <a:ext cx="2145182" cy="3657600"/>
          </a:xfrm>
          <a:prstGeom prst="roundRect">
            <a:avLst>
              <a:gd name="adj" fmla="val 2131"/>
            </a:avLst>
          </a:prstGeom>
          <a:solidFill>
            <a:srgbClr val="FFFFFF"/>
          </a:solidFill>
          <a:ln w="12700">
            <a:solidFill>
              <a:srgbClr val="E1DDEC"/>
            </a:solidFill>
            <a:prstDash val="solid"/>
          </a:ln>
          <a:effectLst>
            <a:outerShdw blurRad="76200" dist="25400" dir="5400000" algn="bl" rotWithShape="0">
              <a:srgbClr val="2C2849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548640" y="2560320"/>
            <a:ext cx="420624" cy="420624"/>
          </a:xfrm>
          <a:prstGeom prst="ellipse">
            <a:avLst/>
          </a:prstGeom>
          <a:solidFill>
            <a:srgbClr val="2C28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548640" y="2560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3090672"/>
            <a:ext cx="177942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Crivo do Coordenador / Gerente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3675888"/>
            <a:ext cx="1779422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solicitação priorizada é avaliada pelo Coordenador do ativo, que aprova, recusa ou devolve para ajuste com base na prioridade e na diretriz estratégica.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" y="5577840"/>
            <a:ext cx="1779422" cy="292608"/>
          </a:xfrm>
          <a:prstGeom prst="roundRect">
            <a:avLst>
              <a:gd name="adj" fmla="val 50000"/>
            </a:avLst>
          </a:prstGeom>
          <a:solidFill>
            <a:srgbClr val="F8F7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1792" y="5577840"/>
            <a:ext cx="16331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Coordenador de Operações</a:t>
            </a:r>
            <a:endParaRPr lang="en-US" sz="830" dirty="0"/>
          </a:p>
        </p:txBody>
      </p:sp>
      <p:sp>
        <p:nvSpPr>
          <p:cNvPr id="14" name="Text 11"/>
          <p:cNvSpPr/>
          <p:nvPr/>
        </p:nvSpPr>
        <p:spPr>
          <a:xfrm>
            <a:off x="2510942" y="4041648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1D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693822" y="2377440"/>
            <a:ext cx="2145182" cy="3657600"/>
          </a:xfrm>
          <a:prstGeom prst="roundRect">
            <a:avLst>
              <a:gd name="adj" fmla="val 2131"/>
            </a:avLst>
          </a:prstGeom>
          <a:solidFill>
            <a:srgbClr val="FFFFFF"/>
          </a:solidFill>
          <a:ln w="12700">
            <a:solidFill>
              <a:srgbClr val="E1DDEC"/>
            </a:solidFill>
            <a:prstDash val="solid"/>
          </a:ln>
          <a:effectLst>
            <a:outerShdw blurRad="76200" dist="25400" dir="5400000" algn="bl" rotWithShape="0">
              <a:srgbClr val="2C2849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2876702" y="2560320"/>
            <a:ext cx="420624" cy="420624"/>
          </a:xfrm>
          <a:prstGeom prst="ellipse">
            <a:avLst/>
          </a:prstGeom>
          <a:solidFill>
            <a:srgbClr val="2C28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2876702" y="2560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2876702" y="3090672"/>
            <a:ext cx="177942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com Gerentes Executivos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2876702" y="3675888"/>
            <a:ext cx="1779422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V0 já aprovada pelo Coordenador, o Eng. Planejamento apresenta o plano ao OIM e aos Gerentes Executivos para discussão e alinhamento.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876702" y="5577840"/>
            <a:ext cx="1779422" cy="292608"/>
          </a:xfrm>
          <a:prstGeom prst="roundRect">
            <a:avLst>
              <a:gd name="adj" fmla="val 50000"/>
            </a:avLst>
          </a:prstGeom>
          <a:solidFill>
            <a:srgbClr val="F8F7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2949854" y="5577840"/>
            <a:ext cx="16331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Planejamento / Gerentes / OIM</a:t>
            </a:r>
            <a:endParaRPr lang="en-US" sz="830" dirty="0"/>
          </a:p>
        </p:txBody>
      </p:sp>
      <p:sp>
        <p:nvSpPr>
          <p:cNvPr id="22" name="Text 19"/>
          <p:cNvSpPr/>
          <p:nvPr/>
        </p:nvSpPr>
        <p:spPr>
          <a:xfrm>
            <a:off x="4839005" y="4041648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1D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021885" y="2377440"/>
            <a:ext cx="2145182" cy="3657600"/>
          </a:xfrm>
          <a:prstGeom prst="roundRect">
            <a:avLst>
              <a:gd name="adj" fmla="val 2131"/>
            </a:avLst>
          </a:prstGeom>
          <a:solidFill>
            <a:srgbClr val="FFFFFF"/>
          </a:solidFill>
          <a:ln w="12700">
            <a:solidFill>
              <a:srgbClr val="E1DDEC"/>
            </a:solidFill>
            <a:prstDash val="solid"/>
          </a:ln>
          <a:effectLst>
            <a:outerShdw blurRad="76200" dist="25400" dir="5400000" algn="bl" rotWithShape="0">
              <a:srgbClr val="2C2849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21"/>
          <p:cNvSpPr/>
          <p:nvPr/>
        </p:nvSpPr>
        <p:spPr>
          <a:xfrm>
            <a:off x="5204765" y="2560320"/>
            <a:ext cx="420624" cy="420624"/>
          </a:xfrm>
          <a:prstGeom prst="ellipse">
            <a:avLst/>
          </a:prstGeom>
          <a:solidFill>
            <a:srgbClr val="2C28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5204765" y="2560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5204765" y="3090672"/>
            <a:ext cx="177942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Nivelamento de capacidade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204765" y="3675888"/>
            <a:ext cx="1779422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plano aprovado é nivelado contra a capacidade de POB/dia do ativo, sinalizando meses acima da capacidade ou subutilizados.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204765" y="5577840"/>
            <a:ext cx="1779422" cy="292608"/>
          </a:xfrm>
          <a:prstGeom prst="roundRect">
            <a:avLst>
              <a:gd name="adj" fmla="val 50000"/>
            </a:avLst>
          </a:prstGeom>
          <a:solidFill>
            <a:srgbClr val="F8F7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6"/>
          <p:cNvSpPr/>
          <p:nvPr/>
        </p:nvSpPr>
        <p:spPr>
          <a:xfrm>
            <a:off x="5277917" y="5577840"/>
            <a:ext cx="16331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Planejamento</a:t>
            </a:r>
            <a:endParaRPr lang="en-US" sz="830" dirty="0"/>
          </a:p>
        </p:txBody>
      </p:sp>
      <p:sp>
        <p:nvSpPr>
          <p:cNvPr id="30" name="Text 27"/>
          <p:cNvSpPr/>
          <p:nvPr/>
        </p:nvSpPr>
        <p:spPr>
          <a:xfrm>
            <a:off x="7167067" y="4041648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1D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7349947" y="2377440"/>
            <a:ext cx="2145182" cy="3657600"/>
          </a:xfrm>
          <a:prstGeom prst="roundRect">
            <a:avLst>
              <a:gd name="adj" fmla="val 2131"/>
            </a:avLst>
          </a:prstGeom>
          <a:solidFill>
            <a:srgbClr val="FFFFFF"/>
          </a:solidFill>
          <a:ln w="12700">
            <a:solidFill>
              <a:srgbClr val="E1DDEC"/>
            </a:solidFill>
            <a:prstDash val="solid"/>
          </a:ln>
          <a:effectLst>
            <a:outerShdw blurRad="76200" dist="25400" dir="5400000" algn="bl" rotWithShape="0">
              <a:srgbClr val="2C2849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2" name="Shape 29"/>
          <p:cNvSpPr/>
          <p:nvPr/>
        </p:nvSpPr>
        <p:spPr>
          <a:xfrm>
            <a:off x="7532827" y="2560320"/>
            <a:ext cx="420624" cy="420624"/>
          </a:xfrm>
          <a:prstGeom prst="ellipse">
            <a:avLst/>
          </a:prstGeom>
          <a:solidFill>
            <a:srgbClr val="2C28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0"/>
          <p:cNvSpPr/>
          <p:nvPr/>
        </p:nvSpPr>
        <p:spPr>
          <a:xfrm>
            <a:off x="7532827" y="2560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7532827" y="3090672"/>
            <a:ext cx="177942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POB + Custo</a:t>
            </a:r>
            <a:endParaRPr lang="en-US" sz="1250" dirty="0"/>
          </a:p>
        </p:txBody>
      </p:sp>
      <p:sp>
        <p:nvSpPr>
          <p:cNvPr id="35" name="Text 32"/>
          <p:cNvSpPr/>
          <p:nvPr/>
        </p:nvSpPr>
        <p:spPr>
          <a:xfrm>
            <a:off x="7532827" y="3675888"/>
            <a:ext cx="1779422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final por ativo/ano: POB total, custo de material e serviço, e a divisão CAPEX × OPEX resultante.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7532827" y="5577840"/>
            <a:ext cx="1779422" cy="292608"/>
          </a:xfrm>
          <a:prstGeom prst="roundRect">
            <a:avLst>
              <a:gd name="adj" fmla="val 50000"/>
            </a:avLst>
          </a:prstGeom>
          <a:solidFill>
            <a:srgbClr val="F8F7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4"/>
          <p:cNvSpPr/>
          <p:nvPr/>
        </p:nvSpPr>
        <p:spPr>
          <a:xfrm>
            <a:off x="7605979" y="5577840"/>
            <a:ext cx="16331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consolidada</a:t>
            </a:r>
            <a:endParaRPr lang="en-US" sz="830" dirty="0"/>
          </a:p>
        </p:txBody>
      </p:sp>
      <p:sp>
        <p:nvSpPr>
          <p:cNvPr id="38" name="Text 35"/>
          <p:cNvSpPr/>
          <p:nvPr/>
        </p:nvSpPr>
        <p:spPr>
          <a:xfrm>
            <a:off x="9495130" y="4041648"/>
            <a:ext cx="182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1D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9678010" y="2377440"/>
            <a:ext cx="2145182" cy="3657600"/>
          </a:xfrm>
          <a:prstGeom prst="roundRect">
            <a:avLst>
              <a:gd name="adj" fmla="val 2131"/>
            </a:avLst>
          </a:prstGeom>
          <a:solidFill>
            <a:srgbClr val="FFFFFF"/>
          </a:solidFill>
          <a:ln w="12700">
            <a:solidFill>
              <a:srgbClr val="E1DDEC"/>
            </a:solidFill>
            <a:prstDash val="solid"/>
          </a:ln>
          <a:effectLst>
            <a:outerShdw blurRad="76200" dist="25400" dir="5400000" algn="bl" rotWithShape="0">
              <a:srgbClr val="2C2849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0" name="Shape 37"/>
          <p:cNvSpPr/>
          <p:nvPr/>
        </p:nvSpPr>
        <p:spPr>
          <a:xfrm>
            <a:off x="9860890" y="2560320"/>
            <a:ext cx="420624" cy="420624"/>
          </a:xfrm>
          <a:prstGeom prst="ellipse">
            <a:avLst/>
          </a:prstGeom>
          <a:solidFill>
            <a:srgbClr val="2C28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Text 38"/>
          <p:cNvSpPr/>
          <p:nvPr/>
        </p:nvSpPr>
        <p:spPr>
          <a:xfrm>
            <a:off x="9860890" y="2560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2" name="Text 39"/>
          <p:cNvSpPr/>
          <p:nvPr/>
        </p:nvSpPr>
        <p:spPr>
          <a:xfrm>
            <a:off x="9860890" y="3090672"/>
            <a:ext cx="177942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Versionamento</a:t>
            </a:r>
            <a:endParaRPr lang="en-US" sz="1250" dirty="0"/>
          </a:p>
        </p:txBody>
      </p:sp>
      <p:sp>
        <p:nvSpPr>
          <p:cNvPr id="43" name="Text 40"/>
          <p:cNvSpPr/>
          <p:nvPr/>
        </p:nvSpPr>
        <p:spPr>
          <a:xfrm>
            <a:off x="9860890" y="3675888"/>
            <a:ext cx="1779422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plano evolui em versões (V0 Leveling &amp; Challenge → V0 aprovada → V2 Revisão → VF Oficial), rastreadas ao longo do processo.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9860890" y="5577840"/>
            <a:ext cx="1779422" cy="292608"/>
          </a:xfrm>
          <a:prstGeom prst="roundRect">
            <a:avLst>
              <a:gd name="adj" fmla="val 50000"/>
            </a:avLst>
          </a:prstGeom>
          <a:solidFill>
            <a:srgbClr val="F8F7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42"/>
          <p:cNvSpPr/>
          <p:nvPr/>
        </p:nvSpPr>
        <p:spPr>
          <a:xfrm>
            <a:off x="9934042" y="5577840"/>
            <a:ext cx="16331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 → V2 → VF</a:t>
            </a:r>
            <a:endParaRPr lang="en-US" sz="830" dirty="0"/>
          </a:p>
        </p:txBody>
      </p:sp>
      <p:sp>
        <p:nvSpPr>
          <p:cNvPr id="47" name="Text 44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2C2849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/tmp/claude-0/-workspace-Planejamento/79ba2b6d-20da-5e48-9126-441c472dc123/scratchpad/prio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402336"/>
            <a:ext cx="1042416" cy="1984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8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10 · TREINAMENTOS POR ÁREA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65760" y="1115568"/>
            <a:ext cx="11457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capacitação, por área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365760" y="1700784"/>
            <a:ext cx="11457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dia tem uma sessão da manhã e uma da tarde, para públicos diferentes. Dados da Agenda de Treinamentos oficial.</a:t>
            </a:r>
            <a:endParaRPr lang="en-US" sz="12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286000"/>
          <a:ext cx="11457432" cy="306324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0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09h–11h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16h–18h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87D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Responsável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87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25/08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Convite Operações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Eng. Planejamento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26/08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Convite Engenheiros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Eng. Planejamento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27/08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Convite Livre / Toda a PRIO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de Bordo / Todos os ativos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Eng. Planejamento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27/08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Manutenção e Confiabilidade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Integridade e Naval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Eng. Planejamento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28/08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Projetos / Processos e Químicos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Construção e 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Eng. Planejamento / Accenture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31/08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SMS: Ocupacional, Processos, Saúde e Qualidade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Suporte Técnico e Trading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Eng. Planejamento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01/09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 3º/4º andar — Comunicação, BPs, TI, Log Marítima e Pessoas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 3º/4º andar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Eng. Planejamento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0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02/09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28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Eng. Planejamento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D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7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5440680"/>
            <a:ext cx="11457432" cy="914400"/>
          </a:xfrm>
          <a:prstGeom prst="roundRect">
            <a:avLst>
              <a:gd name="adj" fmla="val 4000"/>
            </a:avLst>
          </a:prstGeom>
          <a:solidFill>
            <a:srgbClr val="F2834B">
              <a:alpha val="12000"/>
            </a:srgbClr>
          </a:solidFill>
          <a:ln w="12700">
            <a:solidFill>
              <a:srgbClr val="F2834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5"/>
          <p:cNvSpPr/>
          <p:nvPr/>
        </p:nvSpPr>
        <p:spPr>
          <a:xfrm>
            <a:off x="566928" y="558698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28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sem sessão dedicada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566928" y="5916168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Medição Fiscal, Parada Programada, Reservatório/Produção (GP) e Desenvolvimento da Produção não aparecem em nenhum dia específico — podem estar cobertas pela sessão "Geral" de 02/09, ou precisar de horário próprio a confirmar.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66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9787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389120"/>
            <a:ext cx="4937760" cy="4937760"/>
          </a:xfrm>
          <a:prstGeom prst="ellipse">
            <a:avLst/>
          </a:prstGeom>
          <a:solidFill>
            <a:srgbClr val="2C2849">
              <a:alpha val="18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/tmp/claude-0/-workspace-Planejamento/79ba2b6d-20da-5e48-9126-441c472dc123/scratchpad/prio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1737360" cy="3310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A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apoio à reunião de processo — Diretoria de Operações PRIO · rascunho para validação, não é uma versão oficial do plano.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2977</Words>
  <Application>Microsoft Office PowerPoint</Application>
  <PresentationFormat>Widescreen</PresentationFormat>
  <Paragraphs>604</Paragraphs>
  <Slides>23</Slides>
  <Notes>23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</vt:lpstr>
      <vt:lpstr>Calibri</vt:lpstr>
      <vt:lpstr>Graphik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Planejamento Integrado — Operações Topside</dc:title>
  <dc:subject>PptxGenJS Presentation</dc:subject>
  <dc:creator>Coordenação de Planejamento</dc:creator>
  <cp:lastModifiedBy>Lucas Ribas de Andrade</cp:lastModifiedBy>
  <cp:revision>14</cp:revision>
  <dcterms:created xsi:type="dcterms:W3CDTF">2026-08-25T15:57:47Z</dcterms:created>
  <dcterms:modified xsi:type="dcterms:W3CDTF">2026-08-25T17:29:14Z</dcterms:modified>
</cp:coreProperties>
</file>