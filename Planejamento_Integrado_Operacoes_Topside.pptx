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</p:sp>
      <p:pic>
        <p:nvPicPr>
          <p:cNvPr id="4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15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6F7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Treze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As 5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Matriz Prioridade × Esforço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Onde investir esforço primeiro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05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Matriz de priorização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Como pontuamos cada escopo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5760" y="523494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65760" y="5234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50976" y="518007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Critérios da matriz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950976" y="546354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que está por trás da nota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5815584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65760" y="5815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07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57607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Papéis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604418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Quem solicita, nivela, aprova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08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15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09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10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11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12</a:t>
            </a:r>
            <a:endParaRPr lang="en-US" sz="1400" dirty="0"/>
          </a:p>
        </p:txBody>
      </p:sp>
      <p:sp>
        <p:nvSpPr>
          <p:cNvPr id="53" name="Text 50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Pendências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que falta validar antes do padrão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523494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355080" y="5234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13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518007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546354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O processo tem cinco 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76702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7" name="Text 14"/>
          <p:cNvSpPr/>
          <p:nvPr/>
        </p:nvSpPr>
        <p:spPr>
          <a:xfrm>
            <a:off x="2876702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204765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5" name="Text 22"/>
          <p:cNvSpPr/>
          <p:nvPr/>
        </p:nvSpPr>
        <p:spPr>
          <a:xfrm>
            <a:off x="5204765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532827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33" name="Text 30"/>
          <p:cNvSpPr/>
          <p:nvPr/>
        </p:nvSpPr>
        <p:spPr>
          <a:xfrm>
            <a:off x="7532827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986089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41" name="Text 38"/>
          <p:cNvSpPr/>
          <p:nvPr/>
        </p:nvSpPr>
        <p:spPr>
          <a:xfrm>
            <a:off x="986089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Aprovação &amp; divulgação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e aprovam (V2); o plano final (VF) é enviado e divulgado a todas as áreas.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46" name="Text 43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cada área, em cada unidade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Mesmo modelo de segregação por departamento do Plano de Desenvolvimento. Estrutura em branco — nomes a preencher pelas coordenações.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40280"/>
          <a:ext cx="11457432" cy="4160520"/>
        </p:xfrm>
        <a:graphic>
          <a:graphicData uri="http://schemas.openxmlformats.org/drawingml/2006/table">
            <a:tbl>
              <a:tblPr/>
              <a:tblGrid>
                <a:gridCol w="3044952"/>
                <a:gridCol w="2103120"/>
                <a:gridCol w="2103120"/>
                <a:gridCol w="2103120"/>
                <a:gridCol w="2103120"/>
              </a:tblGrid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ABL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Cluster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Frade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Coordenador de Operações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 e TA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 (estrutural)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/ Sustentabilidade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e Químicos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 e Trading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Reservatório / Produção (GP)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Logística Marítima e Log de Pessoas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Comunicação, BPs, TI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578608"/>
            <a:ext cx="11457432" cy="0"/>
          </a:xfrm>
          <a:prstGeom prst="line">
            <a:avLst/>
          </a:prstGeom>
          <a:noFill/>
          <a:ln w="12700">
            <a:solidFill>
              <a:srgbClr val="E1DD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5760" y="260604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Comunicação &amp; divulgação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98214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16068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33922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51776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69630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587484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05338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6080" y="2658618"/>
            <a:ext cx="1026414" cy="274320"/>
          </a:xfrm>
          <a:prstGeom prst="roundRect">
            <a:avLst>
              <a:gd name="adj" fmla="val 100000"/>
            </a:avLst>
          </a:prstGeom>
          <a:solidFill>
            <a:srgbClr val="10A9FF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" y="304038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Treinamento (macro + intensivo)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98214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116068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33922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51776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469630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587484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05338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926080" y="3092958"/>
            <a:ext cx="2144268" cy="274320"/>
          </a:xfrm>
          <a:prstGeom prst="roundRect">
            <a:avLst>
              <a:gd name="adj" fmla="val 100000"/>
            </a:avLst>
          </a:prstGeom>
          <a:solidFill>
            <a:srgbClr val="10A9FF"/>
          </a:solidFill>
          <a:ln/>
        </p:spPr>
      </p:sp>
      <p:sp>
        <p:nvSpPr>
          <p:cNvPr id="36" name="Text 33"/>
          <p:cNvSpPr/>
          <p:nvPr/>
        </p:nvSpPr>
        <p:spPr>
          <a:xfrm>
            <a:off x="365760" y="347472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Building — preenchimento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2880360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998214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116068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233922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351776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469630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587484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705338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926080" y="3527298"/>
            <a:ext cx="3262122" cy="274320"/>
          </a:xfrm>
          <a:prstGeom prst="roundRect">
            <a:avLst>
              <a:gd name="adj" fmla="val 100000"/>
            </a:avLst>
          </a:prstGeom>
          <a:solidFill>
            <a:srgbClr val="10A9FF"/>
          </a:solidFill>
          <a:ln/>
        </p:spPr>
      </p:sp>
      <p:sp>
        <p:nvSpPr>
          <p:cNvPr id="46" name="Shape 43"/>
          <p:cNvSpPr/>
          <p:nvPr/>
        </p:nvSpPr>
        <p:spPr>
          <a:xfrm>
            <a:off x="6105906" y="3536442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105906" y="35364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365760" y="390906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Leveling &amp; Challenge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998214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16068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233922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351776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69630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587484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705338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279642" y="3961638"/>
            <a:ext cx="1026414" cy="274320"/>
          </a:xfrm>
          <a:prstGeom prst="roundRect">
            <a:avLst>
              <a:gd name="adj" fmla="val 100000"/>
            </a:avLst>
          </a:prstGeom>
          <a:solidFill>
            <a:srgbClr val="10A9FF"/>
          </a:solidFill>
          <a:ln/>
        </p:spPr>
      </p:sp>
      <p:sp>
        <p:nvSpPr>
          <p:cNvPr id="58" name="Text 55"/>
          <p:cNvSpPr/>
          <p:nvPr/>
        </p:nvSpPr>
        <p:spPr>
          <a:xfrm>
            <a:off x="365760" y="434340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Gerencial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880360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3998214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16068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233922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51776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469630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587484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705338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279642" y="4395978"/>
            <a:ext cx="2144268" cy="274320"/>
          </a:xfrm>
          <a:prstGeom prst="roundRect">
            <a:avLst>
              <a:gd name="adj" fmla="val 100000"/>
            </a:avLst>
          </a:prstGeom>
          <a:solidFill>
            <a:srgbClr val="10A9FF"/>
          </a:solidFill>
          <a:ln/>
        </p:spPr>
      </p:sp>
      <p:sp>
        <p:nvSpPr>
          <p:cNvPr id="68" name="Text 65"/>
          <p:cNvSpPr/>
          <p:nvPr/>
        </p:nvSpPr>
        <p:spPr>
          <a:xfrm>
            <a:off x="365760" y="477774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Revisar — aprovação V0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2880360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3998214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116068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233922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351776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469630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9587484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705338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7397496" y="4830318"/>
            <a:ext cx="1026414" cy="274320"/>
          </a:xfrm>
          <a:prstGeom prst="roundRect">
            <a:avLst>
              <a:gd name="adj" fmla="val 100000"/>
            </a:avLst>
          </a:prstGeom>
          <a:solidFill>
            <a:srgbClr val="F2834B"/>
          </a:solidFill>
          <a:ln/>
        </p:spPr>
      </p:sp>
      <p:sp>
        <p:nvSpPr>
          <p:cNvPr id="78" name="Text 75"/>
          <p:cNvSpPr/>
          <p:nvPr/>
        </p:nvSpPr>
        <p:spPr>
          <a:xfrm>
            <a:off x="365760" y="521208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Ajustes do plano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2880360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998214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5116068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6233922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351776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469630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9587484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10705338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397496" y="5264658"/>
            <a:ext cx="3262122" cy="274320"/>
          </a:xfrm>
          <a:prstGeom prst="roundRect">
            <a:avLst>
              <a:gd name="adj" fmla="val 100000"/>
            </a:avLst>
          </a:prstGeom>
          <a:solidFill>
            <a:srgbClr val="10A9FF"/>
          </a:solidFill>
          <a:ln/>
        </p:spPr>
      </p:sp>
      <p:sp>
        <p:nvSpPr>
          <p:cNvPr id="88" name="Text 85"/>
          <p:cNvSpPr/>
          <p:nvPr/>
        </p:nvSpPr>
        <p:spPr>
          <a:xfrm>
            <a:off x="365760" y="564642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 Approval — envio do plano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12/10</a:t>
            </a:r>
            <a:endParaRPr lang="en-US" sz="1000" dirty="0"/>
          </a:p>
        </p:txBody>
      </p:sp>
      <p:sp>
        <p:nvSpPr>
          <p:cNvPr id="89" name="Shape 86"/>
          <p:cNvSpPr/>
          <p:nvPr/>
        </p:nvSpPr>
        <p:spPr>
          <a:xfrm>
            <a:off x="2880360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3998214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5116068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6233922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7351776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8469630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9587484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0705338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9633204" y="5698998"/>
            <a:ext cx="1026414" cy="274320"/>
          </a:xfrm>
          <a:prstGeom prst="roundRect">
            <a:avLst>
              <a:gd name="adj" fmla="val 100000"/>
            </a:avLst>
          </a:prstGeom>
          <a:solidFill>
            <a:srgbClr val="F2834B"/>
          </a:solidFill>
          <a:ln/>
        </p:spPr>
      </p:sp>
      <p:sp>
        <p:nvSpPr>
          <p:cNvPr id="98" name="Shape 95"/>
          <p:cNvSpPr/>
          <p:nvPr/>
        </p:nvSpPr>
        <p:spPr>
          <a:xfrm>
            <a:off x="10577322" y="5708142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10577322" y="57081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</a:t>
            </a:r>
            <a:endParaRPr lang="en-US" sz="800" dirty="0"/>
          </a:p>
        </p:txBody>
      </p:sp>
      <p:sp>
        <p:nvSpPr>
          <p:cNvPr id="100" name="Shape 97"/>
          <p:cNvSpPr/>
          <p:nvPr/>
        </p:nvSpPr>
        <p:spPr>
          <a:xfrm>
            <a:off x="365760" y="6163056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</p:sp>
      <p:sp>
        <p:nvSpPr>
          <p:cNvPr id="101" name="Text 98"/>
          <p:cNvSpPr/>
          <p:nvPr/>
        </p:nvSpPr>
        <p:spPr>
          <a:xfrm>
            <a:off x="621792" y="610819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02" name="Shape 99"/>
          <p:cNvSpPr/>
          <p:nvPr/>
        </p:nvSpPr>
        <p:spPr>
          <a:xfrm>
            <a:off x="2286000" y="6163056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</p:sp>
      <p:sp>
        <p:nvSpPr>
          <p:cNvPr id="103" name="Text 100"/>
          <p:cNvSpPr/>
          <p:nvPr/>
        </p:nvSpPr>
        <p:spPr>
          <a:xfrm>
            <a:off x="2542032" y="61081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04" name="Text 101"/>
          <p:cNvSpPr/>
          <p:nvPr/>
        </p:nvSpPr>
        <p:spPr>
          <a:xfrm>
            <a:off x="4846320" y="6108192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 = 11/09 · fim do Building     12 = 12/10 · envio do plano</a:t>
            </a:r>
            <a:endParaRPr lang="en-US" sz="950" dirty="0"/>
          </a:p>
        </p:txBody>
      </p:sp>
      <p:sp>
        <p:nvSpPr>
          <p:cNvPr id="105" name="Text 102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Adaptação da matriz Prêmio × Esforço do Plano de Desenvolvimento: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5E34D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155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0" cy="3767328"/>
          </a:xfrm>
          <a:prstGeom prst="line">
            <a:avLst/>
          </a:prstGeom>
          <a:noFill/>
          <a:ln w="15240">
            <a:solidFill>
              <a:srgbClr val="6B668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6309360"/>
            <a:ext cx="6949440" cy="0"/>
          </a:xfrm>
          <a:prstGeom prst="line">
            <a:avLst/>
          </a:prstGeom>
          <a:noFill/>
          <a:ln w="15240">
            <a:solidFill>
              <a:srgbClr val="6B668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Parada Programada 2027  ·  OPEX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0" name="Text 6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Matriz de 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Matriz validada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-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oficial do sistema de levantamento de escopo (STAR) — regras de cálculo, travas e critério de cada bloco na seção 06.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301752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12064" y="314553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358444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3986784"/>
            <a:ext cx="2434590" cy="109728"/>
          </a:xfrm>
          <a:prstGeom prst="roundRect">
            <a:avLst>
              <a:gd name="adj" fmla="val 416667"/>
            </a:avLst>
          </a:prstGeom>
          <a:solidFill>
            <a:srgbClr val="F8F7F6"/>
          </a:solidFill>
          <a:ln/>
        </p:spPr>
      </p:sp>
      <p:sp>
        <p:nvSpPr>
          <p:cNvPr id="14" name="Shape 11"/>
          <p:cNvSpPr/>
          <p:nvPr/>
        </p:nvSpPr>
        <p:spPr>
          <a:xfrm>
            <a:off x="512064" y="3986784"/>
            <a:ext cx="2434590" cy="109728"/>
          </a:xfrm>
          <a:prstGeom prst="roundRect">
            <a:avLst>
              <a:gd name="adj" fmla="val 416667"/>
            </a:avLst>
          </a:prstGeom>
          <a:solidFill>
            <a:srgbClr val="F2834B"/>
          </a:solidFill>
          <a:ln/>
        </p:spPr>
      </p:sp>
      <p:sp>
        <p:nvSpPr>
          <p:cNvPr id="15" name="Text 12"/>
          <p:cNvSpPr/>
          <p:nvPr/>
        </p:nvSpPr>
        <p:spPr>
          <a:xfrm>
            <a:off x="512064" y="418795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301752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422142" y="314553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358444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3986784"/>
            <a:ext cx="2434590" cy="109728"/>
          </a:xfrm>
          <a:prstGeom prst="roundRect">
            <a:avLst>
              <a:gd name="adj" fmla="val 416667"/>
            </a:avLst>
          </a:prstGeom>
          <a:solidFill>
            <a:srgbClr val="F8F7F6"/>
          </a:solidFill>
          <a:ln/>
        </p:spPr>
      </p:sp>
      <p:sp>
        <p:nvSpPr>
          <p:cNvPr id="20" name="Shape 17"/>
          <p:cNvSpPr/>
          <p:nvPr/>
        </p:nvSpPr>
        <p:spPr>
          <a:xfrm>
            <a:off x="3422142" y="3986784"/>
            <a:ext cx="2020710" cy="109728"/>
          </a:xfrm>
          <a:prstGeom prst="roundRect">
            <a:avLst>
              <a:gd name="adj" fmla="val 416667"/>
            </a:avLst>
          </a:prstGeom>
          <a:solidFill>
            <a:srgbClr val="F2834B"/>
          </a:solidFill>
          <a:ln/>
        </p:spPr>
      </p:sp>
      <p:sp>
        <p:nvSpPr>
          <p:cNvPr id="21" name="Text 18"/>
          <p:cNvSpPr/>
          <p:nvPr/>
        </p:nvSpPr>
        <p:spPr>
          <a:xfrm>
            <a:off x="3422142" y="418795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301752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332220" y="314553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358444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3986784"/>
            <a:ext cx="2434590" cy="109728"/>
          </a:xfrm>
          <a:prstGeom prst="roundRect">
            <a:avLst>
              <a:gd name="adj" fmla="val 416667"/>
            </a:avLst>
          </a:prstGeom>
          <a:solidFill>
            <a:srgbClr val="F8F7F6"/>
          </a:solidFill>
          <a:ln/>
        </p:spPr>
      </p:sp>
      <p:sp>
        <p:nvSpPr>
          <p:cNvPr id="26" name="Shape 23"/>
          <p:cNvSpPr/>
          <p:nvPr/>
        </p:nvSpPr>
        <p:spPr>
          <a:xfrm>
            <a:off x="6332220" y="3986784"/>
            <a:ext cx="1631175" cy="109728"/>
          </a:xfrm>
          <a:prstGeom prst="roundRect">
            <a:avLst>
              <a:gd name="adj" fmla="val 416667"/>
            </a:avLst>
          </a:prstGeom>
          <a:solidFill>
            <a:srgbClr val="F2834B"/>
          </a:solidFill>
          <a:ln/>
        </p:spPr>
      </p:sp>
      <p:sp>
        <p:nvSpPr>
          <p:cNvPr id="27" name="Shape 24"/>
          <p:cNvSpPr/>
          <p:nvPr/>
        </p:nvSpPr>
        <p:spPr>
          <a:xfrm>
            <a:off x="9095994" y="301752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9242298" y="314553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358444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3986784"/>
            <a:ext cx="2434590" cy="109728"/>
          </a:xfrm>
          <a:prstGeom prst="roundRect">
            <a:avLst>
              <a:gd name="adj" fmla="val 416667"/>
            </a:avLst>
          </a:prstGeom>
          <a:solidFill>
            <a:srgbClr val="F8F7F6"/>
          </a:solidFill>
          <a:ln/>
        </p:spPr>
      </p:sp>
      <p:sp>
        <p:nvSpPr>
          <p:cNvPr id="31" name="Shape 28"/>
          <p:cNvSpPr/>
          <p:nvPr/>
        </p:nvSpPr>
        <p:spPr>
          <a:xfrm>
            <a:off x="9242298" y="3986784"/>
            <a:ext cx="2020710" cy="109728"/>
          </a:xfrm>
          <a:prstGeom prst="roundRect">
            <a:avLst>
              <a:gd name="adj" fmla="val 416667"/>
            </a:avLst>
          </a:prstGeom>
          <a:solidFill>
            <a:srgbClr val="F2834B"/>
          </a:solidFill>
          <a:ln/>
        </p:spPr>
      </p:sp>
      <p:sp>
        <p:nvSpPr>
          <p:cNvPr id="32" name="Text 29"/>
          <p:cNvSpPr/>
          <p:nvPr/>
        </p:nvSpPr>
        <p:spPr>
          <a:xfrm>
            <a:off x="9242298" y="418795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Classificação final: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5349240"/>
            <a:ext cx="2933395" cy="384048"/>
          </a:xfrm>
          <a:prstGeom prst="roundRect">
            <a:avLst>
              <a:gd name="adj" fmla="val 119048"/>
            </a:avLst>
          </a:prstGeom>
          <a:solidFill>
            <a:srgbClr val="D1554B"/>
          </a:solidFill>
          <a:ln/>
        </p:spPr>
      </p:sp>
      <p:sp>
        <p:nvSpPr>
          <p:cNvPr id="35" name="Text 32"/>
          <p:cNvSpPr/>
          <p:nvPr/>
        </p:nvSpPr>
        <p:spPr>
          <a:xfrm>
            <a:off x="365760" y="534924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5349240"/>
            <a:ext cx="1353312" cy="384048"/>
          </a:xfrm>
          <a:prstGeom prst="roundRect">
            <a:avLst>
              <a:gd name="adj" fmla="val 119048"/>
            </a:avLst>
          </a:prstGeom>
          <a:solidFill>
            <a:srgbClr val="F2834B"/>
          </a:solidFill>
          <a:ln/>
        </p:spPr>
      </p:sp>
      <p:sp>
        <p:nvSpPr>
          <p:cNvPr id="37" name="Text 34"/>
          <p:cNvSpPr/>
          <p:nvPr/>
        </p:nvSpPr>
        <p:spPr>
          <a:xfrm>
            <a:off x="3482035" y="534924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5349240"/>
            <a:ext cx="1419149" cy="384048"/>
          </a:xfrm>
          <a:prstGeom prst="roundRect">
            <a:avLst>
              <a:gd name="adj" fmla="val 119048"/>
            </a:avLst>
          </a:prstGeom>
          <a:solidFill>
            <a:srgbClr val="10A9FF"/>
          </a:solidFill>
          <a:ln/>
        </p:spPr>
      </p:sp>
      <p:sp>
        <p:nvSpPr>
          <p:cNvPr id="39" name="Text 36"/>
          <p:cNvSpPr/>
          <p:nvPr/>
        </p:nvSpPr>
        <p:spPr>
          <a:xfrm>
            <a:off x="5018227" y="534924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5349240"/>
            <a:ext cx="1353312" cy="384048"/>
          </a:xfrm>
          <a:prstGeom prst="roundRect">
            <a:avLst>
              <a:gd name="adj" fmla="val 119048"/>
            </a:avLst>
          </a:prstGeom>
          <a:solidFill>
            <a:srgbClr val="9A93B8"/>
          </a:solidFill>
          <a:ln/>
        </p:spPr>
      </p:sp>
      <p:sp>
        <p:nvSpPr>
          <p:cNvPr id="41" name="Text 38"/>
          <p:cNvSpPr/>
          <p:nvPr/>
        </p:nvSpPr>
        <p:spPr>
          <a:xfrm>
            <a:off x="6620256" y="534924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Travas, Segurança e Regulatório (1/3)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Regras oficiais da Matriz de Priorização STAR — mesmos 4 blocos e 100 pontos da seção 05.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658368"/>
          </a:xfrm>
          <a:prstGeom prst="roundRect">
            <a:avLst>
              <a:gd name="adj" fmla="val 5556"/>
            </a:avLst>
          </a:prstGeom>
          <a:solidFill>
            <a:srgbClr val="D1554B">
              <a:alpha val="12000"/>
            </a:srgbClr>
          </a:solidFill>
          <a:ln w="12700">
            <a:solidFill>
              <a:srgbClr val="D155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Travas automáticas — elevam a P1 independente da nota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Segurança: fatalidade, explosão, incêndio, H2S ou grande acidente · barreira crítica indisponível ou degradada.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Regulatório: prazo regulatório vencido · embargo, interdição ou perda de licença.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3200400"/>
            <a:ext cx="5632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 · Segurança — 30 pts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74720"/>
          <a:ext cx="5632704" cy="1847088"/>
        </p:xfrm>
        <a:graphic>
          <a:graphicData uri="http://schemas.openxmlformats.org/drawingml/2006/table">
            <a:tbl>
              <a:tblPr/>
              <a:tblGrid>
                <a:gridCol w="3492276"/>
                <a:gridCol w="2140428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Severidade do pior cenário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3 · 6 ·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Barreira crítica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3 · 5 ·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Histórico de incidente/recorrência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Abrangência da exposição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3 ·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Urgência da mitigação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 ·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181344" y="3200400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 · Regulatório — 25 pts</a:t>
            </a:r>
            <a:endParaRPr lang="en-US" sz="11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1344" y="3474720"/>
          <a:ext cx="5641848" cy="1847088"/>
        </p:xfrm>
        <a:graphic>
          <a:graphicData uri="http://schemas.openxmlformats.org/drawingml/2006/table">
            <a:tbl>
              <a:tblPr/>
              <a:tblGrid>
                <a:gridCol w="3497946"/>
                <a:gridCol w="2143902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Obrigação legal ou normativa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 ·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 do não atendimento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 ·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formal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 ·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Abrangência regulatória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Financeiro &amp; Patrimônio (2/3)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Bloco de 20 pts: duas avaliações internas — vale a maior entre as duas, não a soma.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5637276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478024"/>
            <a:ext cx="859536" cy="237744"/>
          </a:xfrm>
          <a:prstGeom prst="roundRect">
            <a:avLst>
              <a:gd name="adj" fmla="val 192308"/>
            </a:avLst>
          </a:prstGeom>
          <a:solidFill>
            <a:srgbClr val="10A9F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47802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3.1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807208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Avaliação Financeira Econômica — até 20 pts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64408"/>
            <a:ext cx="534466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benefício/custo (até 6) · Custo de não fazer / custo do projeto (até 5) · Orçamento e janela de execução (até 4) · Tempo de captura do valor (até 3) · Maturidade da estimativa (até 2).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6185916" y="2331720"/>
            <a:ext cx="5637276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32220" y="2478024"/>
            <a:ext cx="859536" cy="237744"/>
          </a:xfrm>
          <a:prstGeom prst="roundRect">
            <a:avLst>
              <a:gd name="adj" fmla="val 192308"/>
            </a:avLst>
          </a:prstGeom>
          <a:solidFill>
            <a:srgbClr val="F2834B"/>
          </a:solidFill>
          <a:ln/>
        </p:spPr>
      </p:sp>
      <p:sp>
        <p:nvSpPr>
          <p:cNvPr id="14" name="Text 11"/>
          <p:cNvSpPr/>
          <p:nvPr/>
        </p:nvSpPr>
        <p:spPr>
          <a:xfrm>
            <a:off x="6332220" y="247802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3.2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332220" y="2807208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Patrimônio / Integridade — bruta até 25 pts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332220" y="3264408"/>
            <a:ext cx="534466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Comprometimento de ativo crítico (até 8) · Degradação evidenciada (até 6) · Redundância do sistema (até 5) · Janela rara ou parada maior (até 3) · Risco de manutenção emergencial futura (até 3). Convertida para o bloco financeiro como bruta × 20/25.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365760" y="5623560"/>
            <a:ext cx="11457432" cy="594360"/>
          </a:xfrm>
          <a:prstGeom prst="roundRect">
            <a:avLst>
              <a:gd name="adj" fmla="val 6154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57698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Nota do bloco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6099048"/>
            <a:ext cx="11055096" cy="-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e Patrimônio = maior entre a Avaliação Financeira Econômica (3.1) e a Avaliação de Patrimônio/Integridade já convertida (3.2).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Produção de Óleo (GP) e fórmula final (3/3)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Bloco de 25 pts, condicionado ao status da Gestão da Produção; fórmula final e regra de desempate.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Condição para pontuar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-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entra no total quando o escopo influencia diretamente a produção de óleo e o status da GP está "Validada - computada" — nos demais status, entra como referência mas conta 0.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3063240"/>
            <a:ext cx="5632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4.1 · Relevância da perda do sistema — 15 pts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337560"/>
          <a:ext cx="5632704" cy="1847088"/>
        </p:xfrm>
        <a:graphic>
          <a:graphicData uri="http://schemas.openxmlformats.org/drawingml/2006/table">
            <a:tbl>
              <a:tblPr/>
              <a:tblGrid>
                <a:gridCol w="3492276"/>
                <a:gridCol w="2140428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15% e &lt; 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8% e &lt; 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3% e &lt; 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&lt; 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181344" y="3063240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4.2 · Benefício/Custo — 10 pts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1344" y="3337560"/>
          <a:ext cx="5641848" cy="1847088"/>
        </p:xfrm>
        <a:graphic>
          <a:graphicData uri="http://schemas.openxmlformats.org/drawingml/2006/table">
            <a:tbl>
              <a:tblPr/>
              <a:tblGrid>
                <a:gridCol w="3497946"/>
                <a:gridCol w="2143902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20x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10x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5x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1x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1x ou sem custo informado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81344" y="5001768"/>
            <a:ext cx="5641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em US$ = perda evitada (bbl) × 75 · relação = benefício ÷ custo do projeto</a:t>
            </a:r>
            <a:endParaRPr lang="en-US" sz="830" dirty="0"/>
          </a:p>
        </p:txBody>
      </p:sp>
      <p:sp>
        <p:nvSpPr>
          <p:cNvPr id="15" name="Shape 10"/>
          <p:cNvSpPr/>
          <p:nvPr/>
        </p:nvSpPr>
        <p:spPr>
          <a:xfrm>
            <a:off x="365760" y="5257800"/>
            <a:ext cx="11457432" cy="502920"/>
          </a:xfrm>
          <a:prstGeom prst="roundRect">
            <a:avLst>
              <a:gd name="adj" fmla="val 7273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54041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Fórmula final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66928" y="5733288"/>
            <a:ext cx="11055096" cy="-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Segurança + Regulatório + Financeiro e Patrimônio + Produção de Óleo (GP validada) — máximo de 100 pontos.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365760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8912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94944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2686507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759659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3015691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007254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080406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5336438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validada pela GP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7328002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401154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7657186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Financeiro/Patrimônio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9648749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9721901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9977933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custo para executar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07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Seis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192308"/>
            </a:avLst>
          </a:prstGeom>
          <a:solidFill>
            <a:srgbClr val="F2834B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192308"/>
            </a:avLst>
          </a:prstGeom>
          <a:solidFill>
            <a:srgbClr val="F2834B"/>
          </a:solidFill>
          <a:ln/>
        </p:spPr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192308"/>
            </a:avLst>
          </a:prstGeom>
          <a:solidFill>
            <a:srgbClr val="F2834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192308"/>
            </a:avLst>
          </a:prstGeom>
          <a:solidFill>
            <a:srgbClr val="F2834B"/>
          </a:solidFill>
          <a:ln/>
        </p:spPr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192308"/>
            </a:avLst>
          </a:prstGeom>
          <a:solidFill>
            <a:srgbClr val="F2834B"/>
          </a:solidFill>
          <a:ln/>
        </p:spPr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2" name="Shape 29"/>
          <p:cNvSpPr/>
          <p:nvPr/>
        </p:nvSpPr>
        <p:spPr>
          <a:xfrm>
            <a:off x="8125968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272272" y="4512564"/>
            <a:ext cx="859536" cy="237744"/>
          </a:xfrm>
          <a:prstGeom prst="roundRect">
            <a:avLst>
              <a:gd name="adj" fmla="val 192308"/>
            </a:avLst>
          </a:prstGeom>
          <a:solidFill>
            <a:srgbClr val="F2834B"/>
          </a:solidFill>
          <a:ln/>
        </p:spPr>
      </p:sp>
      <p:sp>
        <p:nvSpPr>
          <p:cNvPr id="34" name="Text 31"/>
          <p:cNvSpPr/>
          <p:nvPr/>
        </p:nvSpPr>
        <p:spPr>
          <a:xfrm>
            <a:off x="8272272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SUPORTA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272272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Accenture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8272272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Apoia a implantação e evolução da ferramenta de levantamento de escopo; conduz o treinamento macro com o Eng. Planejamento.</a:t>
            </a:r>
            <a:endParaRPr lang="en-US" sz="970" dirty="0"/>
          </a:p>
        </p:txBody>
      </p:sp>
      <p:sp>
        <p:nvSpPr>
          <p:cNvPr id="37" name="Text 3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 e TA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 (estrutural)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e Químicos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 e Trading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técnicos, otimização comercial de óleo/gás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em receita ou eficiência de escoamento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Reservatório / Produção (GP)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Reservatório / Gestão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Escopos com impacto direto na produção de óleo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evitada validada pela Gestão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papel de processo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Logística Marítima e Log de Pessoas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Coordenação de Logística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Embarque/desembarque, acomodação de POB terceiro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de capacidade — não solicitante primário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Comunicação, BPs, TI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Comunicação / BPs / TI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administrativo e de sistemas ao rito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de suporte — não solicitante primário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09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 sempre — sem exceção de priorização.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Corretivas de construção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M1 e M5 entram sempre no levantamento de escopo.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8125968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272272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272272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8272272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31" name="Text 28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10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/>
                <a:gridCol w="8805672"/>
              </a:tblGrid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Etapa do formulário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Campos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Dados Básicos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POB Mensal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Custos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Priorização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 — ver seção 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11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Crivo do Coordenador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156250"/>
            </a:avLst>
          </a:prstGeom>
          <a:solidFill>
            <a:srgbClr val="F8F7F6"/>
          </a:solidFill>
          <a:ln/>
        </p:spPr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6" name="Text 43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12 · ANTES DA REUNIÃO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Pendências abertas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Pontos que precisam de validação do Diretor ou das áreas antes de o processo virar padrão.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11457432" cy="3840480"/>
          </a:xfrm>
          <a:prstGeom prst="roundRect">
            <a:avLst>
              <a:gd name="adj" fmla="val 952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47802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 pendências em aberto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807208"/>
            <a:ext cx="11055096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com cada coordenação as linhas marcadas como "a validar" na seção 08 — inputs e critérios foram inferidos do material recebido, não confirmados pela própria área.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se a Visão Geral (seção 01) deve desdobrar "Aprovação &amp; divulgação" em três passos — Revisar, Ajustes do Plano e Envio — para refletir o cronograma real (seção 03).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treinamento dedicado (ou confirmar cobertura pelo dia "Geral") para Medição Fiscal, Parada Programada, Reservatório/Produção (GP) e Desenvolvimento da Produção.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13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/>
                <a:gridCol w="4114800"/>
                <a:gridCol w="4114800"/>
                <a:gridCol w="2221992"/>
              </a:tblGrid>
              <a:tr h="3829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Data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09h–11h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16h–18h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Responsável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25/08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26/08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27/08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28/08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31/08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01/09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02/09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86400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" y="56327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61888"/>
            <a:ext cx="110550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978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PRÓXIMOS PASSOS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Validar o processo, fechar as pendências, e transformar este rito em padrão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38862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Validar as 3 pendências abertas (seção 12) com as áreas e com a Gestão da Produção</a:t>
            </a:r>
            <a:endParaRPr lang="en-US" sz="1350" dirty="0"/>
          </a:p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Confirmar responsáveis do Quadro de Equipes (seção 02) por unidade</a:t>
            </a:r>
            <a:endParaRPr lang="en-US" sz="1350" dirty="0"/>
          </a:p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Divulgar os critérios da matriz de priorização (seção 06) e o calendário 2027 (seção 03) para todas as áreas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AE6F7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Coordenação de Planejamento</cp:lastModifiedBy>
  <cp:revision>1</cp:revision>
  <dcterms:created xsi:type="dcterms:W3CDTF">2026-08-24T17:06:05Z</dcterms:created>
  <dcterms:modified xsi:type="dcterms:W3CDTF">2026-08-24T17:06:05Z</dcterms:modified>
</cp:coreProperties>
</file>