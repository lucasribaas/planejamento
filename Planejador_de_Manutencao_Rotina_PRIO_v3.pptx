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266A627-FB8F-F67D-F438-DE07A5A783A3}">
          <p14:sldIdLst>
            <p14:sldId id="256"/>
          </p14:sldIdLst>
        </p14:section>
        <p14:section name="Visão geral" id="{21BA38EE-C82E-CB48-F3AB-8F2487B7F2F8}">
          <p14:sldIdLst>
            <p14:sldId id="257"/>
          </p14:sldIdLst>
        </p14:section>
        <p14:section name="Responsabilidades" id="{140C5754-3DAA-A646-2B2F-943A4C4683C2}">
          <p14:sldIdLst>
            <p14:sldId id="258"/>
            <p14:sldId id="259"/>
            <p14:sldId id="260"/>
            <p14:sldId id="261"/>
          </p14:sldIdLst>
        </p14:section>
        <p14:section name="Limites da função" id="{24CE77E9-5B36-E678-439A-8E09288903CE}">
          <p14:sldIdLst>
            <p14:sldId id="262"/>
          </p14:sldIdLst>
        </p14:section>
        <p14:section name="Fluxo da manutenção" id="{A52D190F-3F66-6349-C216-8E6C01B8BF6A}">
          <p14:sldIdLst>
            <p14:sldId id="263"/>
            <p14:sldId id="264"/>
            <p14:sldId id="265"/>
          </p14:sldIdLst>
        </p14:section>
        <p14:section name="Encerramento" id="{D724D2A5-DEF5-1C5E-49D5-654F7FD9421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APA">
    <p:bg>
      <p:bgPr>
        <a:solidFill>
          <a:srgbClr val="2C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PRIO" descr="/tmp/claude-0/-workspace-Planejamento/3b093f77-7d96-5635-93e5-fcde775de1e7/scratchpad/tpl/m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950976"/>
            <a:ext cx="2734056" cy="612648"/>
          </a:xfrm>
          <a:prstGeom prst="rect">
            <a:avLst/>
          </a:prstGeom>
        </p:spPr>
      </p:pic>
      <p:pic>
        <p:nvPicPr>
          <p:cNvPr id="3" name="Polvo verde" descr="/tmp/claude-0/-workspace-Planejamento/3b093f77-7d96-5635-93e5-fcde775de1e7/scratchpad/tpl/m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5256" y="6099048"/>
            <a:ext cx="5001768" cy="323697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lvo azul" descr="/tmp/claude-0/-workspace-Planejamento/3b093f77-7d96-5635-93e5-fcde775de1e7/scratchpad/tpl/m/ppt/media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685800"/>
            <a:ext cx="822960" cy="530352"/>
          </a:xfrm>
          <a:prstGeom prst="rect">
            <a:avLst/>
          </a:prstGeom>
        </p:spPr>
      </p:pic>
      <p:sp>
        <p:nvSpPr>
          <p:cNvPr id="3" name="Selo"/>
          <p:cNvSpPr/>
          <p:nvPr/>
        </p:nvSpPr>
        <p:spPr>
          <a:xfrm>
            <a:off x="13716000" y="832104"/>
            <a:ext cx="3621024" cy="1234440"/>
          </a:xfrm>
          <a:prstGeom prst="rect">
            <a:avLst/>
          </a:prstGeom>
          <a:solidFill>
            <a:srgbClr val="F6F5FA"/>
          </a:solidFill>
          <a:ln/>
        </p:spPr>
      </p:sp>
      <p:pic>
        <p:nvPicPr>
          <p:cNvPr id="4" name="Logo PRIO" descr="/tmp/claude-0/-workspace-Planejamento/3b093f77-7d96-5635-93e5-fcde775de1e7/scratchpad/x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0" y="1216152"/>
            <a:ext cx="2157984" cy="475488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PLANEJAMENTO E CONTROLE DE MANUTENÇÃO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Rotina do Planejador de Manutenção Offshore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VISÃO GERAL</a:t>
            </a:r>
            <a:endParaRPr lang="en-US" sz="5400" dirty="0"/>
          </a:p>
        </p:txBody>
      </p:sp>
      <p:sp>
        <p:nvSpPr>
          <p:cNvPr id="3" name="Cartão PAPEL DO PLANEJADOR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PAPEL DO PLANEJADOR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PAPEL DO PLANEJADOR</a:t>
            </a:r>
            <a:endParaRPr lang="en-US" sz="1600" dirty="0"/>
          </a:p>
        </p:txBody>
      </p:sp>
      <p:sp>
        <p:nvSpPr>
          <p:cNvPr id="5" name="Texto PAPEL DO PLANEJADOR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Conecta campo, supervisão e execução para manter a manutenção planejada e sob controle.</a:t>
            </a:r>
            <a:endParaRPr lang="en-US" sz="2200" dirty="0"/>
          </a:p>
        </p:txBody>
      </p:sp>
      <p:sp>
        <p:nvSpPr>
          <p:cNvPr id="10" name="Rótulo RESPONSABILIDAD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RESPONSABILIDADES</a:t>
            </a:r>
            <a:endParaRPr lang="en-US" sz="1600" dirty="0"/>
          </a:p>
        </p:txBody>
      </p:sp>
      <p:sp>
        <p:nvSpPr>
          <p:cNvPr id="11" name="Cartão Notas e backlog"/>
          <p:cNvSpPr/>
          <p:nvPr/>
        </p:nvSpPr>
        <p:spPr>
          <a:xfrm>
            <a:off x="6967728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ítulo Notas 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e backlog</a:t>
            </a:r>
            <a:endParaRPr lang="en-US" sz="1800" dirty="0"/>
          </a:p>
        </p:txBody>
      </p:sp>
      <p:sp>
        <p:nvSpPr>
          <p:cNvPr id="13" name="Texto Notas e backlog"/>
          <p:cNvSpPr txBox="1"/>
          <p:nvPr/>
        </p:nvSpPr>
        <p:spPr>
          <a:xfrm>
            <a:off x="7242048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Apoio no </a:t>
            </a:r>
            <a:r>
              <a:rPr lang="en-US" dirty="0" err="1">
                <a:solidFill>
                  <a:schemeClr val="tx2"/>
                </a:solidFill>
              </a:rPr>
              <a:t>d</a:t>
            </a:r>
            <a:r>
              <a:rPr lang="en-US" sz="1800" dirty="0" err="1">
                <a:solidFill>
                  <a:schemeClr val="tx2"/>
                </a:solidFill>
              </a:rPr>
              <a:t>etalhamento</a:t>
            </a:r>
            <a:r>
              <a:rPr lang="en-US" sz="1800" dirty="0">
                <a:solidFill>
                  <a:schemeClr val="tx2"/>
                </a:solidFill>
              </a:rPr>
              <a:t> de notas em campo e limpeza do backlog corretivo.</a:t>
            </a:r>
            <a:endParaRPr lang="en-US" sz="1800" dirty="0"/>
          </a:p>
        </p:txBody>
      </p:sp>
      <p:sp>
        <p:nvSpPr>
          <p:cNvPr id="14" name="Cartão Ciclo de planejamento"/>
          <p:cNvSpPr/>
          <p:nvPr/>
        </p:nvSpPr>
        <p:spPr>
          <a:xfrm>
            <a:off x="12252960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ítulo Ciclo de planej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Ciclo de planejamento</a:t>
            </a:r>
            <a:endParaRPr lang="en-US" sz="1800" dirty="0"/>
          </a:p>
        </p:txBody>
      </p:sp>
      <p:sp>
        <p:nvSpPr>
          <p:cNvPr id="16" name="Texto Ciclo de planejamento"/>
          <p:cNvSpPr txBox="1"/>
          <p:nvPr/>
        </p:nvSpPr>
        <p:spPr>
          <a:xfrm>
            <a:off x="12527280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</a:t>
            </a:r>
            <a:r>
              <a:rPr lang="en-US" sz="1800" dirty="0" err="1">
                <a:solidFill>
                  <a:schemeClr val="tx2"/>
                </a:solidFill>
              </a:rPr>
              <a:t>programação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quinzenal</a:t>
            </a:r>
            <a:r>
              <a:rPr lang="en-US" sz="1800" dirty="0">
                <a:solidFill>
                  <a:schemeClr val="tx2"/>
                </a:solidFill>
              </a:rPr>
              <a:t> (baseline) e diária, com aderência por etapa.</a:t>
            </a:r>
            <a:endParaRPr lang="en-US" sz="1800" dirty="0"/>
          </a:p>
        </p:txBody>
      </p:sp>
      <p:sp>
        <p:nvSpPr>
          <p:cNvPr id="17" name="Cartão Rotina e indicadores"/>
          <p:cNvSpPr/>
          <p:nvPr/>
        </p:nvSpPr>
        <p:spPr>
          <a:xfrm>
            <a:off x="6967728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ítulo Rotina e indicadores"/>
          <p:cNvSpPr txBox="1"/>
          <p:nvPr/>
        </p:nvSpPr>
        <p:spPr>
          <a:xfrm>
            <a:off x="7242048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Rotina e indicadores</a:t>
            </a:r>
            <a:endParaRPr lang="en-US" sz="1800" dirty="0"/>
          </a:p>
        </p:txBody>
      </p:sp>
      <p:sp>
        <p:nvSpPr>
          <p:cNvPr id="19" name="Texto Rotina e indicadores"/>
          <p:cNvSpPr txBox="1"/>
          <p:nvPr/>
        </p:nvSpPr>
        <p:spPr>
          <a:xfrm>
            <a:off x="7242048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Follow-up de execução e indicadores de preventiva, corretiva e </a:t>
            </a:r>
            <a:r>
              <a:rPr lang="en-US" dirty="0" err="1">
                <a:solidFill>
                  <a:schemeClr val="tx2"/>
                </a:solidFill>
              </a:rPr>
              <a:t>preditiva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  <a:endParaRPr lang="en-US" sz="1800" dirty="0"/>
          </a:p>
        </p:txBody>
      </p:sp>
      <p:sp>
        <p:nvSpPr>
          <p:cNvPr id="20" name="Cartão PRIO Way e SAP"/>
          <p:cNvSpPr/>
          <p:nvPr/>
        </p:nvSpPr>
        <p:spPr>
          <a:xfrm>
            <a:off x="12252960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ítulo PRIO Way e SAP"/>
          <p:cNvSpPr txBox="1"/>
          <p:nvPr/>
        </p:nvSpPr>
        <p:spPr>
          <a:xfrm>
            <a:off x="12527280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22" name="Texto PRIO Way e SAP"/>
          <p:cNvSpPr txBox="1"/>
          <p:nvPr/>
        </p:nvSpPr>
        <p:spPr>
          <a:xfrm>
            <a:off x="12527280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Ponto </a:t>
            </a:r>
            <a:r>
              <a:rPr lang="en-US" sz="1800" dirty="0">
                <a:solidFill>
                  <a:schemeClr val="tx2"/>
                </a:solidFill>
              </a:rPr>
              <a:t>focal SAP da unidade.</a:t>
            </a:r>
            <a:endParaRPr lang="en-US" sz="1800" dirty="0"/>
          </a:p>
        </p:txBody>
      </p:sp>
      <p:sp>
        <p:nvSpPr>
          <p:cNvPr id="23" name="Cartão Materiais e serviços"/>
          <p:cNvSpPr/>
          <p:nvPr/>
        </p:nvSpPr>
        <p:spPr>
          <a:xfrm>
            <a:off x="6967728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ítulo Materiais e serviços"/>
          <p:cNvSpPr txBox="1"/>
          <p:nvPr/>
        </p:nvSpPr>
        <p:spPr>
          <a:xfrm>
            <a:off x="7242048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Materiais e serviços</a:t>
            </a:r>
            <a:endParaRPr lang="en-US" sz="1800" dirty="0"/>
          </a:p>
        </p:txBody>
      </p:sp>
      <p:sp>
        <p:nvSpPr>
          <p:cNvPr id="25" name="Texto Materiais e serviços"/>
          <p:cNvSpPr txBox="1"/>
          <p:nvPr/>
        </p:nvSpPr>
        <p:spPr>
          <a:xfrm>
            <a:off x="7242048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Cadastro</a:t>
            </a:r>
            <a:r>
              <a:rPr lang="en-US" dirty="0">
                <a:solidFill>
                  <a:schemeClr val="tx2"/>
                </a:solidFill>
              </a:rPr>
              <a:t> de </a:t>
            </a:r>
            <a:r>
              <a:rPr lang="en-US" dirty="0" err="1">
                <a:solidFill>
                  <a:schemeClr val="tx2"/>
                </a:solidFill>
              </a:rPr>
              <a:t>materiais</a:t>
            </a:r>
            <a:r>
              <a:rPr lang="en-US" sz="1800" dirty="0">
                <a:solidFill>
                  <a:schemeClr val="tx2"/>
                </a:solidFill>
              </a:rPr>
              <a:t>, follow-up junto </a:t>
            </a:r>
            <a:r>
              <a:rPr lang="en-US" sz="1800" dirty="0" err="1">
                <a:solidFill>
                  <a:schemeClr val="tx2"/>
                </a:solidFill>
              </a:rPr>
              <a:t>ao</a:t>
            </a:r>
            <a:r>
              <a:rPr lang="en-US" sz="1800" dirty="0">
                <a:solidFill>
                  <a:schemeClr val="tx2"/>
                </a:solidFill>
              </a:rPr>
              <a:t> time de Supply e envio de </a:t>
            </a:r>
            <a:r>
              <a:rPr lang="en-US" sz="1800" dirty="0" err="1">
                <a:solidFill>
                  <a:schemeClr val="tx2"/>
                </a:solidFill>
              </a:rPr>
              <a:t>equipamentos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para </a:t>
            </a:r>
            <a:r>
              <a:rPr lang="en-US" sz="1800" dirty="0" err="1">
                <a:solidFill>
                  <a:schemeClr val="tx2"/>
                </a:solidFill>
              </a:rPr>
              <a:t>reparo</a:t>
            </a:r>
            <a:r>
              <a:rPr lang="en-US" sz="1800" dirty="0">
                <a:solidFill>
                  <a:schemeClr val="tx2"/>
                </a:solidFill>
              </a:rPr>
              <a:t> externo.</a:t>
            </a:r>
            <a:endParaRPr lang="en-US" sz="1800" dirty="0"/>
          </a:p>
        </p:txBody>
      </p:sp>
      <p:sp>
        <p:nvSpPr>
          <p:cNvPr id="26" name="Cartão Gestão de custos"/>
          <p:cNvSpPr/>
          <p:nvPr/>
        </p:nvSpPr>
        <p:spPr>
          <a:xfrm>
            <a:off x="12252960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ítulo Gestão de custos"/>
          <p:cNvSpPr txBox="1"/>
          <p:nvPr/>
        </p:nvSpPr>
        <p:spPr>
          <a:xfrm>
            <a:off x="12527280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Gestão de custos</a:t>
            </a:r>
            <a:endParaRPr lang="en-US" sz="1800" dirty="0"/>
          </a:p>
        </p:txBody>
      </p:sp>
      <p:sp>
        <p:nvSpPr>
          <p:cNvPr id="28" name="Texto Gestão de custos"/>
          <p:cNvSpPr txBox="1"/>
          <p:nvPr/>
        </p:nvSpPr>
        <p:spPr>
          <a:xfrm>
            <a:off x="12527280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 e apoio ao orçamento.</a:t>
            </a:r>
            <a:endParaRPr lang="en-US" sz="1800" dirty="0"/>
          </a:p>
        </p:txBody>
      </p:sp>
      <p:sp>
        <p:nvSpPr>
          <p:cNvPr id="29" name="Cartão FRENTES DE ATUAÇÃ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Rótulo FRENTES DE ATUAÇÃ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FRENTES DE ATUAÇÃO</a:t>
            </a:r>
            <a:endParaRPr lang="en-US" sz="1600" dirty="0"/>
          </a:p>
        </p:txBody>
      </p:sp>
      <p:sp>
        <p:nvSpPr>
          <p:cNvPr id="31" name="Número FRENTES DE ATUAÇÃ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32" name="Texto FRENTES DE ATUAÇÃ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Notas e backlog, ciclo, rotina, SAP, materiais e custos.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NOTAS E BACKLOG</a:t>
            </a:r>
            <a:endParaRPr lang="en-US" sz="5400" dirty="0"/>
          </a:p>
        </p:txBody>
      </p:sp>
      <p:sp>
        <p:nvSpPr>
          <p:cNvPr id="3" name="Cartão DETALHAMENTO DE NOTAS"/>
          <p:cNvSpPr/>
          <p:nvPr/>
        </p:nvSpPr>
        <p:spPr>
          <a:xfrm>
            <a:off x="950976" y="2624328"/>
            <a:ext cx="5715000" cy="6894576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DETALHAMENTO DE NOTA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DETALHAMENTO DE NOTAS</a:t>
            </a:r>
            <a:endParaRPr lang="en-US" sz="1600" dirty="0"/>
          </a:p>
        </p:txBody>
      </p:sp>
      <p:sp>
        <p:nvSpPr>
          <p:cNvPr id="5" name="Texto DETALHAMENTO DE NOTAS"/>
          <p:cNvSpPr txBox="1"/>
          <p:nvPr/>
        </p:nvSpPr>
        <p:spPr>
          <a:xfrm>
            <a:off x="1335024" y="3493008"/>
            <a:ext cx="4946904" cy="570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Apoio no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 de notas corretivas em campo e diariamente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recursos de mão de obra (HH)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ferramentas e recursos específicos (pau de carga, andaime)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Orientações de segurança: observâncias inerentes à execução da manutenção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Caso </a:t>
            </a:r>
            <a:r>
              <a:rPr lang="en-US" sz="1800" dirty="0" err="1">
                <a:solidFill>
                  <a:schemeClr val="bg1"/>
                </a:solidFill>
              </a:rPr>
              <a:t>seja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necessário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apoio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técnico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durante</a:t>
            </a:r>
            <a:r>
              <a:rPr lang="en-US" sz="1800" dirty="0">
                <a:solidFill>
                  <a:schemeClr val="bg1"/>
                </a:solidFill>
              </a:rPr>
              <a:t> 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, o Planejador </a:t>
            </a:r>
            <a:r>
              <a:rPr lang="en-US" sz="1800" dirty="0" err="1">
                <a:solidFill>
                  <a:schemeClr val="bg1"/>
                </a:solidFill>
              </a:rPr>
              <a:t>deve</a:t>
            </a:r>
            <a:r>
              <a:rPr lang="en-US" sz="1800" dirty="0">
                <a:solidFill>
                  <a:schemeClr val="bg1"/>
                </a:solidFill>
              </a:rPr>
              <a:t> chamar o técnico de manutenção, o operador ou o técnico de segurança, conforme o tipo de nota</a:t>
            </a:r>
            <a:endParaRPr lang="en-US" sz="2000" dirty="0"/>
          </a:p>
        </p:txBody>
      </p:sp>
      <p:sp>
        <p:nvSpPr>
          <p:cNvPr id="6" name="Rótulo GESTÃO DE BACKLOG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BACKLOG</a:t>
            </a:r>
            <a:endParaRPr lang="en-US" sz="1600" dirty="0"/>
          </a:p>
        </p:txBody>
      </p:sp>
      <p:sp>
        <p:nvSpPr>
          <p:cNvPr id="7" name="Cartão Limpeza de backlog"/>
          <p:cNvSpPr/>
          <p:nvPr/>
        </p:nvSpPr>
        <p:spPr>
          <a:xfrm>
            <a:off x="6967728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ítulo Limpeza d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Limpeza de backlog</a:t>
            </a:r>
            <a:endParaRPr lang="en-US" sz="1800" dirty="0"/>
          </a:p>
        </p:txBody>
      </p:sp>
      <p:sp>
        <p:nvSpPr>
          <p:cNvPr id="9" name="Texto Limpeza de backlog"/>
          <p:cNvSpPr txBox="1"/>
          <p:nvPr/>
        </p:nvSpPr>
        <p:spPr>
          <a:xfrm>
            <a:off x="7242048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Limpar ordens corretivas pendentes há mais de 12 semanas, com apoio técnico da supervisão.</a:t>
            </a:r>
            <a:endParaRPr lang="en-US" sz="1800" dirty="0"/>
          </a:p>
        </p:txBody>
      </p:sp>
      <p:sp>
        <p:nvSpPr>
          <p:cNvPr id="10" name="Cartão Notas sem detalhamento"/>
          <p:cNvSpPr/>
          <p:nvPr/>
        </p:nvSpPr>
        <p:spPr>
          <a:xfrm>
            <a:off x="12252960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ítulo Notas sem detalh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sem detalhamento</a:t>
            </a:r>
            <a:endParaRPr lang="en-US" sz="1800" dirty="0"/>
          </a:p>
        </p:txBody>
      </p:sp>
      <p:sp>
        <p:nvSpPr>
          <p:cNvPr id="12" name="Texto Notas sem detalhamento"/>
          <p:cNvSpPr txBox="1"/>
          <p:nvPr/>
        </p:nvSpPr>
        <p:spPr>
          <a:xfrm>
            <a:off x="12527280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Verificar e corrigir notas abertas sem detalhamento, com apoio técnico da supervisão.</a:t>
            </a:r>
            <a:endParaRPr lang="en-US" sz="1800" dirty="0"/>
          </a:p>
        </p:txBody>
      </p:sp>
      <p:sp>
        <p:nvSpPr>
          <p:cNvPr id="13" name="Rótulo INDICADORES DE DESTAQUE"/>
          <p:cNvSpPr txBox="1"/>
          <p:nvPr/>
        </p:nvSpPr>
        <p:spPr>
          <a:xfrm>
            <a:off x="6967728" y="5760720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 DE DESTAQUE</a:t>
            </a:r>
            <a:endParaRPr lang="en-US" sz="1600" dirty="0"/>
          </a:p>
        </p:txBody>
      </p:sp>
      <p:sp>
        <p:nvSpPr>
          <p:cNvPr id="14" name="Indicador Diário"/>
          <p:cNvSpPr/>
          <p:nvPr/>
        </p:nvSpPr>
        <p:spPr>
          <a:xfrm>
            <a:off x="6967728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Valor Diário"/>
          <p:cNvSpPr txBox="1"/>
          <p:nvPr/>
        </p:nvSpPr>
        <p:spPr>
          <a:xfrm>
            <a:off x="7287768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Diário</a:t>
            </a:r>
            <a:endParaRPr lang="en-US" sz="2800" dirty="0"/>
          </a:p>
        </p:txBody>
      </p:sp>
      <p:sp>
        <p:nvSpPr>
          <p:cNvPr id="16" name="Legenda Diário"/>
          <p:cNvSpPr txBox="1"/>
          <p:nvPr/>
        </p:nvSpPr>
        <p:spPr>
          <a:xfrm>
            <a:off x="7287768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Apoio no </a:t>
            </a:r>
            <a:r>
              <a:rPr lang="en-US" sz="1600" dirty="0" err="1">
                <a:solidFill>
                  <a:schemeClr val="tx2"/>
                </a:solidFill>
              </a:rPr>
              <a:t>detalhamento</a:t>
            </a:r>
            <a:r>
              <a:rPr lang="en-US" sz="1600" dirty="0">
                <a:solidFill>
                  <a:schemeClr val="tx2"/>
                </a:solidFill>
              </a:rPr>
              <a:t> de notas em campo</a:t>
            </a:r>
            <a:endParaRPr lang="en-US" sz="1600" dirty="0"/>
          </a:p>
        </p:txBody>
      </p:sp>
      <p:sp>
        <p:nvSpPr>
          <p:cNvPr id="17" name="Indicador &gt; 12 sem"/>
          <p:cNvSpPr/>
          <p:nvPr/>
        </p:nvSpPr>
        <p:spPr>
          <a:xfrm>
            <a:off x="9628632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Valor &amp;gt; 12 sem"/>
          <p:cNvSpPr txBox="1"/>
          <p:nvPr/>
        </p:nvSpPr>
        <p:spPr>
          <a:xfrm>
            <a:off x="9948672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12 sem</a:t>
            </a:r>
            <a:endParaRPr lang="en-US" sz="2800" dirty="0"/>
          </a:p>
        </p:txBody>
      </p:sp>
      <p:sp>
        <p:nvSpPr>
          <p:cNvPr id="19" name="Legenda &amp;gt; 12 sem"/>
          <p:cNvSpPr txBox="1"/>
          <p:nvPr/>
        </p:nvSpPr>
        <p:spPr>
          <a:xfrm>
            <a:off x="9948672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chemeClr val="tx2"/>
                </a:solidFill>
              </a:rPr>
              <a:t>Sanear ordens corretivas pendentes</a:t>
            </a:r>
            <a:endParaRPr lang="en-US" sz="1600" dirty="0"/>
          </a:p>
        </p:txBody>
      </p:sp>
      <p:sp>
        <p:nvSpPr>
          <p:cNvPr id="20" name="Indicador TMD"/>
          <p:cNvSpPr/>
          <p:nvPr/>
        </p:nvSpPr>
        <p:spPr>
          <a:xfrm>
            <a:off x="12289536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Valor TMD"/>
          <p:cNvSpPr txBox="1"/>
          <p:nvPr/>
        </p:nvSpPr>
        <p:spPr>
          <a:xfrm>
            <a:off x="12609576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TMD</a:t>
            </a:r>
            <a:endParaRPr lang="en-US" sz="2800" dirty="0"/>
          </a:p>
        </p:txBody>
      </p:sp>
      <p:sp>
        <p:nvSpPr>
          <p:cNvPr id="22" name="Legenda TMD"/>
          <p:cNvSpPr txBox="1"/>
          <p:nvPr/>
        </p:nvSpPr>
        <p:spPr>
          <a:xfrm>
            <a:off x="12609576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Detalhamento de nota</a:t>
            </a:r>
            <a:endParaRPr lang="en-US" sz="1600" dirty="0"/>
          </a:p>
        </p:txBody>
      </p:sp>
      <p:sp>
        <p:nvSpPr>
          <p:cNvPr id="23" name="Indicador TMSA"/>
          <p:cNvSpPr/>
          <p:nvPr/>
        </p:nvSpPr>
        <p:spPr>
          <a:xfrm>
            <a:off x="14950440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Valor TMSA"/>
          <p:cNvSpPr txBox="1"/>
          <p:nvPr/>
        </p:nvSpPr>
        <p:spPr>
          <a:xfrm>
            <a:off x="15270480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TMSA</a:t>
            </a:r>
            <a:endParaRPr lang="en-US" sz="2800" dirty="0"/>
          </a:p>
        </p:txBody>
      </p:sp>
      <p:sp>
        <p:nvSpPr>
          <p:cNvPr id="25" name="Legenda TMSA"/>
          <p:cNvSpPr txBox="1"/>
          <p:nvPr/>
        </p:nvSpPr>
        <p:spPr>
          <a:xfrm>
            <a:off x="15270480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Solução de Anomalia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CICLO DE PLANEJAMENTO</a:t>
            </a:r>
            <a:endParaRPr lang="en-US" sz="5400" dirty="0"/>
          </a:p>
        </p:txBody>
      </p:sp>
      <p:sp>
        <p:nvSpPr>
          <p:cNvPr id="3" name="Cartão CURTO, MÉDIO E LONGO PRAZ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CURTO, MÉDIO E LONGO PRAZ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CURTO, MÉDIO E LONGO PRAZO</a:t>
            </a:r>
            <a:endParaRPr lang="en-US" sz="1600" dirty="0"/>
          </a:p>
        </p:txBody>
      </p:sp>
      <p:sp>
        <p:nvSpPr>
          <p:cNvPr id="5" name="Texto CURTO, MÉDIO E LONGO PRAZ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Responsável pelo ciclo de planejamento</a:t>
            </a:r>
            <a:endParaRPr lang="en-US" sz="2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Baseline: reunião de </a:t>
            </a:r>
            <a:r>
              <a:rPr lang="en-US" sz="2400" dirty="0" err="1">
                <a:solidFill>
                  <a:schemeClr val="bg1"/>
                </a:solidFill>
              </a:rPr>
              <a:t>programação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semanal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olhando</a:t>
            </a:r>
            <a:r>
              <a:rPr lang="en-US" sz="2400" dirty="0">
                <a:solidFill>
                  <a:schemeClr val="bg1"/>
                </a:solidFill>
              </a:rPr>
              <a:t> o baseline</a:t>
            </a:r>
            <a:endParaRPr lang="en-US" sz="2400" dirty="0"/>
          </a:p>
        </p:txBody>
      </p:sp>
      <p:sp>
        <p:nvSpPr>
          <p:cNvPr id="6" name="Cartão ETAPAS DO CICL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ETAPAS DO CICL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DO CICLO</a:t>
            </a:r>
            <a:endParaRPr lang="en-US" sz="1600" dirty="0"/>
          </a:p>
        </p:txBody>
      </p:sp>
      <p:sp>
        <p:nvSpPr>
          <p:cNvPr id="8" name="Número ETAPAS DO CICL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o ETAPAS DO CICL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Semanal e Diária, com aderência medida entre as etapas.</a:t>
            </a:r>
            <a:endParaRPr lang="en-US" sz="1800" dirty="0"/>
          </a:p>
        </p:txBody>
      </p:sp>
      <p:sp>
        <p:nvSpPr>
          <p:cNvPr id="10" name="Rótulo ETAPAS E INDICADOR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E INDICADORES</a:t>
            </a:r>
            <a:endParaRPr lang="en-US" sz="1600" dirty="0"/>
          </a:p>
        </p:txBody>
      </p:sp>
      <p:sp>
        <p:nvSpPr>
          <p:cNvPr id="11" name="Etapa P1A"/>
          <p:cNvSpPr/>
          <p:nvPr/>
        </p:nvSpPr>
        <p:spPr>
          <a:xfrm>
            <a:off x="6967728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Nome P1A"/>
          <p:cNvSpPr txBox="1"/>
          <p:nvPr/>
        </p:nvSpPr>
        <p:spPr>
          <a:xfrm>
            <a:off x="7150608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P1A</a:t>
            </a:r>
            <a:endParaRPr lang="en-US" sz="2400" dirty="0"/>
          </a:p>
        </p:txBody>
      </p:sp>
      <p:sp>
        <p:nvSpPr>
          <p:cNvPr id="13" name="Legenda P1A"/>
          <p:cNvSpPr txBox="1"/>
          <p:nvPr/>
        </p:nvSpPr>
        <p:spPr>
          <a:xfrm>
            <a:off x="7150608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INDICADOR</a:t>
            </a:r>
            <a:endParaRPr lang="en-US" sz="1400" dirty="0"/>
          </a:p>
        </p:txBody>
      </p:sp>
      <p:sp>
        <p:nvSpPr>
          <p:cNvPr id="14" name="Indicador P1A"/>
          <p:cNvSpPr txBox="1"/>
          <p:nvPr/>
        </p:nvSpPr>
        <p:spPr>
          <a:xfrm>
            <a:off x="7150608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Eficiência de Planejamento</a:t>
            </a:r>
            <a:endParaRPr lang="en-US" sz="1600" dirty="0"/>
          </a:p>
        </p:txBody>
      </p:sp>
      <p:sp>
        <p:nvSpPr>
          <p:cNvPr id="15" name="Aderência 1"/>
          <p:cNvSpPr txBox="1"/>
          <p:nvPr/>
        </p:nvSpPr>
        <p:spPr>
          <a:xfrm>
            <a:off x="8839962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16" name="Seta 1"/>
          <p:cNvSpPr/>
          <p:nvPr/>
        </p:nvSpPr>
        <p:spPr>
          <a:xfrm>
            <a:off x="8977122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Etapa P3M"/>
          <p:cNvSpPr/>
          <p:nvPr/>
        </p:nvSpPr>
        <p:spPr>
          <a:xfrm>
            <a:off x="9800082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Nome P3M"/>
          <p:cNvSpPr txBox="1"/>
          <p:nvPr/>
        </p:nvSpPr>
        <p:spPr>
          <a:xfrm>
            <a:off x="9982962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P3M</a:t>
            </a:r>
            <a:endParaRPr lang="en-US" sz="2400" dirty="0"/>
          </a:p>
        </p:txBody>
      </p:sp>
      <p:sp>
        <p:nvSpPr>
          <p:cNvPr id="19" name="Legenda P3M"/>
          <p:cNvSpPr txBox="1"/>
          <p:nvPr/>
        </p:nvSpPr>
        <p:spPr>
          <a:xfrm>
            <a:off x="9982962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0" name="Indicador P3M"/>
          <p:cNvSpPr txBox="1"/>
          <p:nvPr/>
        </p:nvSpPr>
        <p:spPr>
          <a:xfrm>
            <a:off x="9982962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Cumprimento de P3M</a:t>
            </a:r>
            <a:endParaRPr lang="en-US" sz="1600" dirty="0"/>
          </a:p>
        </p:txBody>
      </p:sp>
      <p:sp>
        <p:nvSpPr>
          <p:cNvPr id="21" name="Aderência 2"/>
          <p:cNvSpPr txBox="1"/>
          <p:nvPr/>
        </p:nvSpPr>
        <p:spPr>
          <a:xfrm>
            <a:off x="11672316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2" name="Seta 2"/>
          <p:cNvSpPr/>
          <p:nvPr/>
        </p:nvSpPr>
        <p:spPr>
          <a:xfrm>
            <a:off x="11809476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Etapa Semanal"/>
          <p:cNvSpPr/>
          <p:nvPr/>
        </p:nvSpPr>
        <p:spPr>
          <a:xfrm>
            <a:off x="12632436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Nome Semanal"/>
          <p:cNvSpPr txBox="1"/>
          <p:nvPr/>
        </p:nvSpPr>
        <p:spPr>
          <a:xfrm>
            <a:off x="12815316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Baseline</a:t>
            </a:r>
            <a:endParaRPr lang="en-US" sz="2400" dirty="0"/>
          </a:p>
        </p:txBody>
      </p:sp>
      <p:sp>
        <p:nvSpPr>
          <p:cNvPr id="25" name="Legenda Semanal"/>
          <p:cNvSpPr txBox="1"/>
          <p:nvPr/>
        </p:nvSpPr>
        <p:spPr>
          <a:xfrm>
            <a:off x="12815316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6" name="Indicador Semanal"/>
          <p:cNvSpPr txBox="1"/>
          <p:nvPr/>
        </p:nvSpPr>
        <p:spPr>
          <a:xfrm>
            <a:off x="12815316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tx2"/>
                </a:solidFill>
              </a:rPr>
              <a:t>Cumprimento</a:t>
            </a:r>
            <a:r>
              <a:rPr lang="en-US" sz="1600" b="1" dirty="0">
                <a:solidFill>
                  <a:schemeClr val="tx2"/>
                </a:solidFill>
              </a:rPr>
              <a:t> do Baseline</a:t>
            </a:r>
            <a:endParaRPr lang="en-US" sz="1600" dirty="0"/>
          </a:p>
        </p:txBody>
      </p:sp>
      <p:sp>
        <p:nvSpPr>
          <p:cNvPr id="27" name="Aderência 3"/>
          <p:cNvSpPr txBox="1"/>
          <p:nvPr/>
        </p:nvSpPr>
        <p:spPr>
          <a:xfrm>
            <a:off x="14504670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8" name="Seta 3"/>
          <p:cNvSpPr/>
          <p:nvPr/>
        </p:nvSpPr>
        <p:spPr>
          <a:xfrm>
            <a:off x="14641830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Etapa Diária"/>
          <p:cNvSpPr/>
          <p:nvPr/>
        </p:nvSpPr>
        <p:spPr>
          <a:xfrm>
            <a:off x="15464790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Nome Diária"/>
          <p:cNvSpPr txBox="1"/>
          <p:nvPr/>
        </p:nvSpPr>
        <p:spPr>
          <a:xfrm>
            <a:off x="15647670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Diária</a:t>
            </a:r>
            <a:endParaRPr lang="en-US" sz="2400" dirty="0"/>
          </a:p>
        </p:txBody>
      </p:sp>
      <p:sp>
        <p:nvSpPr>
          <p:cNvPr id="31" name="Legenda Diária"/>
          <p:cNvSpPr txBox="1"/>
          <p:nvPr/>
        </p:nvSpPr>
        <p:spPr>
          <a:xfrm>
            <a:off x="15647670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32" name="Indicador Diária"/>
          <p:cNvSpPr txBox="1"/>
          <p:nvPr/>
        </p:nvSpPr>
        <p:spPr>
          <a:xfrm>
            <a:off x="15647670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Eficiência de Programação</a:t>
            </a:r>
            <a:endParaRPr lang="en-US" sz="1600" dirty="0"/>
          </a:p>
        </p:txBody>
      </p:sp>
      <p:sp>
        <p:nvSpPr>
          <p:cNvPr id="33" name="Rótulo P3M E P1A"/>
          <p:cNvSpPr txBox="1"/>
          <p:nvPr/>
        </p:nvSpPr>
        <p:spPr>
          <a:xfrm>
            <a:off x="6967728" y="6528816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P3M E P1A</a:t>
            </a:r>
            <a:endParaRPr lang="en-US" sz="1600" dirty="0"/>
          </a:p>
        </p:txBody>
      </p:sp>
      <p:sp>
        <p:nvSpPr>
          <p:cNvPr id="34" name="Cartão Planejamento com base em recursos"/>
          <p:cNvSpPr/>
          <p:nvPr/>
        </p:nvSpPr>
        <p:spPr>
          <a:xfrm>
            <a:off x="6967728" y="6958584"/>
            <a:ext cx="10369296" cy="2560320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ítulo Planejamento com base em recursos"/>
          <p:cNvSpPr txBox="1"/>
          <p:nvPr/>
        </p:nvSpPr>
        <p:spPr>
          <a:xfrm>
            <a:off x="7242048" y="7187184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com base em recursos</a:t>
            </a:r>
            <a:endParaRPr lang="en-US" sz="1800" dirty="0"/>
          </a:p>
        </p:txBody>
      </p:sp>
      <p:sp>
        <p:nvSpPr>
          <p:cNvPr id="36" name="Texto Planejamento com base em recursos"/>
          <p:cNvSpPr txBox="1"/>
          <p:nvPr/>
        </p:nvSpPr>
        <p:spPr>
          <a:xfrm>
            <a:off x="7242048" y="7671816"/>
            <a:ext cx="9820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Planeja com base na disponibilidade de materiais e HH por especialidade, analisa preventivas não executadas e reprograma corretivas não executadas.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ROTINA E SAP</a:t>
            </a:r>
            <a:endParaRPr lang="en-US" sz="5400" dirty="0"/>
          </a:p>
        </p:txBody>
      </p:sp>
      <p:sp>
        <p:nvSpPr>
          <p:cNvPr id="3" name="Cartão AGENDA DA ROTINA"/>
          <p:cNvSpPr/>
          <p:nvPr/>
        </p:nvSpPr>
        <p:spPr>
          <a:xfrm>
            <a:off x="950976" y="2624328"/>
            <a:ext cx="5715000" cy="4434840"/>
          </a:xfrm>
          <a:prstGeom prst="roundRect">
            <a:avLst>
              <a:gd name="adj" fmla="val 412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AGENDA DA ROTINA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AGENDA DA ROTINA</a:t>
            </a:r>
            <a:endParaRPr lang="en-US" sz="1600" dirty="0"/>
          </a:p>
        </p:txBody>
      </p:sp>
      <p:sp>
        <p:nvSpPr>
          <p:cNvPr id="5" name="Texto AGENDA DA ROTINA"/>
          <p:cNvSpPr txBox="1"/>
          <p:nvPr/>
        </p:nvSpPr>
        <p:spPr>
          <a:xfrm>
            <a:off x="1335024" y="349300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Follow-up de execução das ordens de manutenção com as áreas de manutenção, produção e marinha</a:t>
            </a:r>
            <a:endParaRPr lang="en-US" sz="2400" dirty="0"/>
          </a:p>
        </p:txBody>
      </p:sp>
      <p:sp>
        <p:nvSpPr>
          <p:cNvPr id="6" name="Cartão INDICADORES"/>
          <p:cNvSpPr/>
          <p:nvPr/>
        </p:nvSpPr>
        <p:spPr>
          <a:xfrm>
            <a:off x="950976" y="7333488"/>
            <a:ext cx="5715000" cy="2185416"/>
          </a:xfrm>
          <a:prstGeom prst="roundRect">
            <a:avLst>
              <a:gd name="adj" fmla="val 83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INDICADORES"/>
          <p:cNvSpPr txBox="1"/>
          <p:nvPr/>
        </p:nvSpPr>
        <p:spPr>
          <a:xfrm>
            <a:off x="1335024" y="760780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</a:t>
            </a:r>
            <a:endParaRPr lang="en-US" sz="1600" dirty="0"/>
          </a:p>
        </p:txBody>
      </p:sp>
      <p:sp>
        <p:nvSpPr>
          <p:cNvPr id="8" name="Texto INDICADORES"/>
          <p:cNvSpPr txBox="1"/>
          <p:nvPr/>
        </p:nvSpPr>
        <p:spPr>
          <a:xfrm>
            <a:off x="1335024" y="8065008"/>
            <a:ext cx="49469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Execução de preventiva, execução de </a:t>
            </a:r>
            <a:r>
              <a:rPr lang="en-US" sz="1800" b="1" dirty="0" err="1">
                <a:solidFill>
                  <a:schemeClr val="tx2"/>
                </a:solidFill>
              </a:rPr>
              <a:t>corretiva</a:t>
            </a:r>
            <a:r>
              <a:rPr lang="en-US" sz="1800" b="1" dirty="0">
                <a:solidFill>
                  <a:schemeClr val="tx2"/>
                </a:solidFill>
              </a:rPr>
              <a:t>, </a:t>
            </a:r>
            <a:r>
              <a:rPr lang="en-US" sz="1800" b="1" dirty="0" err="1">
                <a:solidFill>
                  <a:schemeClr val="tx2"/>
                </a:solidFill>
              </a:rPr>
              <a:t>preditiva</a:t>
            </a:r>
            <a:r>
              <a:rPr lang="en-US" sz="1800" b="1" dirty="0">
                <a:solidFill>
                  <a:schemeClr val="tx2"/>
                </a:solidFill>
              </a:rPr>
              <a:t>, backlog, </a:t>
            </a:r>
            <a:r>
              <a:rPr lang="en-US" sz="1800" b="1" dirty="0" err="1">
                <a:solidFill>
                  <a:schemeClr val="tx2"/>
                </a:solidFill>
              </a:rPr>
              <a:t>atendimento</a:t>
            </a:r>
            <a:r>
              <a:rPr lang="en-US" sz="1800" b="1" dirty="0">
                <a:solidFill>
                  <a:schemeClr val="tx2"/>
                </a:solidFill>
              </a:rPr>
              <a:t> de </a:t>
            </a:r>
            <a:r>
              <a:rPr lang="en-US" sz="1800" b="1" dirty="0" err="1">
                <a:solidFill>
                  <a:schemeClr val="tx2"/>
                </a:solidFill>
              </a:rPr>
              <a:t>materiais</a:t>
            </a:r>
            <a:r>
              <a:rPr lang="en-US" sz="1800" b="1" dirty="0">
                <a:solidFill>
                  <a:schemeClr val="tx2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Cartão SAP"/>
          <p:cNvSpPr/>
          <p:nvPr/>
        </p:nvSpPr>
        <p:spPr>
          <a:xfrm>
            <a:off x="6967728" y="2624328"/>
            <a:ext cx="10369296" cy="331012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ítulo SAP"/>
          <p:cNvSpPr txBox="1"/>
          <p:nvPr/>
        </p:nvSpPr>
        <p:spPr>
          <a:xfrm>
            <a:off x="7242048" y="2990088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15" name="Texto SAP"/>
          <p:cNvSpPr txBox="1"/>
          <p:nvPr/>
        </p:nvSpPr>
        <p:spPr>
          <a:xfrm>
            <a:off x="7242048" y="3630168"/>
            <a:ext cx="9820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Ponto focal na unidade para saneamento de dúvidas em relação ao SAP.</a:t>
            </a:r>
            <a:endParaRPr lang="en-US" sz="1800" dirty="0"/>
          </a:p>
        </p:txBody>
      </p:sp>
      <p:sp>
        <p:nvSpPr>
          <p:cNvPr id="16" name="Cartão Fluxo de revisão de planos de manutenção"/>
          <p:cNvSpPr/>
          <p:nvPr/>
        </p:nvSpPr>
        <p:spPr>
          <a:xfrm>
            <a:off x="6967728" y="6208776"/>
            <a:ext cx="10369296" cy="331012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ítulo Fluxo de revisão de planos de manutenção"/>
          <p:cNvSpPr txBox="1"/>
          <p:nvPr/>
        </p:nvSpPr>
        <p:spPr>
          <a:xfrm>
            <a:off x="7242048" y="6574536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Fluxo de revisão de planos de manutenção</a:t>
            </a:r>
            <a:endParaRPr lang="en-US" sz="1800" dirty="0"/>
          </a:p>
        </p:txBody>
      </p:sp>
      <p:sp>
        <p:nvSpPr>
          <p:cNvPr id="18" name="Texto Fluxo de revisão de planos de manutenção"/>
          <p:cNvSpPr txBox="1"/>
          <p:nvPr/>
        </p:nvSpPr>
        <p:spPr>
          <a:xfrm>
            <a:off x="7242048" y="7214616"/>
            <a:ext cx="9820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Requisita melhorias nos PMs pelo Portal de Revisão de Planos.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MATERIAIS, SERVIÇOS E CUSTOS</a:t>
            </a:r>
            <a:endParaRPr lang="en-US" sz="5400" dirty="0"/>
          </a:p>
        </p:txBody>
      </p:sp>
      <p:sp>
        <p:nvSpPr>
          <p:cNvPr id="3" name="Cartão GESTÃO DE MATERIAIS E SERVIÇOS"/>
          <p:cNvSpPr/>
          <p:nvPr/>
        </p:nvSpPr>
        <p:spPr>
          <a:xfrm>
            <a:off x="950976" y="2624328"/>
            <a:ext cx="5715000" cy="448056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GESTÃO DE MATERIAIS E SERVIÇO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GESTÃO DE MATERIAIS E SERVIÇOS</a:t>
            </a:r>
            <a:endParaRPr lang="en-US" sz="1600" dirty="0"/>
          </a:p>
        </p:txBody>
      </p:sp>
      <p:sp>
        <p:nvSpPr>
          <p:cNvPr id="5" name="Texto GESTÃO DE MATERIAIS E SERVIÇOS"/>
          <p:cNvSpPr txBox="1"/>
          <p:nvPr/>
        </p:nvSpPr>
        <p:spPr>
          <a:xfrm>
            <a:off x="1335024" y="3493008"/>
            <a:ext cx="49469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Cadastro de materiais (KLASSMAT)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Gestão de equipamentos enviados para reparo externo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Requisição de compra de materiais pela ordem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Follow-up de materiais e serviços</a:t>
            </a:r>
            <a:endParaRPr lang="en-US" sz="2000" dirty="0"/>
          </a:p>
        </p:txBody>
      </p:sp>
      <p:sp>
        <p:nvSpPr>
          <p:cNvPr id="6" name="Cartão GESTÃO DE CUSTOS"/>
          <p:cNvSpPr/>
          <p:nvPr/>
        </p:nvSpPr>
        <p:spPr>
          <a:xfrm>
            <a:off x="950976" y="7379208"/>
            <a:ext cx="5715000" cy="2139696"/>
          </a:xfrm>
          <a:prstGeom prst="roundRect">
            <a:avLst>
              <a:gd name="adj" fmla="val 85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GESTÃO DE CUSTOS"/>
          <p:cNvSpPr txBox="1"/>
          <p:nvPr/>
        </p:nvSpPr>
        <p:spPr>
          <a:xfrm>
            <a:off x="1335024" y="765352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CUSTOS</a:t>
            </a:r>
            <a:endParaRPr lang="en-US" sz="1600" dirty="0"/>
          </a:p>
        </p:txBody>
      </p:sp>
      <p:sp>
        <p:nvSpPr>
          <p:cNvPr id="8" name="Texto GESTÃO DE CUSTOS"/>
          <p:cNvSpPr txBox="1"/>
          <p:nvPr/>
        </p:nvSpPr>
        <p:spPr>
          <a:xfrm>
            <a:off x="1335024" y="8110728"/>
            <a:ext cx="49469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Suporte à construção do orçamento</a:t>
            </a:r>
            <a:endParaRPr lang="en-US" sz="1800" dirty="0"/>
          </a:p>
        </p:txBody>
      </p:sp>
      <p:sp>
        <p:nvSpPr>
          <p:cNvPr id="9" name="Rótulo DESTAQU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DESTAQUES</a:t>
            </a:r>
            <a:endParaRPr lang="en-US" sz="1600" dirty="0"/>
          </a:p>
        </p:txBody>
      </p:sp>
      <p:sp>
        <p:nvSpPr>
          <p:cNvPr id="10" name="Indicador KLASSMAT"/>
          <p:cNvSpPr/>
          <p:nvPr/>
        </p:nvSpPr>
        <p:spPr>
          <a:xfrm>
            <a:off x="6967728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Valor KLASSMAT"/>
          <p:cNvSpPr txBox="1"/>
          <p:nvPr/>
        </p:nvSpPr>
        <p:spPr>
          <a:xfrm>
            <a:off x="7287768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KLASSMAT</a:t>
            </a:r>
            <a:endParaRPr lang="en-US" sz="3600" dirty="0"/>
          </a:p>
        </p:txBody>
      </p:sp>
      <p:sp>
        <p:nvSpPr>
          <p:cNvPr id="12" name="Legenda KLASSMAT"/>
          <p:cNvSpPr txBox="1"/>
          <p:nvPr/>
        </p:nvSpPr>
        <p:spPr>
          <a:xfrm>
            <a:off x="7287768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Cadastro de materiais</a:t>
            </a:r>
            <a:endParaRPr lang="en-US" sz="1600" dirty="0"/>
          </a:p>
        </p:txBody>
      </p:sp>
      <p:sp>
        <p:nvSpPr>
          <p:cNvPr id="13" name="Indicador Reparo"/>
          <p:cNvSpPr/>
          <p:nvPr/>
        </p:nvSpPr>
        <p:spPr>
          <a:xfrm>
            <a:off x="12252960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Valor Reparo"/>
          <p:cNvSpPr txBox="1"/>
          <p:nvPr/>
        </p:nvSpPr>
        <p:spPr>
          <a:xfrm>
            <a:off x="12573000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Reparo</a:t>
            </a: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 </a:t>
            </a: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Retorno</a:t>
            </a:r>
            <a:endParaRPr lang="en-US" sz="3600" dirty="0"/>
          </a:p>
        </p:txBody>
      </p:sp>
      <p:sp>
        <p:nvSpPr>
          <p:cNvPr id="15" name="Legenda Reparo"/>
          <p:cNvSpPr txBox="1"/>
          <p:nvPr/>
        </p:nvSpPr>
        <p:spPr>
          <a:xfrm>
            <a:off x="12573000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Equipamentos enviados para reparo externo</a:t>
            </a:r>
            <a:endParaRPr lang="en-US" sz="1600" dirty="0"/>
          </a:p>
        </p:txBody>
      </p:sp>
      <p:sp>
        <p:nvSpPr>
          <p:cNvPr id="16" name="Indicador Por ordem"/>
          <p:cNvSpPr/>
          <p:nvPr/>
        </p:nvSpPr>
        <p:spPr>
          <a:xfrm>
            <a:off x="6967728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Valor Por ordem"/>
          <p:cNvSpPr txBox="1"/>
          <p:nvPr/>
        </p:nvSpPr>
        <p:spPr>
          <a:xfrm>
            <a:off x="7287768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Por ordem</a:t>
            </a:r>
            <a:endParaRPr lang="en-US" sz="3600" dirty="0"/>
          </a:p>
        </p:txBody>
      </p:sp>
      <p:sp>
        <p:nvSpPr>
          <p:cNvPr id="18" name="Legenda Por ordem"/>
          <p:cNvSpPr txBox="1"/>
          <p:nvPr/>
        </p:nvSpPr>
        <p:spPr>
          <a:xfrm>
            <a:off x="7287768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Requisição de compra de materiais</a:t>
            </a:r>
            <a:endParaRPr lang="en-US" sz="1600" dirty="0"/>
          </a:p>
        </p:txBody>
      </p:sp>
      <p:sp>
        <p:nvSpPr>
          <p:cNvPr id="19" name="Indicador Orçamento"/>
          <p:cNvSpPr/>
          <p:nvPr/>
        </p:nvSpPr>
        <p:spPr>
          <a:xfrm>
            <a:off x="12252960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Valor Orçamento"/>
          <p:cNvSpPr txBox="1"/>
          <p:nvPr/>
        </p:nvSpPr>
        <p:spPr>
          <a:xfrm>
            <a:off x="12573000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Orçamento</a:t>
            </a:r>
            <a:endParaRPr lang="en-US" sz="3600" dirty="0"/>
          </a:p>
        </p:txBody>
      </p:sp>
      <p:sp>
        <p:nvSpPr>
          <p:cNvPr id="21" name="Legenda Orçamento"/>
          <p:cNvSpPr txBox="1"/>
          <p:nvPr/>
        </p:nvSpPr>
        <p:spPr>
          <a:xfrm>
            <a:off x="12573000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Suporte à construção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O QUE O PLANEJADOR NÃO É</a:t>
            </a:r>
            <a:endParaRPr lang="en-US" sz="5400" dirty="0"/>
          </a:p>
        </p:txBody>
      </p:sp>
      <p:sp>
        <p:nvSpPr>
          <p:cNvPr id="3" name="Cartão LIMITES DA FUNÇÃ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LIMITES DA FUNÇÃ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LIMITES DA FUNÇÃO</a:t>
            </a:r>
            <a:endParaRPr lang="en-US" sz="1600" dirty="0"/>
          </a:p>
        </p:txBody>
      </p:sp>
      <p:sp>
        <p:nvSpPr>
          <p:cNvPr id="5" name="Texto LIMITES DA FUNÇÃ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Cada etapa do fluxo tem um responsável: operador, técnico, supervisor ou planejador.</a:t>
            </a:r>
            <a:endParaRPr lang="en-US" sz="2200" dirty="0"/>
          </a:p>
        </p:txBody>
      </p:sp>
      <p:sp>
        <p:nvSpPr>
          <p:cNvPr id="10" name="Rótulo O PLANEJADOR NÃO…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PLANEJADOR NÃO…</a:t>
            </a:r>
            <a:endParaRPr lang="en-US" sz="1600" dirty="0"/>
          </a:p>
        </p:txBody>
      </p:sp>
      <p:sp>
        <p:nvSpPr>
          <p:cNvPr id="11" name="Cartão 1"/>
          <p:cNvSpPr/>
          <p:nvPr/>
        </p:nvSpPr>
        <p:spPr>
          <a:xfrm>
            <a:off x="6967728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Ícone fundo 1"/>
          <p:cNvSpPr/>
          <p:nvPr/>
        </p:nvSpPr>
        <p:spPr>
          <a:xfrm>
            <a:off x="7242048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Ícone não 1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3621024"/>
            <a:ext cx="301752" cy="301752"/>
          </a:xfrm>
          <a:prstGeom prst="rect">
            <a:avLst/>
          </a:prstGeom>
        </p:spPr>
      </p:pic>
      <p:sp>
        <p:nvSpPr>
          <p:cNvPr id="14" name="Texto não 1"/>
          <p:cNvSpPr txBox="1"/>
          <p:nvPr/>
        </p:nvSpPr>
        <p:spPr>
          <a:xfrm>
            <a:off x="8065008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É secretário de supervisor</a:t>
            </a:r>
            <a:endParaRPr lang="en-US" dirty="0"/>
          </a:p>
        </p:txBody>
      </p:sp>
      <p:sp>
        <p:nvSpPr>
          <p:cNvPr id="15" name="Cartão 2"/>
          <p:cNvSpPr/>
          <p:nvPr/>
        </p:nvSpPr>
        <p:spPr>
          <a:xfrm>
            <a:off x="12252960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Ícone fundo 2"/>
          <p:cNvSpPr/>
          <p:nvPr/>
        </p:nvSpPr>
        <p:spPr>
          <a:xfrm>
            <a:off x="12527280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Ícone não 2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3621024"/>
            <a:ext cx="301752" cy="301752"/>
          </a:xfrm>
          <a:prstGeom prst="rect">
            <a:avLst/>
          </a:prstGeom>
        </p:spPr>
      </p:pic>
      <p:sp>
        <p:nvSpPr>
          <p:cNvPr id="18" name="Texto não 2"/>
          <p:cNvSpPr txBox="1"/>
          <p:nvPr/>
        </p:nvSpPr>
        <p:spPr>
          <a:xfrm>
            <a:off x="13350240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Distribui ordens para técnicos</a:t>
            </a:r>
            <a:endParaRPr lang="en-US" sz="1800" dirty="0"/>
          </a:p>
        </p:txBody>
      </p:sp>
      <p:sp>
        <p:nvSpPr>
          <p:cNvPr id="19" name="Cartão 3"/>
          <p:cNvSpPr/>
          <p:nvPr/>
        </p:nvSpPr>
        <p:spPr>
          <a:xfrm>
            <a:off x="6967728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Ícone fundo 3"/>
          <p:cNvSpPr/>
          <p:nvPr/>
        </p:nvSpPr>
        <p:spPr>
          <a:xfrm>
            <a:off x="7242048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Ícone não 3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5239512"/>
            <a:ext cx="301752" cy="301752"/>
          </a:xfrm>
          <a:prstGeom prst="rect">
            <a:avLst/>
          </a:prstGeom>
        </p:spPr>
      </p:pic>
      <p:sp>
        <p:nvSpPr>
          <p:cNvPr id="22" name="Texto não 3"/>
          <p:cNvSpPr txBox="1"/>
          <p:nvPr/>
        </p:nvSpPr>
        <p:spPr>
          <a:xfrm>
            <a:off x="8065008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Revisa PMs</a:t>
            </a:r>
            <a:endParaRPr lang="en-US" sz="1800" dirty="0"/>
          </a:p>
        </p:txBody>
      </p:sp>
      <p:sp>
        <p:nvSpPr>
          <p:cNvPr id="23" name="Cartão 4"/>
          <p:cNvSpPr/>
          <p:nvPr/>
        </p:nvSpPr>
        <p:spPr>
          <a:xfrm>
            <a:off x="12252960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Ícone fundo 4"/>
          <p:cNvSpPr/>
          <p:nvPr/>
        </p:nvSpPr>
        <p:spPr>
          <a:xfrm>
            <a:off x="12527280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Ícone não 4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5239512"/>
            <a:ext cx="301752" cy="301752"/>
          </a:xfrm>
          <a:prstGeom prst="rect">
            <a:avLst/>
          </a:prstGeom>
        </p:spPr>
      </p:pic>
      <p:sp>
        <p:nvSpPr>
          <p:cNvPr id="26" name="Texto não 4"/>
          <p:cNvSpPr txBox="1"/>
          <p:nvPr/>
        </p:nvSpPr>
        <p:spPr>
          <a:xfrm>
            <a:off x="13350240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Abre notas nem relata anomalias</a:t>
            </a:r>
            <a:endParaRPr lang="en-US" sz="1800" dirty="0"/>
          </a:p>
        </p:txBody>
      </p:sp>
      <p:sp>
        <p:nvSpPr>
          <p:cNvPr id="27" name="Cartão 5"/>
          <p:cNvSpPr/>
          <p:nvPr/>
        </p:nvSpPr>
        <p:spPr>
          <a:xfrm>
            <a:off x="6967728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Ícone fundo 5"/>
          <p:cNvSpPr/>
          <p:nvPr/>
        </p:nvSpPr>
        <p:spPr>
          <a:xfrm>
            <a:off x="7242048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Ícone não 5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6858000"/>
            <a:ext cx="301752" cy="301752"/>
          </a:xfrm>
          <a:prstGeom prst="rect">
            <a:avLst/>
          </a:prstGeom>
        </p:spPr>
      </p:pic>
      <p:sp>
        <p:nvSpPr>
          <p:cNvPr id="30" name="Texto não 5"/>
          <p:cNvSpPr txBox="1"/>
          <p:nvPr/>
        </p:nvSpPr>
        <p:spPr>
          <a:xfrm>
            <a:off x="8065008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 ordens pelo time técnico</a:t>
            </a:r>
            <a:endParaRPr lang="en-US" sz="1800" dirty="0"/>
          </a:p>
        </p:txBody>
      </p:sp>
      <p:sp>
        <p:nvSpPr>
          <p:cNvPr id="31" name="Cartão 6"/>
          <p:cNvSpPr/>
          <p:nvPr/>
        </p:nvSpPr>
        <p:spPr>
          <a:xfrm>
            <a:off x="12252960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Ícone fundo 6"/>
          <p:cNvSpPr/>
          <p:nvPr/>
        </p:nvSpPr>
        <p:spPr>
          <a:xfrm>
            <a:off x="12527280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Ícone não 6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6858000"/>
            <a:ext cx="301752" cy="301752"/>
          </a:xfrm>
          <a:prstGeom prst="rect">
            <a:avLst/>
          </a:prstGeom>
        </p:spPr>
      </p:pic>
      <p:sp>
        <p:nvSpPr>
          <p:cNvPr id="34" name="Texto não 6"/>
          <p:cNvSpPr txBox="1"/>
          <p:nvPr/>
        </p:nvSpPr>
        <p:spPr>
          <a:xfrm>
            <a:off x="13350240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 ordens pelo supervisor</a:t>
            </a:r>
            <a:endParaRPr lang="en-US" sz="1800" dirty="0"/>
          </a:p>
        </p:txBody>
      </p:sp>
      <p:sp>
        <p:nvSpPr>
          <p:cNvPr id="35" name="Cartão 7"/>
          <p:cNvSpPr/>
          <p:nvPr/>
        </p:nvSpPr>
        <p:spPr>
          <a:xfrm>
            <a:off x="6967728" y="7918704"/>
            <a:ext cx="10369296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Ícone fundo 7"/>
          <p:cNvSpPr/>
          <p:nvPr/>
        </p:nvSpPr>
        <p:spPr>
          <a:xfrm>
            <a:off x="7242048" y="8330184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Ícone não 7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476488"/>
            <a:ext cx="301752" cy="301752"/>
          </a:xfrm>
          <a:prstGeom prst="rect">
            <a:avLst/>
          </a:prstGeom>
        </p:spPr>
      </p:pic>
      <p:sp>
        <p:nvSpPr>
          <p:cNvPr id="38" name="Texto não 7"/>
          <p:cNvSpPr txBox="1"/>
          <p:nvPr/>
        </p:nvSpPr>
        <p:spPr>
          <a:xfrm>
            <a:off x="8065008" y="8101584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Inclui mitigação de risco nas ordens</a:t>
            </a:r>
            <a:endParaRPr lang="en-US" sz="1800" dirty="0"/>
          </a:p>
        </p:txBody>
      </p:sp>
      <p:sp>
        <p:nvSpPr>
          <p:cNvPr id="39" name="Cartão FORA DO PAPEL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Rótulo FORA DO PAPEL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FORA DO PAPEL</a:t>
            </a:r>
            <a:endParaRPr lang="en-US" sz="1600" dirty="0"/>
          </a:p>
        </p:txBody>
      </p:sp>
      <p:sp>
        <p:nvSpPr>
          <p:cNvPr id="41" name="Número FORA DO PAPEL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4800" dirty="0"/>
          </a:p>
        </p:txBody>
      </p:sp>
      <p:sp>
        <p:nvSpPr>
          <p:cNvPr id="42" name="Texto FORA DO PAPEL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situações que não são do planejador.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DA NOTA À ORDEM DE SERVIÇO</a:t>
            </a:r>
            <a:endParaRPr lang="en-US" sz="5400" dirty="0"/>
          </a:p>
        </p:txBody>
      </p:sp>
      <p:sp>
        <p:nvSpPr>
          <p:cNvPr id="3" name="Passo 1"/>
          <p:cNvSpPr/>
          <p:nvPr/>
        </p:nvSpPr>
        <p:spPr>
          <a:xfrm>
            <a:off x="95097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Passo texto 1"/>
          <p:cNvSpPr txBox="1"/>
          <p:nvPr/>
        </p:nvSpPr>
        <p:spPr>
          <a:xfrm>
            <a:off x="104241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  </a:t>
            </a:r>
            <a:r>
              <a:rPr lang="en-US" sz="1400" dirty="0">
                <a:solidFill>
                  <a:schemeClr val="bg1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5" name="Passo 2"/>
          <p:cNvSpPr/>
          <p:nvPr/>
        </p:nvSpPr>
        <p:spPr>
          <a:xfrm>
            <a:off x="278688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Passo texto 2"/>
          <p:cNvSpPr txBox="1"/>
          <p:nvPr/>
        </p:nvSpPr>
        <p:spPr>
          <a:xfrm>
            <a:off x="287832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  </a:t>
            </a:r>
            <a:r>
              <a:rPr lang="en-US" sz="1400" dirty="0">
                <a:solidFill>
                  <a:schemeClr val="bg1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7" name="Passo 3"/>
          <p:cNvSpPr/>
          <p:nvPr/>
        </p:nvSpPr>
        <p:spPr>
          <a:xfrm>
            <a:off x="462280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Passo texto 3"/>
          <p:cNvSpPr txBox="1"/>
          <p:nvPr/>
        </p:nvSpPr>
        <p:spPr>
          <a:xfrm>
            <a:off x="471424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  </a:t>
            </a:r>
            <a:r>
              <a:rPr lang="en-US" sz="1400" dirty="0">
                <a:solidFill>
                  <a:schemeClr val="bg1"/>
                </a:solidFill>
              </a:rPr>
              <a:t>Gerar ordem de serviço</a:t>
            </a:r>
            <a:endParaRPr lang="en-US" sz="1600" dirty="0"/>
          </a:p>
        </p:txBody>
      </p:sp>
      <p:sp>
        <p:nvSpPr>
          <p:cNvPr id="9" name="Passo 4"/>
          <p:cNvSpPr/>
          <p:nvPr/>
        </p:nvSpPr>
        <p:spPr>
          <a:xfrm>
            <a:off x="645871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Passo texto 4"/>
          <p:cNvSpPr txBox="1"/>
          <p:nvPr/>
        </p:nvSpPr>
        <p:spPr>
          <a:xfrm>
            <a:off x="655015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  </a:t>
            </a:r>
            <a:r>
              <a:rPr lang="en-US" sz="14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11" name="Passo 5"/>
          <p:cNvSpPr/>
          <p:nvPr/>
        </p:nvSpPr>
        <p:spPr>
          <a:xfrm>
            <a:off x="8294624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Passo texto 5"/>
          <p:cNvSpPr txBox="1"/>
          <p:nvPr/>
        </p:nvSpPr>
        <p:spPr>
          <a:xfrm>
            <a:off x="8386064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  </a:t>
            </a:r>
            <a:r>
              <a:rPr lang="en-US" sz="1400" dirty="0">
                <a:solidFill>
                  <a:schemeClr val="tx2"/>
                </a:solidFill>
              </a:rPr>
              <a:t>Priorização da ordem</a:t>
            </a:r>
            <a:endParaRPr lang="en-US" sz="1600" dirty="0"/>
          </a:p>
        </p:txBody>
      </p:sp>
      <p:sp>
        <p:nvSpPr>
          <p:cNvPr id="13" name="Passo 6"/>
          <p:cNvSpPr/>
          <p:nvPr/>
        </p:nvSpPr>
        <p:spPr>
          <a:xfrm>
            <a:off x="1013053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Passo texto 6"/>
          <p:cNvSpPr txBox="1"/>
          <p:nvPr/>
        </p:nvSpPr>
        <p:spPr>
          <a:xfrm>
            <a:off x="1022197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  </a:t>
            </a:r>
            <a:r>
              <a:rPr lang="en-US" sz="14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15" name="Passo 7"/>
          <p:cNvSpPr/>
          <p:nvPr/>
        </p:nvSpPr>
        <p:spPr>
          <a:xfrm>
            <a:off x="1196644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Passo texto 7"/>
          <p:cNvSpPr txBox="1"/>
          <p:nvPr/>
        </p:nvSpPr>
        <p:spPr>
          <a:xfrm>
            <a:off x="1205788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  </a:t>
            </a:r>
            <a:r>
              <a:rPr lang="en-US" sz="14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17" name="Passo 8"/>
          <p:cNvSpPr/>
          <p:nvPr/>
        </p:nvSpPr>
        <p:spPr>
          <a:xfrm>
            <a:off x="1380236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Passo texto 8"/>
          <p:cNvSpPr txBox="1"/>
          <p:nvPr/>
        </p:nvSpPr>
        <p:spPr>
          <a:xfrm>
            <a:off x="1389380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  </a:t>
            </a:r>
            <a:r>
              <a:rPr lang="en-US" sz="14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19" name="Passo 9"/>
          <p:cNvSpPr/>
          <p:nvPr/>
        </p:nvSpPr>
        <p:spPr>
          <a:xfrm>
            <a:off x="1563827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Passo texto 9"/>
          <p:cNvSpPr txBox="1"/>
          <p:nvPr/>
        </p:nvSpPr>
        <p:spPr>
          <a:xfrm>
            <a:off x="1572971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  </a:t>
            </a:r>
            <a:r>
              <a:rPr lang="en-US" sz="14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21" name="Cartão Abertura de nota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Abertura de nota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Abertura de nota" descr="Abertura de no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bertura de nota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Abertura de nota</a:t>
            </a:r>
            <a:endParaRPr lang="en-US" sz="1400" dirty="0"/>
          </a:p>
        </p:txBody>
      </p:sp>
      <p:sp>
        <p:nvSpPr>
          <p:cNvPr id="25" name="Papel Operador/Técnico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Operador/Técnico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27" name="Texto Operador/Técnico"/>
          <p:cNvSpPr txBox="1"/>
          <p:nvPr/>
        </p:nvSpPr>
        <p:spPr>
          <a:xfrm>
            <a:off x="1271016" y="5623560"/>
            <a:ext cx="46390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o problema/falha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recursos necessários para corrigir a avaria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como executar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ferramentas e recursos (HH)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materiais (cód. SAP ou referência)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orientações de segurança</a:t>
            </a:r>
            <a:endParaRPr lang="en-US" sz="1700" dirty="0"/>
          </a:p>
        </p:txBody>
      </p:sp>
      <p:sp>
        <p:nvSpPr>
          <p:cNvPr id="28" name="Cartão Análise de nota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Análise de nota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Análise de nota" descr="Análise de 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Análise de nota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Análise de nota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Análise macro: duplicidade, 1º nível e qualidade de abertura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Verificar plano que cubra 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Gerar backlog D-1 por supervisor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9808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98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8001000"/>
            <a:ext cx="46390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abertura com o time técnico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Completar a nota e informar a data de início prevista</a:t>
            </a:r>
            <a:endParaRPr lang="en-US" sz="1700" dirty="0"/>
          </a:p>
        </p:txBody>
      </p:sp>
      <p:sp>
        <p:nvSpPr>
          <p:cNvPr id="38" name="Cartão Gerar ordem de serviço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Gerar ordem de serviço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Gerar ordem de serviço" descr="Gerar ordem de serviç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Gerar ordem de serviço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3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Gerar ordem de serviço</a:t>
            </a:r>
            <a:endParaRPr lang="en-US" sz="1400" dirty="0"/>
          </a:p>
        </p:txBody>
      </p:sp>
      <p:sp>
        <p:nvSpPr>
          <p:cNvPr id="42" name="Papel Superviso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Superviso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44" name="Texto Superviso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Transformar a nota em ordem somente se contiver todas as informações para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na ordem as etapas da atividade (operação)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DETALHAR E PROGRAMAR</a:t>
            </a:r>
            <a:endParaRPr lang="en-US" sz="5400" dirty="0"/>
          </a:p>
        </p:txBody>
      </p:sp>
      <p:sp>
        <p:nvSpPr>
          <p:cNvPr id="3" name="Passo 1"/>
          <p:cNvSpPr/>
          <p:nvPr/>
        </p:nvSpPr>
        <p:spPr>
          <a:xfrm>
            <a:off x="95097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Passo texto 1"/>
          <p:cNvSpPr txBox="1"/>
          <p:nvPr/>
        </p:nvSpPr>
        <p:spPr>
          <a:xfrm>
            <a:off x="104241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  </a:t>
            </a:r>
            <a:r>
              <a:rPr lang="en-US" sz="14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5" name="Passo 2"/>
          <p:cNvSpPr/>
          <p:nvPr/>
        </p:nvSpPr>
        <p:spPr>
          <a:xfrm>
            <a:off x="278688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Passo texto 2"/>
          <p:cNvSpPr txBox="1"/>
          <p:nvPr/>
        </p:nvSpPr>
        <p:spPr>
          <a:xfrm>
            <a:off x="287832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  </a:t>
            </a:r>
            <a:r>
              <a:rPr lang="en-US" sz="14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7" name="Passo 3"/>
          <p:cNvSpPr/>
          <p:nvPr/>
        </p:nvSpPr>
        <p:spPr>
          <a:xfrm>
            <a:off x="462280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Passo texto 3"/>
          <p:cNvSpPr txBox="1"/>
          <p:nvPr/>
        </p:nvSpPr>
        <p:spPr>
          <a:xfrm>
            <a:off x="471424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  </a:t>
            </a:r>
            <a:r>
              <a:rPr lang="en-US" sz="1400" dirty="0">
                <a:solidFill>
                  <a:schemeClr val="tx2"/>
                </a:solidFill>
              </a:rPr>
              <a:t>Gerar ordem de serviço</a:t>
            </a:r>
            <a:endParaRPr lang="en-US" sz="1600" dirty="0"/>
          </a:p>
        </p:txBody>
      </p:sp>
      <p:sp>
        <p:nvSpPr>
          <p:cNvPr id="9" name="Passo 4"/>
          <p:cNvSpPr/>
          <p:nvPr/>
        </p:nvSpPr>
        <p:spPr>
          <a:xfrm>
            <a:off x="645871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Passo texto 4"/>
          <p:cNvSpPr txBox="1"/>
          <p:nvPr/>
        </p:nvSpPr>
        <p:spPr>
          <a:xfrm>
            <a:off x="655015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  </a:t>
            </a:r>
            <a:r>
              <a:rPr lang="en-US" sz="1400" dirty="0">
                <a:solidFill>
                  <a:schemeClr val="bg1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11" name="Passo 5"/>
          <p:cNvSpPr/>
          <p:nvPr/>
        </p:nvSpPr>
        <p:spPr>
          <a:xfrm>
            <a:off x="8294624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Passo texto 5"/>
          <p:cNvSpPr txBox="1"/>
          <p:nvPr/>
        </p:nvSpPr>
        <p:spPr>
          <a:xfrm>
            <a:off x="8386064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  </a:t>
            </a:r>
            <a:r>
              <a:rPr lang="en-US" sz="1400" dirty="0">
                <a:solidFill>
                  <a:schemeClr val="bg1"/>
                </a:solidFill>
              </a:rPr>
              <a:t>Priorização da ordem</a:t>
            </a:r>
            <a:endParaRPr lang="en-US" sz="1600" dirty="0"/>
          </a:p>
        </p:txBody>
      </p:sp>
      <p:sp>
        <p:nvSpPr>
          <p:cNvPr id="13" name="Passo 6"/>
          <p:cNvSpPr/>
          <p:nvPr/>
        </p:nvSpPr>
        <p:spPr>
          <a:xfrm>
            <a:off x="1013053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Passo texto 6"/>
          <p:cNvSpPr txBox="1"/>
          <p:nvPr/>
        </p:nvSpPr>
        <p:spPr>
          <a:xfrm>
            <a:off x="1022197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  </a:t>
            </a:r>
            <a:r>
              <a:rPr lang="en-US" sz="1400" dirty="0">
                <a:solidFill>
                  <a:schemeClr val="bg1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15" name="Passo 7"/>
          <p:cNvSpPr/>
          <p:nvPr/>
        </p:nvSpPr>
        <p:spPr>
          <a:xfrm>
            <a:off x="1196644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Passo texto 7"/>
          <p:cNvSpPr txBox="1"/>
          <p:nvPr/>
        </p:nvSpPr>
        <p:spPr>
          <a:xfrm>
            <a:off x="1205788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  </a:t>
            </a:r>
            <a:r>
              <a:rPr lang="en-US" sz="14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17" name="Passo 8"/>
          <p:cNvSpPr/>
          <p:nvPr/>
        </p:nvSpPr>
        <p:spPr>
          <a:xfrm>
            <a:off x="1380236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Passo texto 8"/>
          <p:cNvSpPr txBox="1"/>
          <p:nvPr/>
        </p:nvSpPr>
        <p:spPr>
          <a:xfrm>
            <a:off x="1389380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  </a:t>
            </a:r>
            <a:r>
              <a:rPr lang="en-US" sz="14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19" name="Passo 9"/>
          <p:cNvSpPr/>
          <p:nvPr/>
        </p:nvSpPr>
        <p:spPr>
          <a:xfrm>
            <a:off x="1563827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Passo texto 9"/>
          <p:cNvSpPr txBox="1"/>
          <p:nvPr/>
        </p:nvSpPr>
        <p:spPr>
          <a:xfrm>
            <a:off x="1572971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  </a:t>
            </a:r>
            <a:r>
              <a:rPr lang="en-US" sz="14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21" name="Cartão Detalhar ordem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Detalhar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Detalhar ordem" descr="Detalhar ord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Detalhar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4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Detalhar ordem</a:t>
            </a:r>
            <a:endParaRPr lang="en-US" sz="1400" dirty="0"/>
          </a:p>
        </p:txBody>
      </p:sp>
      <p:sp>
        <p:nvSpPr>
          <p:cNvPr id="25" name="Papel Planne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Planne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27" name="Texto Planner"/>
          <p:cNvSpPr txBox="1"/>
          <p:nvPr/>
        </p:nvSpPr>
        <p:spPr>
          <a:xfrm>
            <a:off x="1271016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cód. do material e quantidade na aba componentes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demais recursos (ferramentas, andaime, etc.)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materiais previstos na ordem, em parceria com o almoxarife</a:t>
            </a:r>
            <a:endParaRPr lang="en-US" sz="1700" dirty="0"/>
          </a:p>
        </p:txBody>
      </p:sp>
      <p:sp>
        <p:nvSpPr>
          <p:cNvPr id="28" name="Cartão Priorização da ordem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Priorização da ordem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Priorização da ordem" descr="Priorização da ord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Priorização da ordem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5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Priorização da ordem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Enviar à supervisão o backlog disponível para execução de preventivas e corretivas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06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06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7909560"/>
            <a:ext cx="4639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Priorizar, junto com o Planner, as ordens da próxima semana</a:t>
            </a:r>
            <a:endParaRPr lang="en-US" sz="1700" dirty="0"/>
          </a:p>
        </p:txBody>
      </p:sp>
      <p:sp>
        <p:nvSpPr>
          <p:cNvPr id="38" name="Cartão Planejamento semanal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Planejamento semanal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Planejamento semanal" descr="Planejamento seman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Planejamento semanal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6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semanal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Planne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preventivas e corretivas na programação semanal, com datas previstas, recursos, ferramentas e materiais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EXECUTAR E ENCERRAR</a:t>
            </a:r>
            <a:endParaRPr lang="en-US" sz="5400" dirty="0"/>
          </a:p>
        </p:txBody>
      </p:sp>
      <p:sp>
        <p:nvSpPr>
          <p:cNvPr id="3" name="Passo 1"/>
          <p:cNvSpPr/>
          <p:nvPr/>
        </p:nvSpPr>
        <p:spPr>
          <a:xfrm>
            <a:off x="95097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Passo texto 1"/>
          <p:cNvSpPr txBox="1"/>
          <p:nvPr/>
        </p:nvSpPr>
        <p:spPr>
          <a:xfrm>
            <a:off x="104241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  </a:t>
            </a:r>
            <a:r>
              <a:rPr lang="en-US" sz="14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5" name="Passo 2"/>
          <p:cNvSpPr/>
          <p:nvPr/>
        </p:nvSpPr>
        <p:spPr>
          <a:xfrm>
            <a:off x="278688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Passo texto 2"/>
          <p:cNvSpPr txBox="1"/>
          <p:nvPr/>
        </p:nvSpPr>
        <p:spPr>
          <a:xfrm>
            <a:off x="287832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  </a:t>
            </a:r>
            <a:r>
              <a:rPr lang="en-US" sz="14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7" name="Passo 3"/>
          <p:cNvSpPr/>
          <p:nvPr/>
        </p:nvSpPr>
        <p:spPr>
          <a:xfrm>
            <a:off x="462280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Passo texto 3"/>
          <p:cNvSpPr txBox="1"/>
          <p:nvPr/>
        </p:nvSpPr>
        <p:spPr>
          <a:xfrm>
            <a:off x="471424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  </a:t>
            </a:r>
            <a:r>
              <a:rPr lang="en-US" sz="1400" dirty="0">
                <a:solidFill>
                  <a:schemeClr val="tx2"/>
                </a:solidFill>
              </a:rPr>
              <a:t>Gerar ordem de serviço</a:t>
            </a:r>
            <a:endParaRPr lang="en-US" sz="1600" dirty="0"/>
          </a:p>
        </p:txBody>
      </p:sp>
      <p:sp>
        <p:nvSpPr>
          <p:cNvPr id="9" name="Passo 4"/>
          <p:cNvSpPr/>
          <p:nvPr/>
        </p:nvSpPr>
        <p:spPr>
          <a:xfrm>
            <a:off x="645871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Passo texto 4"/>
          <p:cNvSpPr txBox="1"/>
          <p:nvPr/>
        </p:nvSpPr>
        <p:spPr>
          <a:xfrm>
            <a:off x="655015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  </a:t>
            </a:r>
            <a:r>
              <a:rPr lang="en-US" sz="14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11" name="Passo 5"/>
          <p:cNvSpPr/>
          <p:nvPr/>
        </p:nvSpPr>
        <p:spPr>
          <a:xfrm>
            <a:off x="8294624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Passo texto 5"/>
          <p:cNvSpPr txBox="1"/>
          <p:nvPr/>
        </p:nvSpPr>
        <p:spPr>
          <a:xfrm>
            <a:off x="8386064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  </a:t>
            </a:r>
            <a:r>
              <a:rPr lang="en-US" sz="1400" dirty="0">
                <a:solidFill>
                  <a:schemeClr val="tx2"/>
                </a:solidFill>
              </a:rPr>
              <a:t>Priorização da ordem</a:t>
            </a:r>
            <a:endParaRPr lang="en-US" sz="1600" dirty="0"/>
          </a:p>
        </p:txBody>
      </p:sp>
      <p:sp>
        <p:nvSpPr>
          <p:cNvPr id="13" name="Passo 6"/>
          <p:cNvSpPr/>
          <p:nvPr/>
        </p:nvSpPr>
        <p:spPr>
          <a:xfrm>
            <a:off x="1013053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Passo texto 6"/>
          <p:cNvSpPr txBox="1"/>
          <p:nvPr/>
        </p:nvSpPr>
        <p:spPr>
          <a:xfrm>
            <a:off x="1022197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  </a:t>
            </a:r>
            <a:r>
              <a:rPr lang="en-US" sz="14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15" name="Passo 7"/>
          <p:cNvSpPr/>
          <p:nvPr/>
        </p:nvSpPr>
        <p:spPr>
          <a:xfrm>
            <a:off x="1196644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Passo texto 7"/>
          <p:cNvSpPr txBox="1"/>
          <p:nvPr/>
        </p:nvSpPr>
        <p:spPr>
          <a:xfrm>
            <a:off x="1205788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  </a:t>
            </a:r>
            <a:r>
              <a:rPr lang="en-US" sz="1400" dirty="0">
                <a:solidFill>
                  <a:schemeClr val="bg1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17" name="Passo 8"/>
          <p:cNvSpPr/>
          <p:nvPr/>
        </p:nvSpPr>
        <p:spPr>
          <a:xfrm>
            <a:off x="1380236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Passo texto 8"/>
          <p:cNvSpPr txBox="1"/>
          <p:nvPr/>
        </p:nvSpPr>
        <p:spPr>
          <a:xfrm>
            <a:off x="1389380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  </a:t>
            </a:r>
            <a:r>
              <a:rPr lang="en-US" sz="1400" dirty="0">
                <a:solidFill>
                  <a:schemeClr val="bg1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19" name="Passo 9"/>
          <p:cNvSpPr/>
          <p:nvPr/>
        </p:nvSpPr>
        <p:spPr>
          <a:xfrm>
            <a:off x="1563827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Passo texto 9"/>
          <p:cNvSpPr txBox="1"/>
          <p:nvPr/>
        </p:nvSpPr>
        <p:spPr>
          <a:xfrm>
            <a:off x="1572971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9  </a:t>
            </a:r>
            <a:r>
              <a:rPr lang="en-US" sz="1400" dirty="0">
                <a:solidFill>
                  <a:schemeClr val="bg1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21" name="Cartão Execução da ordem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Execução da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Execução da ordem" descr="Execução da ord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Execução da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7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Execução da ordem</a:t>
            </a:r>
            <a:endParaRPr lang="en-US" sz="1400" dirty="0"/>
          </a:p>
        </p:txBody>
      </p:sp>
      <p:sp>
        <p:nvSpPr>
          <p:cNvPr id="25" name="Papel Operador/Técnico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Operador/Técnico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27" name="Texto Operador/Técnico"/>
          <p:cNvSpPr txBox="1"/>
          <p:nvPr/>
        </p:nvSpPr>
        <p:spPr>
          <a:xfrm>
            <a:off x="1271016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Executar 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correta confirmação da ordem de serviço</a:t>
            </a:r>
            <a:endParaRPr lang="en-US" sz="1700" dirty="0"/>
          </a:p>
        </p:txBody>
      </p:sp>
      <p:sp>
        <p:nvSpPr>
          <p:cNvPr id="28" name="Cartão Confirmação da ordem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Confirmação da ordem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Confirmação da ordem" descr="Confirmação da ord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Confirmação da ordem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8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Confirmação da ordem</a:t>
            </a:r>
            <a:endParaRPr lang="en-US" sz="1400" dirty="0"/>
          </a:p>
        </p:txBody>
      </p:sp>
      <p:sp>
        <p:nvSpPr>
          <p:cNvPr id="32" name="Papel Técnico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Técnico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Técnico</a:t>
            </a:r>
            <a:endParaRPr lang="en-US" sz="1400" dirty="0"/>
          </a:p>
        </p:txBody>
      </p:sp>
      <p:sp>
        <p:nvSpPr>
          <p:cNvPr id="34" name="Texto Técnico"/>
          <p:cNvSpPr txBox="1"/>
          <p:nvPr/>
        </p:nvSpPr>
        <p:spPr>
          <a:xfrm>
            <a:off x="6824472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Confirmar a ordem com a descrição detalhada do serviço realizado, incluindo as horas apropriadas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Se houver anomalia durante a execução, informar a nota corretiva aberta na confirmação</a:t>
            </a:r>
            <a:endParaRPr lang="en-US" sz="1700" dirty="0"/>
          </a:p>
        </p:txBody>
      </p:sp>
      <p:sp>
        <p:nvSpPr>
          <p:cNvPr id="35" name="Cartão Encerramento da ordem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Ícone fundo Encerramento da ordem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Ícone Encerramento da ordem" descr="Encerramento da ord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38" name="Título Encerramento da ordem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9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Encerramento da ordem</a:t>
            </a:r>
            <a:endParaRPr lang="en-US" sz="1400" dirty="0"/>
          </a:p>
        </p:txBody>
      </p:sp>
      <p:sp>
        <p:nvSpPr>
          <p:cNvPr id="39" name="Papel Superviso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Papel texto Superviso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41" name="Texto Superviso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confirmação da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Validar a execução da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Encerrar a ordem de serviço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OBRIGADO!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Dúvidas? Favor entrar em contato com Lucas Ribas de Andrade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O Maintenance">
  <a:themeElements>
    <a:clrScheme name="PRIO Maintenance">
      <a:dk1>
        <a:srgbClr val="2C2849"/>
      </a:dk1>
      <a:lt1>
        <a:srgbClr val="FFFFFF"/>
      </a:lt1>
      <a:dk2>
        <a:srgbClr val="2C2849"/>
      </a:dk2>
      <a:lt2>
        <a:srgbClr val="F6F5FA"/>
      </a:lt2>
      <a:accent1>
        <a:srgbClr val="10AFFF"/>
      </a:accent1>
      <a:accent2>
        <a:srgbClr val="85E34D"/>
      </a:accent2>
      <a:accent3>
        <a:srgbClr val="9EDDEB"/>
      </a:accent3>
      <a:accent4>
        <a:srgbClr val="DDF5CC"/>
      </a:accent4>
      <a:accent5>
        <a:srgbClr val="F6F5FA"/>
      </a:accent5>
      <a:accent6>
        <a:srgbClr val="5C5878"/>
      </a:accent6>
      <a:hlink>
        <a:srgbClr val="10AFFF"/>
      </a:hlink>
      <a:folHlink>
        <a:srgbClr val="5C5878"/>
      </a:folHlink>
    </a:clrScheme>
    <a:fontScheme name="PRIO Maintenance">
      <a:majorFont>
        <a:latin typeface="Epilog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994</Words>
  <Application>Microsoft Office PowerPoint</Application>
  <PresentationFormat>Personalizar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Epilogue</vt:lpstr>
      <vt:lpstr>PRIO Maintenance</vt:lpstr>
      <vt:lpstr>PLANEJAMENTO E CONTROLE DE MANUTENÇÃO</vt:lpstr>
      <vt:lpstr>VISÃO GERAL</vt:lpstr>
      <vt:lpstr>NOTAS E BACKLOG</vt:lpstr>
      <vt:lpstr>CICLO DE PLANEJAMENTO</vt:lpstr>
      <vt:lpstr>ROTINA E SAP</vt:lpstr>
      <vt:lpstr>MATERIAIS, SERVIÇOS E CUSTOS</vt:lpstr>
      <vt:lpstr>O QUE O PLANEJADOR NÃO É</vt:lpstr>
      <vt:lpstr>DA NOTA À ORDEM DE SERVIÇO</vt:lpstr>
      <vt:lpstr>DETALHAR E PROGRAMAR</vt:lpstr>
      <vt:lpstr>EXECUTAR E ENCERRAR</vt:lpstr>
      <vt:lpstr>OBRIGADO!</vt:lpstr>
    </vt:vector>
  </TitlesOfParts>
  <Company>PRIO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 Controle de Manutenção - Rotina do Planejador</dc:title>
  <dc:subject>PptxGenJS Presentation</dc:subject>
  <dc:creator>PRIO</dc:creator>
  <cp:lastModifiedBy>Lucas Ribas de Andrade</cp:lastModifiedBy>
  <cp:revision>14</cp:revision>
  <dcterms:created xsi:type="dcterms:W3CDTF">2026-10-26T18:45:43Z</dcterms:created>
  <dcterms:modified xsi:type="dcterms:W3CDTF">2026-10-26T19:22:21Z</dcterms:modified>
</cp:coreProperties>
</file>