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19"/>
    <p:sldId id="269" r:id="rId20"/>
    <p:sldId id="260" r:id="rId6"/>
    <p:sldId id="261" r:id="rId7"/>
    <p:sldId id="262" r:id="rId8"/>
    <p:sldId id="263" r:id="rId9"/>
    <p:sldId id="264" r:id="rId10"/>
    <p:sldId id="265" r:id="rId11"/>
    <p:sldId id="267" r:id="rId18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5.xml"/><Relationship Id="rId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FLUXO DO BASELINE</a:t>
            </a:r>
            <a:endParaRPr lang="en-US" sz="5400" dirty="0"/>
          </a:p>
        </p:txBody>
      </p:sp>
      <p:sp>
        <p:nvSpPr>
          <p:cNvPr id="3" name="Rótulo Construção do baseline"/>
          <p:cNvSpPr txBox="1"/>
          <p:nvPr/>
        </p:nvSpPr>
        <p:spPr>
          <a:xfrm>
            <a:off x="950976" y="2624328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CONSTRUÇÃO MENSAL: O BASELINE É FECHADO ATÉ O ÚLTIMO DIA DO MÊS</a:t>
            </a:r>
            <a:endParaRPr lang="en-US" sz="1600" dirty="0"/>
          </a:p>
        </p:txBody>
      </p:sp>
      <p:sp>
        <p:nvSpPr>
          <p:cNvPr id="4" name="Cartão Planilha de ordens"/>
          <p:cNvSpPr/>
          <p:nvPr/>
        </p:nvSpPr>
        <p:spPr>
          <a:xfrm>
            <a:off x="95097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Ícone fundo Planilha de ordens"/>
          <p:cNvSpPr/>
          <p:nvPr/>
        </p:nvSpPr>
        <p:spPr>
          <a:xfrm>
            <a:off x="127101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Ícone Planilha de ordens" descr="ic_tab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7904" y="3630168"/>
            <a:ext cx="374904" cy="374904"/>
          </a:xfrm>
          <a:prstGeom prst="rect">
            <a:avLst/>
          </a:prstGeom>
        </p:spPr>
      </p:pic>
      <p:sp>
        <p:nvSpPr>
          <p:cNvPr id="7" name="Título Planilha de ordens"/>
          <p:cNvSpPr txBox="1"/>
          <p:nvPr/>
        </p:nvSpPr>
        <p:spPr>
          <a:xfrm>
            <a:off x="232257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Planilha de ordens</a:t>
            </a:r>
            <a:endParaRPr lang="en-US" sz="1400" dirty="0"/>
          </a:p>
        </p:txBody>
      </p:sp>
      <p:sp>
        <p:nvSpPr>
          <p:cNvPr id="8" name="Papel Planner"/>
          <p:cNvSpPr/>
          <p:nvPr/>
        </p:nvSpPr>
        <p:spPr>
          <a:xfrm>
            <a:off x="127101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pel texto Planner"/>
          <p:cNvSpPr txBox="1"/>
          <p:nvPr/>
        </p:nvSpPr>
        <p:spPr>
          <a:xfrm>
            <a:off x="127101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10" name="Texto Planner Planilha de ordens"/>
          <p:cNvSpPr txBox="1"/>
          <p:nvPr/>
        </p:nvSpPr>
        <p:spPr>
          <a:xfrm>
            <a:off x="127101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Disponibilizar a planilha com antecedência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Preventivas: datas plan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Corretivas: datas das notas</a:t>
            </a:r>
            <a:endParaRPr lang="en-US" sz="1700" dirty="0"/>
          </a:p>
        </p:txBody>
      </p:sp>
      <p:sp>
        <p:nvSpPr>
          <p:cNvPr id="11" name="Cartão Priorização"/>
          <p:cNvSpPr/>
          <p:nvPr/>
        </p:nvSpPr>
        <p:spPr>
          <a:xfrm>
            <a:off x="511149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Priorização"/>
          <p:cNvSpPr/>
          <p:nvPr/>
        </p:nvSpPr>
        <p:spPr>
          <a:xfrm>
            <a:off x="543153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Priorização" descr="ic_s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424" y="3630168"/>
            <a:ext cx="374904" cy="374904"/>
          </a:xfrm>
          <a:prstGeom prst="rect">
            <a:avLst/>
          </a:prstGeom>
        </p:spPr>
      </p:pic>
      <p:sp>
        <p:nvSpPr>
          <p:cNvPr id="14" name="Título Priorização"/>
          <p:cNvSpPr txBox="1"/>
          <p:nvPr/>
        </p:nvSpPr>
        <p:spPr>
          <a:xfrm>
            <a:off x="648309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</a:t>
            </a:r>
            <a:endParaRPr lang="en-US" sz="1400" dirty="0"/>
          </a:p>
        </p:txBody>
      </p:sp>
      <p:sp>
        <p:nvSpPr>
          <p:cNvPr id="15" name="Papel Supervisor"/>
          <p:cNvSpPr/>
          <p:nvPr/>
        </p:nvSpPr>
        <p:spPr>
          <a:xfrm>
            <a:off x="543153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Papel texto Supervisor"/>
          <p:cNvSpPr txBox="1"/>
          <p:nvPr/>
        </p:nvSpPr>
        <p:spPr>
          <a:xfrm>
            <a:off x="543153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17" name="Texto Supervisor Priorização"/>
          <p:cNvSpPr txBox="1"/>
          <p:nvPr/>
        </p:nvSpPr>
        <p:spPr>
          <a:xfrm>
            <a:off x="5431536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planilha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 as ordens com base em risco e prazo de vencimento</a:t>
            </a:r>
            <a:endParaRPr lang="en-US" sz="1700" dirty="0"/>
          </a:p>
        </p:txBody>
      </p:sp>
      <p:sp>
        <p:nvSpPr>
          <p:cNvPr id="18" name="Cartão Validação"/>
          <p:cNvSpPr/>
          <p:nvPr/>
        </p:nvSpPr>
        <p:spPr>
          <a:xfrm>
            <a:off x="9272016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Ícone fundo Validação"/>
          <p:cNvSpPr/>
          <p:nvPr/>
        </p:nvSpPr>
        <p:spPr>
          <a:xfrm>
            <a:off x="9592056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Ícone Validação" descr="ic_check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944" y="3630168"/>
            <a:ext cx="374904" cy="374904"/>
          </a:xfrm>
          <a:prstGeom prst="rect">
            <a:avLst/>
          </a:prstGeom>
        </p:spPr>
      </p:pic>
      <p:sp>
        <p:nvSpPr>
          <p:cNvPr id="21" name="Título Validação"/>
          <p:cNvSpPr txBox="1"/>
          <p:nvPr/>
        </p:nvSpPr>
        <p:spPr>
          <a:xfrm>
            <a:off x="10643616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2" name="Papel Supervisor"/>
          <p:cNvSpPr/>
          <p:nvPr/>
        </p:nvSpPr>
        <p:spPr>
          <a:xfrm>
            <a:off x="9592056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Papel texto Supervisor"/>
          <p:cNvSpPr txBox="1"/>
          <p:nvPr/>
        </p:nvSpPr>
        <p:spPr>
          <a:xfrm>
            <a:off x="9592056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4" name="Texto Supervisor Validação"/>
          <p:cNvSpPr txBox="1"/>
          <p:nvPr/>
        </p:nvSpPr>
        <p:spPr>
          <a:xfrm>
            <a:off x="9592056" y="4937759"/>
            <a:ext cx="32461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Retornar a planilha ao Planner com as validações de datas e alterações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Avaliar a disponibilidade de HH e de materiais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Pode ser feito em conjunto com o Planner</a:t>
            </a:r>
            <a:endParaRPr lang="en-US" sz="1700" dirty="0"/>
          </a:p>
        </p:txBody>
      </p:sp>
      <p:sp>
        <p:nvSpPr>
          <p:cNvPr id="25" name="Cartão Fechamento"/>
          <p:cNvSpPr/>
          <p:nvPr/>
        </p:nvSpPr>
        <p:spPr>
          <a:xfrm>
            <a:off x="13432535" y="3063240"/>
            <a:ext cx="3886200" cy="434340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Ícone fundo Fechamento"/>
          <p:cNvSpPr/>
          <p:nvPr/>
        </p:nvSpPr>
        <p:spPr>
          <a:xfrm>
            <a:off x="13752575" y="33832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Ícone Fechamento" descr="ic_fl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9463" y="3630168"/>
            <a:ext cx="374904" cy="374904"/>
          </a:xfrm>
          <a:prstGeom prst="rect">
            <a:avLst/>
          </a:prstGeom>
        </p:spPr>
      </p:pic>
      <p:sp>
        <p:nvSpPr>
          <p:cNvPr id="28" name="Título Fechamento"/>
          <p:cNvSpPr txBox="1"/>
          <p:nvPr/>
        </p:nvSpPr>
        <p:spPr>
          <a:xfrm>
            <a:off x="14804135" y="333756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29" name="Papel Planner"/>
          <p:cNvSpPr/>
          <p:nvPr/>
        </p:nvSpPr>
        <p:spPr>
          <a:xfrm>
            <a:off x="13752575" y="44348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Papel texto Planner"/>
          <p:cNvSpPr txBox="1"/>
          <p:nvPr/>
        </p:nvSpPr>
        <p:spPr>
          <a:xfrm>
            <a:off x="13752575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1" name="Texto Planner Fechamento"/>
          <p:cNvSpPr txBox="1"/>
          <p:nvPr/>
        </p:nvSpPr>
        <p:spPr>
          <a:xfrm>
            <a:off x="13752575" y="4937759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Fechar o baseline até o último dia do mês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Divulgar o baseline para todos</a:t>
            </a:r>
            <a:endParaRPr lang="en-US" sz="1700" dirty="0"/>
          </a:p>
        </p:txBody>
      </p:sp>
      <p:sp>
        <p:nvSpPr>
          <p:cNvPr id="32" name="Rótulo Critérios"/>
          <p:cNvSpPr txBox="1"/>
          <p:nvPr/>
        </p:nvSpPr>
        <p:spPr>
          <a:xfrm>
            <a:off x="950976" y="7589520"/>
            <a:ext cx="16386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PRIORIZAÇÃO E A VALIDAÇÃO CONSIDERAM</a:t>
            </a:r>
            <a:endParaRPr lang="en-US" sz="1600" dirty="0"/>
          </a:p>
        </p:txBody>
      </p:sp>
      <p:sp>
        <p:nvSpPr>
          <p:cNvPr id="33" name="Indicador Risco"/>
          <p:cNvSpPr/>
          <p:nvPr/>
        </p:nvSpPr>
        <p:spPr>
          <a:xfrm>
            <a:off x="950976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Valor Risco"/>
          <p:cNvSpPr txBox="1"/>
          <p:nvPr/>
        </p:nvSpPr>
        <p:spPr>
          <a:xfrm>
            <a:off x="1271016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Risco</a:t>
            </a:r>
            <a:endParaRPr lang="en-US" sz="2800" dirty="0"/>
          </a:p>
        </p:txBody>
      </p:sp>
      <p:sp>
        <p:nvSpPr>
          <p:cNvPr id="35" name="Legenda Risco"/>
          <p:cNvSpPr txBox="1"/>
          <p:nvPr/>
        </p:nvSpPr>
        <p:spPr>
          <a:xfrm>
            <a:off x="1271016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Criticidade das ordens</a:t>
            </a:r>
            <a:endParaRPr lang="en-US" sz="1600" dirty="0"/>
          </a:p>
        </p:txBody>
      </p:sp>
      <p:sp>
        <p:nvSpPr>
          <p:cNvPr id="36" name="Indicador Prazo"/>
          <p:cNvSpPr/>
          <p:nvPr/>
        </p:nvSpPr>
        <p:spPr>
          <a:xfrm>
            <a:off x="5116068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Valor Prazo"/>
          <p:cNvSpPr txBox="1"/>
          <p:nvPr/>
        </p:nvSpPr>
        <p:spPr>
          <a:xfrm>
            <a:off x="5436108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Prazo</a:t>
            </a:r>
            <a:endParaRPr lang="en-US" sz="2800" dirty="0"/>
          </a:p>
        </p:txBody>
      </p:sp>
      <p:sp>
        <p:nvSpPr>
          <p:cNvPr id="38" name="Legenda Prazo"/>
          <p:cNvSpPr txBox="1"/>
          <p:nvPr/>
        </p:nvSpPr>
        <p:spPr>
          <a:xfrm>
            <a:off x="5436108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Vencimento das ordens</a:t>
            </a:r>
            <a:endParaRPr lang="en-US" sz="1600" dirty="0"/>
          </a:p>
        </p:txBody>
      </p:sp>
      <p:sp>
        <p:nvSpPr>
          <p:cNvPr id="39" name="Indicador HH"/>
          <p:cNvSpPr/>
          <p:nvPr/>
        </p:nvSpPr>
        <p:spPr>
          <a:xfrm>
            <a:off x="9281160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Valor HH"/>
          <p:cNvSpPr txBox="1"/>
          <p:nvPr/>
        </p:nvSpPr>
        <p:spPr>
          <a:xfrm>
            <a:off x="9601200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2800" dirty="0"/>
          </a:p>
        </p:txBody>
      </p:sp>
      <p:sp>
        <p:nvSpPr>
          <p:cNvPr id="41" name="Legenda HH"/>
          <p:cNvSpPr txBox="1"/>
          <p:nvPr/>
        </p:nvSpPr>
        <p:spPr>
          <a:xfrm>
            <a:off x="9601200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  <p:sp>
        <p:nvSpPr>
          <p:cNvPr id="42" name="Indicador Materiais"/>
          <p:cNvSpPr/>
          <p:nvPr/>
        </p:nvSpPr>
        <p:spPr>
          <a:xfrm>
            <a:off x="13446252" y="8001000"/>
            <a:ext cx="3890772" cy="1517904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Valor Materiais"/>
          <p:cNvSpPr txBox="1"/>
          <p:nvPr/>
        </p:nvSpPr>
        <p:spPr>
          <a:xfrm>
            <a:off x="13766292" y="8138160"/>
            <a:ext cx="32506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</a:t>
            </a:r>
            <a:endParaRPr lang="en-US" sz="2800" dirty="0"/>
          </a:p>
        </p:txBody>
      </p:sp>
      <p:sp>
        <p:nvSpPr>
          <p:cNvPr id="44" name="Legenda Materiais"/>
          <p:cNvSpPr txBox="1"/>
          <p:nvPr/>
        </p:nvSpPr>
        <p:spPr>
          <a:xfrm>
            <a:off x="13766292" y="8915400"/>
            <a:ext cx="3250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Disponibilidade na validação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REUNIÃO SEMANAL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REUNIÃO DE PROGRAMAÇÃO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Toda semana olhamos o baseline do ano e do mês: o planejado, o executado e os motivos dos desvios.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QUE ANALISAMOS</a:t>
            </a:r>
            <a:endParaRPr lang="en-US" sz="1600" dirty="0"/>
          </a:p>
        </p:txBody>
      </p:sp>
      <p:sp>
        <p:nvSpPr>
          <p:cNvPr id="11" name="Cartão Eficiência do Baseline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Eficiência do Baseline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Eficiência do Baseline</a:t>
            </a:r>
            <a:endParaRPr lang="en-US" sz="1800" dirty="0"/>
          </a:p>
        </p:txBody>
      </p:sp>
      <p:sp>
        <p:nvSpPr>
          <p:cNvPr id="13" name="Texto Eficiência do Baseline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Resultado do baseline do ano todo.</a:t>
            </a:r>
            <a:endParaRPr lang="en-US" sz="1800" dirty="0"/>
          </a:p>
        </p:txBody>
      </p:sp>
      <p:sp>
        <p:nvSpPr>
          <p:cNvPr id="14" name="Cartão Aderência do Baseline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Aderência do Baseline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Aderência do Baseline</a:t>
            </a:r>
            <a:endParaRPr lang="en-US" sz="1800" dirty="0"/>
          </a:p>
        </p:txBody>
      </p:sp>
      <p:sp>
        <p:nvSpPr>
          <p:cNvPr id="16" name="Texto Aderência do Baseline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Planejado x Executado do baseline atual.</a:t>
            </a:r>
            <a:endParaRPr lang="en-US" sz="1800" dirty="0"/>
          </a:p>
        </p:txBody>
      </p:sp>
      <p:sp>
        <p:nvSpPr>
          <p:cNvPr id="17" name="Cartão Impactos do Baseline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Impactos do Baseline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Impactos do Baseline</a:t>
            </a:r>
            <a:endParaRPr lang="en-US" sz="1800" dirty="0"/>
          </a:p>
        </p:txBody>
      </p:sp>
      <p:sp>
        <p:nvSpPr>
          <p:cNvPr id="19" name="Texto Impactos do Baseline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Justificativas dos desvios.</a:t>
            </a:r>
            <a:endParaRPr lang="en-US" sz="1800" dirty="0"/>
          </a:p>
        </p:txBody>
      </p:sp>
      <p:sp>
        <p:nvSpPr>
          <p:cNvPr id="20" name="Cartão Backlog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Backlog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Backlog</a:t>
            </a:r>
            <a:endParaRPr lang="en-US" sz="1800" dirty="0"/>
          </a:p>
        </p:txBody>
      </p:sp>
      <p:sp>
        <p:nvSpPr>
          <p:cNvPr id="22" name="Texto Backlog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Preventiva x Corretiva.</a:t>
            </a:r>
            <a:endParaRPr lang="en-US" sz="1800" dirty="0"/>
          </a:p>
        </p:txBody>
      </p:sp>
      <p:sp>
        <p:nvSpPr>
          <p:cNvPr id="23" name="Cartão HH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HH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HH</a:t>
            </a:r>
            <a:endParaRPr lang="en-US" sz="1800" dirty="0"/>
          </a:p>
        </p:txBody>
      </p:sp>
      <p:sp>
        <p:nvSpPr>
          <p:cNvPr id="25" name="Texto HH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Disponível x Programado x Executado, diário e acumulado do baseline atual.</a:t>
            </a:r>
            <a:endParaRPr lang="en-US" sz="1800" dirty="0"/>
          </a:p>
        </p:txBody>
      </p:sp>
      <p:sp>
        <p:nvSpPr>
          <p:cNvPr id="26" name="Cartão Ordens crítica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Ordens crítica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Ordens críticas</a:t>
            </a:r>
            <a:endParaRPr lang="en-US" sz="1800" dirty="0"/>
          </a:p>
        </p:txBody>
      </p:sp>
      <p:sp>
        <p:nvSpPr>
          <p:cNvPr id="28" name="Texto Ordens crítica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Ordens P1 e P2 do mês.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PONTOS DE PAUTA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Eficiência, aderência, impactos, backlog, HH e ordens críticas.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</a:t>
            </a:r>
            <a:r>
              <a:rPr lang="en-US" sz="1800" b="1" dirty="0" err="1">
                <a:solidFill>
                  <a:schemeClr val="tx2"/>
                </a:solidFill>
              </a:rPr>
              <a:t>corretiva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b="1" dirty="0" err="1">
                <a:solidFill>
                  <a:schemeClr val="tx2"/>
                </a:solidFill>
              </a:rPr>
              <a:t>preditiva</a:t>
            </a:r>
            <a:r>
              <a:rPr lang="en-US" sz="1800" b="1" dirty="0">
                <a:solidFill>
                  <a:schemeClr val="tx2"/>
                </a:solidFill>
              </a:rPr>
              <a:t>, backlog, </a:t>
            </a:r>
            <a:r>
              <a:rPr lang="en-US" sz="1800" b="1" dirty="0" err="1">
                <a:solidFill>
                  <a:schemeClr val="tx2"/>
                </a:solidFill>
              </a:rPr>
              <a:t>atendimento</a:t>
            </a:r>
            <a:r>
              <a:rPr lang="en-US" sz="1800" b="1" dirty="0">
                <a:solidFill>
                  <a:schemeClr val="tx2"/>
                </a:solidFill>
              </a:rPr>
              <a:t> de </a:t>
            </a:r>
            <a:r>
              <a:rPr lang="en-US" sz="1800" b="1" dirty="0" err="1">
                <a:solidFill>
                  <a:schemeClr val="tx2"/>
                </a:solidFill>
              </a:rPr>
              <a:t>materiais</a:t>
            </a:r>
            <a:r>
              <a:rPr lang="en-US" sz="1800" b="1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2624328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2990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3630168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6208776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6574536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7214616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br/>
            <a:r>
              <a:rPr lang="en-US" sz="13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br/>
            <a:r>
              <a:rPr lang="en-US" sz="13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br/>
            <a:r>
              <a:rPr lang="en-US" sz="1300" dirty="0">
                <a:solidFill>
                  <a:schemeClr val="bg1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br/>
            <a:r>
              <a:rPr lang="en-US" sz="13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br/>
            <a:r>
              <a:rPr lang="en-US" sz="1300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br/>
            <a:r>
              <a:rPr lang="en-US" sz="13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ALINHAR E EXECUTAR</a:t>
            </a:r>
            <a:endParaRPr lang="en-US" sz="5400" dirty="0"/>
          </a:p>
        </p:txBody>
      </p:sp>
      <p:sp>
        <p:nvSpPr>
          <p:cNvPr id="21" name="Cartão Alinhamento diário"/>
          <p:cNvSpPr/>
          <p:nvPr/>
        </p:nvSpPr>
        <p:spPr>
          <a:xfrm>
            <a:off x="95097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linhamento diário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linhamento diário" descr="ic_ca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linhamento diário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diário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Ao final do dia, bater a programação do dia seguinte com o Planner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Alinhar ordens reprogramadas e possíveis break-ins antes de liberar a PT</a:t>
            </a:r>
            <a:endParaRPr lang="en-US" sz="1700" dirty="0"/>
          </a:p>
        </p:txBody>
      </p:sp>
      <p:sp>
        <p:nvSpPr>
          <p:cNvPr id="28" name="Papel Planner"/>
          <p:cNvSpPr/>
          <p:nvPr/>
        </p:nvSpPr>
        <p:spPr>
          <a:xfrm>
            <a:off x="1271016" y="7589519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Papel texto Planner"/>
          <p:cNvSpPr txBox="1"/>
          <p:nvPr/>
        </p:nvSpPr>
        <p:spPr>
          <a:xfrm>
            <a:off x="1271016" y="758951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0" name="Texto Planner"/>
          <p:cNvSpPr txBox="1"/>
          <p:nvPr/>
        </p:nvSpPr>
        <p:spPr>
          <a:xfrm>
            <a:off x="1271016" y="80924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Ficar ciente de qualquer alteração ou reprogramação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como a mudança de programação impacta o baseline</a:t>
            </a:r>
            <a:endParaRPr lang="en-US" sz="1700" dirty="0"/>
          </a:p>
        </p:txBody>
      </p:sp>
      <p:sp>
        <p:nvSpPr>
          <p:cNvPr id="31" name="Cartão Execução da ordem"/>
          <p:cNvSpPr/>
          <p:nvPr/>
        </p:nvSpPr>
        <p:spPr>
          <a:xfrm>
            <a:off x="6501384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Execução da ordem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Execução da orde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4" name="Título Execução da ordem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35" name="Papel Operador/Técnico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Operador/Técnico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37" name="Texto Operador/Técnico"/>
          <p:cNvSpPr txBox="1"/>
          <p:nvPr/>
        </p:nvSpPr>
        <p:spPr>
          <a:xfrm>
            <a:off x="6821424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38" name="Cartão Confirmação da ordem"/>
          <p:cNvSpPr/>
          <p:nvPr/>
        </p:nvSpPr>
        <p:spPr>
          <a:xfrm>
            <a:off x="1206093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Confirmação da ordem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Confirmação da orde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Confirmação da ordem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42" name="Papel Técnico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Técnico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44" name="Texto Técnico"/>
          <p:cNvSpPr txBox="1"/>
          <p:nvPr/>
        </p:nvSpPr>
        <p:spPr>
          <a:xfrm>
            <a:off x="12380976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br/>
            <a:r>
              <a:rPr lang="en-US" sz="1300" dirty="0">
                <a:solidFill>
                  <a:schemeClr val="bg1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br/>
            <a:r>
              <a:rPr lang="en-US" sz="13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br/>
            <a:r>
              <a:rPr lang="en-US" sz="13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ENCERRAR E JUSTIFICAR</a:t>
            </a:r>
            <a:endParaRPr lang="en-US" sz="5400" dirty="0"/>
          </a:p>
        </p:txBody>
      </p:sp>
      <p:sp>
        <p:nvSpPr>
          <p:cNvPr id="21" name="Cartão Encerramento da ordem"/>
          <p:cNvSpPr/>
          <p:nvPr/>
        </p:nvSpPr>
        <p:spPr>
          <a:xfrm>
            <a:off x="95097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ncerrament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ncerramento da orde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ncerrament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10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  <p:sp>
        <p:nvSpPr>
          <p:cNvPr id="28" name="Cartão Justificativa do não cumprimento"/>
          <p:cNvSpPr/>
          <p:nvPr/>
        </p:nvSpPr>
        <p:spPr>
          <a:xfrm>
            <a:off x="6501384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Justificativa do não cumprimento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Justificativa do não cumprimento" descr="ic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1" name="Título Justificativa do não cumprimento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Justificativa do não cumprimento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1424" y="56235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Levantar as ordens programadas e não executadas no dia anterior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1424" y="64922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1424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1424" y="69951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Justificar cada ordem até o final do dia</a:t>
            </a:r>
            <a:endParaRPr lang="en-US" sz="1700" dirty="0"/>
          </a:p>
        </p:txBody>
      </p:sp>
      <p:sp>
        <p:nvSpPr>
          <p:cNvPr id="38" name="Cartão Impacto por categoria"/>
          <p:cNvSpPr/>
          <p:nvPr/>
        </p:nvSpPr>
        <p:spPr>
          <a:xfrm>
            <a:off x="1206093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Impacto por categoria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Impacto por categoria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Impacto por categoria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por categoria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8097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as justificativas por categoria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os impactos da não execução de preventivas e corretivas</a:t>
            </a:r>
            <a:endParaRPr lang="en-US" sz="1700" dirty="0"/>
          </a:p>
        </p:txBody>
      </p:sp>
      <p:pic>
        <p:nvPicPr>
          <p:cNvPr id="45" name="Exemplo de justificativas por dia e categoria" descr="Gráfico de justificativas por dia e categoria (exemplo de 16 a 31/ou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7818120"/>
            <a:ext cx="14904720" cy="1739287"/>
          </a:xfrm>
          <a:prstGeom prst="rect">
            <a:avLst/>
          </a:prstGeom>
        </p:spPr>
      </p:pic>
      <p:sp>
        <p:nvSpPr>
          <p:cNvPr id="46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8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50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2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4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6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8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60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2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4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br/>
            <a:r>
              <a:rPr lang="en-US" sz="13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6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br/>
            <a:r>
              <a:rPr lang="en-US" sz="1300" dirty="0">
                <a:solidFill>
                  <a:schemeClr val="bg1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8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br/>
            <a:r>
              <a:rPr lang="en-US" sz="1300" dirty="0">
                <a:solidFill>
                  <a:schemeClr val="bg1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