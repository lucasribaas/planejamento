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dab496f-ed25-ad71-3a71-2a31eb2cacdb}">
          <p14:sldIdLst>
            <p14:sldId id="256"/>
          </p14:sldIdLst>
        </p14:section>
        <p14:section name="Visão geral" id="{02cd4de8-1b72-5533-f725-a3e7d1c8e12c}">
          <p14:sldIdLst>
            <p14:sldId id="257"/>
          </p14:sldIdLst>
        </p14:section>
        <p14:section name="Responsabilidades" id="{8f39d7b7-9dc0-9c71-2255-3e49fa6e6478}">
          <p14:sldIdLst>
            <p14:sldId id="258"/>
            <p14:sldId id="259"/>
            <p14:sldId id="260"/>
            <p14:sldId id="261"/>
          </p14:sldIdLst>
        </p14:section>
        <p14:section name="Limites da função" id="{accf691a-2c7a-9040-fd46-4faa2ef7a10d}">
          <p14:sldIdLst>
            <p14:sldId id="262"/>
          </p14:sldIdLst>
        </p14:section>
        <p14:section name="Fluxo da manutenção" id="{05407f24-5974-4d07-2fbe-65ef06d04eec}">
          <p14:sldIdLst>
            <p14:sldId id="263"/>
            <p14:sldId id="264"/>
            <p14:sldId id="265"/>
          </p14:sldIdLst>
        </p14:section>
        <p14:section name="Encerramento" id="{d1d08973-4858-a56b-c341-87ef98ad56b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jpg"/><Relationship Id="rId4" Type="http://schemas.openxmlformats.org/officeDocument/2006/relationships/image" Target="../media/image-1002-4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325D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/tmp/claude-0/-workspace-Planejamento/3b093f77-7d96-5635-93e5-fcde775de1e7/scratchpad/x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urva" descr="/tmp/claude-0/-workspace-Planejamento/3b093f77-7d96-5635-93e5-fcde775de1e7/scratchpad/x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84264" cy="6245352"/>
          </a:xfrm>
          <a:prstGeom prst="rect">
            <a:avLst/>
          </a:prstGeom>
        </p:spPr>
      </p:pic>
      <p:pic>
        <p:nvPicPr>
          <p:cNvPr id="4" name="Foto" descr="/tmp/claude-0/-workspace-Planejamento/3b093f77-7d96-5635-93e5-fcde775de1e7/scratchpad/x/ppt/media/image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92240" cy="6062472"/>
          </a:xfrm>
          <a:prstGeom prst="rect">
            <a:avLst/>
          </a:prstGeom>
        </p:spPr>
      </p:pic>
      <p:pic>
        <p:nvPicPr>
          <p:cNvPr id="5" name="Logo PRIO" descr="/tmp/claude-0/-workspace-Planejamento/3b093f77-7d96-5635-93e5-fcde775de1e7/scratchpad/x/ppt/media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429768"/>
            <a:ext cx="914400" cy="201168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6949440" y="2194560"/>
            <a:ext cx="4663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949440" y="4389120"/>
            <a:ext cx="4663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x/ppt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11480"/>
            <a:ext cx="1005840" cy="2240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PRIO  |  Planejamento e Controle de Manutenção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6949440" y="21945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Planejamento e Controle de Manutenção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5" type="body" hasCustomPrompt="1"/>
          </p:nvPr>
        </p:nvSpPr>
        <p:spPr>
          <a:xfrm>
            <a:off x="69494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Rotina do Planejador de Manutenção Offshore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Seis frentes de atuação do planejador</a:t>
            </a:r>
            <a:endParaRPr lang="en-US" sz="3000" dirty="0"/>
          </a:p>
        </p:txBody>
      </p:sp>
      <p:sp>
        <p:nvSpPr>
          <p:cNvPr id="4" name="Cartão Notas e backlog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5" name="Ícone Notas e backlog (fundo)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6" name="Ícone Notas e backlog" descr="Ícone Notas e back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ítulo Notas e backlog"/>
          <p:cNvSpPr txBox="1"/>
          <p:nvPr/>
        </p:nvSpPr>
        <p:spPr>
          <a:xfrm>
            <a:off x="1600200" y="187452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Notas e backlog</a:t>
            </a:r>
            <a:endParaRPr lang="en-US" sz="1800" dirty="0"/>
          </a:p>
        </p:txBody>
      </p:sp>
      <p:sp>
        <p:nvSpPr>
          <p:cNvPr id="8" name="Texto Notas e backlog"/>
          <p:cNvSpPr txBox="1"/>
          <p:nvPr/>
        </p:nvSpPr>
        <p:spPr>
          <a:xfrm>
            <a:off x="822960" y="269748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Detalhamento de notas em campo e limpeza do backlog corretivo</a:t>
            </a:r>
            <a:endParaRPr lang="en-US" sz="1500" dirty="0"/>
          </a:p>
        </p:txBody>
      </p:sp>
      <p:sp>
        <p:nvSpPr>
          <p:cNvPr id="9" name="Cartão Ciclo de planejamento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Ícone Ciclo de planejamento (fundo)"/>
          <p:cNvSpPr/>
          <p:nvPr/>
        </p:nvSpPr>
        <p:spPr>
          <a:xfrm>
            <a:off x="4612538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11" name="Ícone Ciclo de planejamento" descr="Ícone Ciclo de planej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959" y="2040941"/>
            <a:ext cx="307238" cy="307238"/>
          </a:xfrm>
          <a:prstGeom prst="rect">
            <a:avLst/>
          </a:prstGeom>
        </p:spPr>
      </p:pic>
      <p:sp>
        <p:nvSpPr>
          <p:cNvPr id="12" name="Título Ciclo de planejamento"/>
          <p:cNvSpPr txBox="1"/>
          <p:nvPr/>
        </p:nvSpPr>
        <p:spPr>
          <a:xfrm>
            <a:off x="5389778" y="187452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Ciclo de planejamento</a:t>
            </a:r>
            <a:endParaRPr lang="en-US" sz="1800" dirty="0"/>
          </a:p>
        </p:txBody>
      </p:sp>
      <p:sp>
        <p:nvSpPr>
          <p:cNvPr id="13" name="Texto Ciclo de planejamento"/>
          <p:cNvSpPr txBox="1"/>
          <p:nvPr/>
        </p:nvSpPr>
        <p:spPr>
          <a:xfrm>
            <a:off x="4612538" y="269748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P1A, P3M, programação semanal e diária, com aderência por etapa</a:t>
            </a:r>
            <a:endParaRPr lang="en-US" sz="1500" dirty="0"/>
          </a:p>
        </p:txBody>
      </p:sp>
      <p:sp>
        <p:nvSpPr>
          <p:cNvPr id="14" name="Cartão Rotina e indicadores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5" name="Ícone Rotina e indicadores (fundo)"/>
          <p:cNvSpPr/>
          <p:nvPr/>
        </p:nvSpPr>
        <p:spPr>
          <a:xfrm>
            <a:off x="8402117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16" name="Ícone Rotina e indicadores" descr="Ícone Rotina e indicado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538" y="2040941"/>
            <a:ext cx="307238" cy="307238"/>
          </a:xfrm>
          <a:prstGeom prst="rect">
            <a:avLst/>
          </a:prstGeom>
        </p:spPr>
      </p:pic>
      <p:sp>
        <p:nvSpPr>
          <p:cNvPr id="17" name="Título Rotina e indicadores"/>
          <p:cNvSpPr txBox="1"/>
          <p:nvPr/>
        </p:nvSpPr>
        <p:spPr>
          <a:xfrm>
            <a:off x="9179357" y="187452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Rotina e indicadores</a:t>
            </a:r>
            <a:endParaRPr lang="en-US" sz="1800" dirty="0"/>
          </a:p>
        </p:txBody>
      </p:sp>
      <p:sp>
        <p:nvSpPr>
          <p:cNvPr id="18" name="Texto Rotina e indicadores"/>
          <p:cNvSpPr txBox="1"/>
          <p:nvPr/>
        </p:nvSpPr>
        <p:spPr>
          <a:xfrm>
            <a:off x="8402117" y="269748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Follow-up de execução e indicadores de preventiva, corretiva e RDPs</a:t>
            </a:r>
            <a:endParaRPr lang="en-US" sz="1500" dirty="0"/>
          </a:p>
        </p:txBody>
      </p:sp>
      <p:sp>
        <p:nvSpPr>
          <p:cNvPr id="19" name="Cartão PRIO Way e SAP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0" name="Ícone PRIO Way e SAP (fundo)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21" name="Ícone PRIO Way e SAP" descr="Ícone PRIO Way e S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464101"/>
            <a:ext cx="307238" cy="307238"/>
          </a:xfrm>
          <a:prstGeom prst="rect">
            <a:avLst/>
          </a:prstGeom>
        </p:spPr>
      </p:pic>
      <p:sp>
        <p:nvSpPr>
          <p:cNvPr id="22" name="Título PRIO Way e SAP"/>
          <p:cNvSpPr txBox="1"/>
          <p:nvPr/>
        </p:nvSpPr>
        <p:spPr>
          <a:xfrm>
            <a:off x="1600200" y="42976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PRIO Way e SAP</a:t>
            </a:r>
            <a:endParaRPr lang="en-US" sz="1800" dirty="0"/>
          </a:p>
        </p:txBody>
      </p:sp>
      <p:sp>
        <p:nvSpPr>
          <p:cNvPr id="23" name="Texto PRIO Way e SAP"/>
          <p:cNvSpPr txBox="1"/>
          <p:nvPr/>
        </p:nvSpPr>
        <p:spPr>
          <a:xfrm>
            <a:off x="822960" y="51206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Pilar de manutenção no ativo e ponto focal SAP da unidade</a:t>
            </a:r>
            <a:endParaRPr lang="en-US" sz="1500" dirty="0"/>
          </a:p>
        </p:txBody>
      </p:sp>
      <p:sp>
        <p:nvSpPr>
          <p:cNvPr id="24" name="Cartão Materiais e serviços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5" name="Ícone Materiais e serviços (fundo)"/>
          <p:cNvSpPr/>
          <p:nvPr/>
        </p:nvSpPr>
        <p:spPr>
          <a:xfrm>
            <a:off x="4612538" y="429768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26" name="Ícone Materiais e serviços" descr="Ícone Materiais e serviç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959" y="4464101"/>
            <a:ext cx="307238" cy="307238"/>
          </a:xfrm>
          <a:prstGeom prst="rect">
            <a:avLst/>
          </a:prstGeom>
        </p:spPr>
      </p:pic>
      <p:sp>
        <p:nvSpPr>
          <p:cNvPr id="27" name="Título Materiais e serviços"/>
          <p:cNvSpPr txBox="1"/>
          <p:nvPr/>
        </p:nvSpPr>
        <p:spPr>
          <a:xfrm>
            <a:off x="5389778" y="42976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Materiais e serviços</a:t>
            </a:r>
            <a:endParaRPr lang="en-US" sz="1800" dirty="0"/>
          </a:p>
        </p:txBody>
      </p:sp>
      <p:sp>
        <p:nvSpPr>
          <p:cNvPr id="28" name="Texto Materiais e serviços"/>
          <p:cNvSpPr txBox="1"/>
          <p:nvPr/>
        </p:nvSpPr>
        <p:spPr>
          <a:xfrm>
            <a:off x="4612538" y="51206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Cadastro, compra, follow-up e equipamentos em reparo externo</a:t>
            </a:r>
            <a:endParaRPr lang="en-US" sz="1500" dirty="0"/>
          </a:p>
        </p:txBody>
      </p:sp>
      <p:sp>
        <p:nvSpPr>
          <p:cNvPr id="29" name="Cartão Gestão de custos"/>
          <p:cNvSpPr/>
          <p:nvPr/>
        </p:nvSpPr>
        <p:spPr>
          <a:xfrm>
            <a:off x="8127797" y="402336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30" name="Ícone Gestão de custos (fundo)"/>
          <p:cNvSpPr/>
          <p:nvPr/>
        </p:nvSpPr>
        <p:spPr>
          <a:xfrm>
            <a:off x="8402117" y="429768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31" name="Ícone Gestão de custos" descr="Ícone Gestão de cust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538" y="4464101"/>
            <a:ext cx="307238" cy="307238"/>
          </a:xfrm>
          <a:prstGeom prst="rect">
            <a:avLst/>
          </a:prstGeom>
        </p:spPr>
      </p:pic>
      <p:sp>
        <p:nvSpPr>
          <p:cNvPr id="32" name="Título Gestão de custos"/>
          <p:cNvSpPr txBox="1"/>
          <p:nvPr/>
        </p:nvSpPr>
        <p:spPr>
          <a:xfrm>
            <a:off x="9179357" y="42976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Gestão de custos</a:t>
            </a:r>
            <a:endParaRPr lang="en-US" sz="1800" dirty="0"/>
          </a:p>
        </p:txBody>
      </p:sp>
      <p:sp>
        <p:nvSpPr>
          <p:cNvPr id="33" name="Texto Gestão de custos"/>
          <p:cNvSpPr txBox="1"/>
          <p:nvPr/>
        </p:nvSpPr>
        <p:spPr>
          <a:xfrm>
            <a:off x="8402117" y="5120640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Alocação de custos nos equipamentos e apoio ao orçamento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RESPONSABILIDADES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Notas detalhadas em campo e backlog sob controle</a:t>
            </a:r>
            <a:endParaRPr lang="en-US" sz="3000" dirty="0"/>
          </a:p>
        </p:txBody>
      </p:sp>
      <p:sp>
        <p:nvSpPr>
          <p:cNvPr id="4" name="Cartão Detalhamento de notas"/>
          <p:cNvSpPr/>
          <p:nvPr/>
        </p:nvSpPr>
        <p:spPr>
          <a:xfrm>
            <a:off x="548640" y="1600200"/>
            <a:ext cx="5364328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5" name="Ícone Detalhamento de notas (fundo)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6" name="Ícone Detalhamento de notas" descr="Ícone Detalhamento de no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ítulo Detalhamento de notas"/>
          <p:cNvSpPr txBox="1"/>
          <p:nvPr/>
        </p:nvSpPr>
        <p:spPr>
          <a:xfrm>
            <a:off x="1645920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Detalhamento de notas</a:t>
            </a:r>
            <a:endParaRPr lang="en-US" sz="2000" dirty="0"/>
          </a:p>
        </p:txBody>
      </p:sp>
      <p:sp>
        <p:nvSpPr>
          <p:cNvPr id="8" name="Texto Detalhamento de notas"/>
          <p:cNvSpPr txBox="1"/>
          <p:nvPr/>
        </p:nvSpPr>
        <p:spPr>
          <a:xfrm>
            <a:off x="822960" y="2743200"/>
            <a:ext cx="48156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Detalhamento de notas corretivas em campo e diariamente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Levantamento de recursos de mão de obra (HH)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Levantamento de ferramentas e recursos específicos (pau de carga, andaime)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Orientações de segurança: observâncias inerentes à execução da manutenção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Apoio técnico: chamar o técnico de manutenção, o operador ou o técnico de segurança, conforme o tipo de nota</a:t>
            </a:r>
            <a:endParaRPr lang="en-US" sz="1600" dirty="0"/>
          </a:p>
        </p:txBody>
      </p:sp>
      <p:sp>
        <p:nvSpPr>
          <p:cNvPr id="9" name="Cartão Gestão de backlog"/>
          <p:cNvSpPr/>
          <p:nvPr/>
        </p:nvSpPr>
        <p:spPr>
          <a:xfrm>
            <a:off x="6278728" y="1600200"/>
            <a:ext cx="5364328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10" name="Ícone Gestão de backlog (fundo)"/>
          <p:cNvSpPr/>
          <p:nvPr/>
        </p:nvSpPr>
        <p:spPr>
          <a:xfrm>
            <a:off x="6553048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11" name="Ícone Gestão de backlog" descr="Ícone Gestão de back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8" y="2040941"/>
            <a:ext cx="307238" cy="307238"/>
          </a:xfrm>
          <a:prstGeom prst="rect">
            <a:avLst/>
          </a:prstGeom>
        </p:spPr>
      </p:pic>
      <p:sp>
        <p:nvSpPr>
          <p:cNvPr id="12" name="Título Gestão de backlog"/>
          <p:cNvSpPr txBox="1"/>
          <p:nvPr/>
        </p:nvSpPr>
        <p:spPr>
          <a:xfrm>
            <a:off x="7376008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Gestão de backlog</a:t>
            </a:r>
            <a:endParaRPr lang="en-US" sz="2000" dirty="0"/>
          </a:p>
        </p:txBody>
      </p:sp>
      <p:sp>
        <p:nvSpPr>
          <p:cNvPr id="13" name="Texto Gestão de backlog"/>
          <p:cNvSpPr txBox="1"/>
          <p:nvPr/>
        </p:nvSpPr>
        <p:spPr>
          <a:xfrm>
            <a:off x="6553048" y="2743200"/>
            <a:ext cx="48156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Limpar ordens corretivas pendentes há mais de 12 semanas (com apoio técnico da supervisão)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Verificar e corrigir notas abertas sem detalhamento (com apoio técnico da supervisão)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Acompanhar o TMD: Tempo Médio de Detalhamento de nota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Acompanhar o TMSA: Tempo Médio de Solução de Anomalia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RESPONSABILIDADES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Ciclo de planejamento: curto, médio e longo prazo</a:t>
            </a:r>
            <a:endParaRPr lang="en-US" sz="3000" dirty="0"/>
          </a:p>
        </p:txBody>
      </p:sp>
      <p:sp>
        <p:nvSpPr>
          <p:cNvPr id="4" name="Texto ciclo"/>
          <p:cNvSpPr txBox="1"/>
          <p:nvPr/>
        </p:nvSpPr>
        <p:spPr>
          <a:xfrm>
            <a:off x="548640" y="1508760"/>
            <a:ext cx="11094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Responsável pelo ciclo de planejamento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P1S: reunião de programação semanal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P3M/P1A: planeja com base na disponibilidade de materiais e HH por especialidade, analisa preventivas não executadas e reprograma corretivas não executadas</a:t>
            </a:r>
            <a:endParaRPr lang="en-US" sz="1500" dirty="0"/>
          </a:p>
        </p:txBody>
      </p:sp>
      <p:sp>
        <p:nvSpPr>
          <p:cNvPr id="5" name="Etapa P1A"/>
          <p:cNvSpPr/>
          <p:nvPr/>
        </p:nvSpPr>
        <p:spPr>
          <a:xfrm>
            <a:off x="868680" y="3383280"/>
            <a:ext cx="1280160" cy="1280160"/>
          </a:xfrm>
          <a:prstGeom prst="ellipse">
            <a:avLst/>
          </a:prstGeom>
          <a:solidFill>
            <a:srgbClr val="25506A"/>
          </a:solidFill>
          <a:ln/>
        </p:spPr>
      </p:sp>
      <p:sp>
        <p:nvSpPr>
          <p:cNvPr id="6" name="Rótulo P1A"/>
          <p:cNvSpPr txBox="1"/>
          <p:nvPr/>
        </p:nvSpPr>
        <p:spPr>
          <a:xfrm>
            <a:off x="868680" y="3383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P1A</a:t>
            </a:r>
            <a:endParaRPr lang="en-US" sz="2200" dirty="0"/>
          </a:p>
        </p:txBody>
      </p:sp>
      <p:sp>
        <p:nvSpPr>
          <p:cNvPr id="7" name="Aderência 1"/>
          <p:cNvSpPr txBox="1"/>
          <p:nvPr/>
        </p:nvSpPr>
        <p:spPr>
          <a:xfrm>
            <a:off x="2148840" y="3566160"/>
            <a:ext cx="1777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8" name="Seta 1"/>
          <p:cNvSpPr/>
          <p:nvPr/>
        </p:nvSpPr>
        <p:spPr>
          <a:xfrm>
            <a:off x="2377440" y="3913632"/>
            <a:ext cx="132069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Indicador P1A"/>
          <p:cNvSpPr/>
          <p:nvPr/>
        </p:nvSpPr>
        <p:spPr>
          <a:xfrm>
            <a:off x="594360" y="4983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Legenda P1A"/>
          <p:cNvSpPr txBox="1"/>
          <p:nvPr/>
        </p:nvSpPr>
        <p:spPr>
          <a:xfrm>
            <a:off x="594360" y="5047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INDICADOR</a:t>
            </a:r>
            <a:endParaRPr lang="en-US" sz="1000" dirty="0"/>
          </a:p>
        </p:txBody>
      </p:sp>
      <p:sp>
        <p:nvSpPr>
          <p:cNvPr id="11" name="Indicador texto P1A"/>
          <p:cNvSpPr txBox="1"/>
          <p:nvPr/>
        </p:nvSpPr>
        <p:spPr>
          <a:xfrm>
            <a:off x="685800" y="5303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Eficiência de Planejamento</a:t>
            </a:r>
            <a:endParaRPr lang="en-US" sz="1500" dirty="0"/>
          </a:p>
        </p:txBody>
      </p:sp>
      <p:sp>
        <p:nvSpPr>
          <p:cNvPr id="12" name="Etapa P3M"/>
          <p:cNvSpPr/>
          <p:nvPr/>
        </p:nvSpPr>
        <p:spPr>
          <a:xfrm>
            <a:off x="3926738" y="3383280"/>
            <a:ext cx="1280160" cy="1280160"/>
          </a:xfrm>
          <a:prstGeom prst="ellipse">
            <a:avLst/>
          </a:prstGeom>
          <a:solidFill>
            <a:srgbClr val="325DA6"/>
          </a:solidFill>
          <a:ln/>
        </p:spPr>
      </p:sp>
      <p:sp>
        <p:nvSpPr>
          <p:cNvPr id="13" name="Rótulo P3M"/>
          <p:cNvSpPr txBox="1"/>
          <p:nvPr/>
        </p:nvSpPr>
        <p:spPr>
          <a:xfrm>
            <a:off x="3926738" y="3383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P3M</a:t>
            </a:r>
            <a:endParaRPr lang="en-US" sz="2200" dirty="0"/>
          </a:p>
        </p:txBody>
      </p:sp>
      <p:sp>
        <p:nvSpPr>
          <p:cNvPr id="14" name="Aderência 2"/>
          <p:cNvSpPr txBox="1"/>
          <p:nvPr/>
        </p:nvSpPr>
        <p:spPr>
          <a:xfrm>
            <a:off x="5206898" y="3566160"/>
            <a:ext cx="1777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5" name="Seta 2"/>
          <p:cNvSpPr/>
          <p:nvPr/>
        </p:nvSpPr>
        <p:spPr>
          <a:xfrm>
            <a:off x="5435498" y="3913632"/>
            <a:ext cx="132069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6" name="Indicador P3M"/>
          <p:cNvSpPr/>
          <p:nvPr/>
        </p:nvSpPr>
        <p:spPr>
          <a:xfrm>
            <a:off x="3652418" y="4983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Legenda P3M"/>
          <p:cNvSpPr txBox="1"/>
          <p:nvPr/>
        </p:nvSpPr>
        <p:spPr>
          <a:xfrm>
            <a:off x="3652418" y="5047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INDICADOR</a:t>
            </a:r>
            <a:endParaRPr lang="en-US" sz="1000" dirty="0"/>
          </a:p>
        </p:txBody>
      </p:sp>
      <p:sp>
        <p:nvSpPr>
          <p:cNvPr id="18" name="Indicador texto P3M"/>
          <p:cNvSpPr txBox="1"/>
          <p:nvPr/>
        </p:nvSpPr>
        <p:spPr>
          <a:xfrm>
            <a:off x="3743858" y="5303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Cumprimento de P3M</a:t>
            </a:r>
            <a:endParaRPr lang="en-US" sz="1500" dirty="0"/>
          </a:p>
        </p:txBody>
      </p:sp>
      <p:sp>
        <p:nvSpPr>
          <p:cNvPr id="19" name="Etapa Semanal"/>
          <p:cNvSpPr/>
          <p:nvPr/>
        </p:nvSpPr>
        <p:spPr>
          <a:xfrm>
            <a:off x="6984797" y="3383280"/>
            <a:ext cx="1280160" cy="1280160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20" name="Rótulo Semanal"/>
          <p:cNvSpPr txBox="1"/>
          <p:nvPr/>
        </p:nvSpPr>
        <p:spPr>
          <a:xfrm>
            <a:off x="6984797" y="3383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Semanal</a:t>
            </a:r>
            <a:endParaRPr lang="en-US" sz="2200" dirty="0"/>
          </a:p>
        </p:txBody>
      </p:sp>
      <p:sp>
        <p:nvSpPr>
          <p:cNvPr id="21" name="Aderência 3"/>
          <p:cNvSpPr txBox="1"/>
          <p:nvPr/>
        </p:nvSpPr>
        <p:spPr>
          <a:xfrm>
            <a:off x="8264957" y="3566160"/>
            <a:ext cx="1777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3"/>
          <p:cNvSpPr/>
          <p:nvPr/>
        </p:nvSpPr>
        <p:spPr>
          <a:xfrm>
            <a:off x="8493557" y="3913632"/>
            <a:ext cx="1320698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3" name="Indicador Semanal"/>
          <p:cNvSpPr/>
          <p:nvPr/>
        </p:nvSpPr>
        <p:spPr>
          <a:xfrm>
            <a:off x="6710477" y="4983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Legenda Semanal"/>
          <p:cNvSpPr txBox="1"/>
          <p:nvPr/>
        </p:nvSpPr>
        <p:spPr>
          <a:xfrm>
            <a:off x="6710477" y="5047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INDICADOR</a:t>
            </a:r>
            <a:endParaRPr lang="en-US" sz="1000" dirty="0"/>
          </a:p>
        </p:txBody>
      </p:sp>
      <p:sp>
        <p:nvSpPr>
          <p:cNvPr id="25" name="Indicador texto Semanal"/>
          <p:cNvSpPr txBox="1"/>
          <p:nvPr/>
        </p:nvSpPr>
        <p:spPr>
          <a:xfrm>
            <a:off x="6801917" y="5303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Cumprimento da Semanal</a:t>
            </a:r>
            <a:endParaRPr lang="en-US" sz="1500" dirty="0"/>
          </a:p>
        </p:txBody>
      </p:sp>
      <p:sp>
        <p:nvSpPr>
          <p:cNvPr id="26" name="Etapa Diária"/>
          <p:cNvSpPr/>
          <p:nvPr/>
        </p:nvSpPr>
        <p:spPr>
          <a:xfrm>
            <a:off x="10042855" y="3383280"/>
            <a:ext cx="1280160" cy="1280160"/>
          </a:xfrm>
          <a:prstGeom prst="ellipse">
            <a:avLst/>
          </a:prstGeom>
          <a:solidFill>
            <a:srgbClr val="00A06A"/>
          </a:solidFill>
          <a:ln/>
        </p:spPr>
      </p:sp>
      <p:sp>
        <p:nvSpPr>
          <p:cNvPr id="27" name="Rótulo Diária"/>
          <p:cNvSpPr txBox="1"/>
          <p:nvPr/>
        </p:nvSpPr>
        <p:spPr>
          <a:xfrm>
            <a:off x="10042855" y="3383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Diária</a:t>
            </a:r>
            <a:endParaRPr lang="en-US" sz="2200" dirty="0"/>
          </a:p>
        </p:txBody>
      </p:sp>
      <p:sp>
        <p:nvSpPr>
          <p:cNvPr id="28" name="Indicador Diária"/>
          <p:cNvSpPr/>
          <p:nvPr/>
        </p:nvSpPr>
        <p:spPr>
          <a:xfrm>
            <a:off x="9768535" y="4983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Legenda Diária"/>
          <p:cNvSpPr txBox="1"/>
          <p:nvPr/>
        </p:nvSpPr>
        <p:spPr>
          <a:xfrm>
            <a:off x="9768535" y="5047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INDICADOR</a:t>
            </a:r>
            <a:endParaRPr lang="en-US" sz="1000" dirty="0"/>
          </a:p>
        </p:txBody>
      </p:sp>
      <p:sp>
        <p:nvSpPr>
          <p:cNvPr id="30" name="Indicador texto Diária"/>
          <p:cNvSpPr txBox="1"/>
          <p:nvPr/>
        </p:nvSpPr>
        <p:spPr>
          <a:xfrm>
            <a:off x="9859975" y="5303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Eficiência de Programação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RESPONSABILIDADES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Rotina, PRIO Way e SAP</a:t>
            </a:r>
            <a:endParaRPr lang="en-US" sz="3000" dirty="0"/>
          </a:p>
        </p:txBody>
      </p:sp>
      <p:sp>
        <p:nvSpPr>
          <p:cNvPr id="4" name="Cartão Agenda da rotina"/>
          <p:cNvSpPr/>
          <p:nvPr/>
        </p:nvSpPr>
        <p:spPr>
          <a:xfrm>
            <a:off x="548640" y="1600200"/>
            <a:ext cx="53643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Ícone Agenda da rotina (fundo)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6" name="Ícone Agenda da rotina" descr="Ícone Agenda da rot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ítulo Agenda da rotina"/>
          <p:cNvSpPr txBox="1"/>
          <p:nvPr/>
        </p:nvSpPr>
        <p:spPr>
          <a:xfrm>
            <a:off x="1554480" y="18288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Agenda da rotina</a:t>
            </a:r>
            <a:endParaRPr lang="en-US" sz="1800" dirty="0"/>
          </a:p>
        </p:txBody>
      </p:sp>
      <p:sp>
        <p:nvSpPr>
          <p:cNvPr id="8" name="Texto Agenda da rotina"/>
          <p:cNvSpPr txBox="1"/>
          <p:nvPr/>
        </p:nvSpPr>
        <p:spPr>
          <a:xfrm>
            <a:off x="822960" y="256032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Follow-up de execução das ordens com manutenção, produção e marinha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Responsável pelos indicadores: execução de preventiva, execução de corretiva e RDPs em aberto</a:t>
            </a:r>
            <a:endParaRPr lang="en-US" sz="1500" dirty="0"/>
          </a:p>
        </p:txBody>
      </p:sp>
      <p:sp>
        <p:nvSpPr>
          <p:cNvPr id="9" name="Cartão PRIO Way"/>
          <p:cNvSpPr/>
          <p:nvPr/>
        </p:nvSpPr>
        <p:spPr>
          <a:xfrm>
            <a:off x="6278728" y="1600200"/>
            <a:ext cx="53643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Ícone PRIO Way (fundo)"/>
          <p:cNvSpPr/>
          <p:nvPr/>
        </p:nvSpPr>
        <p:spPr>
          <a:xfrm>
            <a:off x="6553048" y="1828800"/>
            <a:ext cx="548640" cy="54864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11" name="Ícone PRIO Way" descr="Ícone PRIO 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71446"/>
            <a:ext cx="263347" cy="263347"/>
          </a:xfrm>
          <a:prstGeom prst="rect">
            <a:avLst/>
          </a:prstGeom>
        </p:spPr>
      </p:pic>
      <p:sp>
        <p:nvSpPr>
          <p:cNvPr id="12" name="Título PRIO Way"/>
          <p:cNvSpPr txBox="1"/>
          <p:nvPr/>
        </p:nvSpPr>
        <p:spPr>
          <a:xfrm>
            <a:off x="7284568" y="18288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PRIO Way</a:t>
            </a:r>
            <a:endParaRPr lang="en-US" sz="1800" dirty="0"/>
          </a:p>
        </p:txBody>
      </p:sp>
      <p:sp>
        <p:nvSpPr>
          <p:cNvPr id="13" name="Texto PRIO Way"/>
          <p:cNvSpPr txBox="1"/>
          <p:nvPr/>
        </p:nvSpPr>
        <p:spPr>
          <a:xfrm>
            <a:off x="6553048" y="256032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Responsável pela implementação do pilar manutenção no ativo</a:t>
            </a:r>
            <a:endParaRPr lang="en-US" sz="1500" dirty="0"/>
          </a:p>
        </p:txBody>
      </p:sp>
      <p:sp>
        <p:nvSpPr>
          <p:cNvPr id="14" name="Cartão SAP"/>
          <p:cNvSpPr/>
          <p:nvPr/>
        </p:nvSpPr>
        <p:spPr>
          <a:xfrm>
            <a:off x="548640" y="4023360"/>
            <a:ext cx="53643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5" name="Ícone SAP (fundo)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16" name="Ícone SAP" descr="Ícone S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7" name="Título SAP"/>
          <p:cNvSpPr txBox="1"/>
          <p:nvPr/>
        </p:nvSpPr>
        <p:spPr>
          <a:xfrm>
            <a:off x="1554480" y="42519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SAP</a:t>
            </a:r>
            <a:endParaRPr lang="en-US" sz="1800" dirty="0"/>
          </a:p>
        </p:txBody>
      </p:sp>
      <p:sp>
        <p:nvSpPr>
          <p:cNvPr id="18" name="Texto SAP"/>
          <p:cNvSpPr txBox="1"/>
          <p:nvPr/>
        </p:nvSpPr>
        <p:spPr>
          <a:xfrm>
            <a:off x="822960" y="49834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Ponto focal na unidade para saneamento de dúvidas sobre o SAP</a:t>
            </a:r>
            <a:endParaRPr lang="en-US" sz="1500" dirty="0"/>
          </a:p>
        </p:txBody>
      </p:sp>
      <p:sp>
        <p:nvSpPr>
          <p:cNvPr id="19" name="Cartão Fluxo de revisão de planos de manutenção"/>
          <p:cNvSpPr/>
          <p:nvPr/>
        </p:nvSpPr>
        <p:spPr>
          <a:xfrm>
            <a:off x="6278728" y="4023360"/>
            <a:ext cx="53643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0" name="Ícone Fluxo de revisão de planos de manutenção (fundo)"/>
          <p:cNvSpPr/>
          <p:nvPr/>
        </p:nvSpPr>
        <p:spPr>
          <a:xfrm>
            <a:off x="6553048" y="4251960"/>
            <a:ext cx="548640" cy="54864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21" name="Ícone Fluxo de revisão de planos de manutenção" descr="Ícone Fluxo de revisão de planos de manuten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694" y="4394606"/>
            <a:ext cx="263347" cy="263347"/>
          </a:xfrm>
          <a:prstGeom prst="rect">
            <a:avLst/>
          </a:prstGeom>
        </p:spPr>
      </p:pic>
      <p:sp>
        <p:nvSpPr>
          <p:cNvPr id="22" name="Título Fluxo de revisão de planos de manutenção"/>
          <p:cNvSpPr txBox="1"/>
          <p:nvPr/>
        </p:nvSpPr>
        <p:spPr>
          <a:xfrm>
            <a:off x="7284568" y="42519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23" name="Texto Fluxo de revisão de planos de manutenção"/>
          <p:cNvSpPr txBox="1"/>
          <p:nvPr/>
        </p:nvSpPr>
        <p:spPr>
          <a:xfrm>
            <a:off x="6553048" y="49834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Requisita melhorias nos PMs pelo Portal de Revisão de Planos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RESPONSABILIDADES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Materiais, serviços e custos</a:t>
            </a:r>
            <a:endParaRPr lang="en-US" sz="3000" dirty="0"/>
          </a:p>
        </p:txBody>
      </p:sp>
      <p:sp>
        <p:nvSpPr>
          <p:cNvPr id="4" name="Cartão Gestão de materiais e serviços"/>
          <p:cNvSpPr/>
          <p:nvPr/>
        </p:nvSpPr>
        <p:spPr>
          <a:xfrm>
            <a:off x="548640" y="1600200"/>
            <a:ext cx="536432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5" name="Ícone Gestão de materiais e serviços (fundo)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6" name="Ícone Gestão de materiais e serviços" descr="Ícone Gestão de materiais e serviç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ítulo Gestão de materiais e serviços"/>
          <p:cNvSpPr txBox="1"/>
          <p:nvPr/>
        </p:nvSpPr>
        <p:spPr>
          <a:xfrm>
            <a:off x="1645920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Gestão de materiais e serviços</a:t>
            </a:r>
            <a:endParaRPr lang="en-US" sz="2000" dirty="0"/>
          </a:p>
        </p:txBody>
      </p:sp>
      <p:sp>
        <p:nvSpPr>
          <p:cNvPr id="8" name="Texto Gestão de materiais e serviços"/>
          <p:cNvSpPr txBox="1"/>
          <p:nvPr/>
        </p:nvSpPr>
        <p:spPr>
          <a:xfrm>
            <a:off x="822960" y="2743200"/>
            <a:ext cx="4815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Cadastro de materiais (KLASSMAT)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Gestão de equipamentos enviados para reparo externo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Requisição de compra de materiais pela ordem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Follow-up de materiais e serviços</a:t>
            </a:r>
            <a:endParaRPr lang="en-US" sz="1800" dirty="0"/>
          </a:p>
        </p:txBody>
      </p:sp>
      <p:sp>
        <p:nvSpPr>
          <p:cNvPr id="9" name="Cartão Gestão de custos"/>
          <p:cNvSpPr/>
          <p:nvPr/>
        </p:nvSpPr>
        <p:spPr>
          <a:xfrm>
            <a:off x="6278728" y="1600200"/>
            <a:ext cx="536432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0" name="Ícone Gestão de custos (fundo)"/>
          <p:cNvSpPr/>
          <p:nvPr/>
        </p:nvSpPr>
        <p:spPr>
          <a:xfrm>
            <a:off x="6553048" y="1874520"/>
            <a:ext cx="640080" cy="64008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11" name="Ícone Gestão de custos" descr="Ícone Gestão de cus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8" y="2040941"/>
            <a:ext cx="307238" cy="307238"/>
          </a:xfrm>
          <a:prstGeom prst="rect">
            <a:avLst/>
          </a:prstGeom>
        </p:spPr>
      </p:pic>
      <p:sp>
        <p:nvSpPr>
          <p:cNvPr id="12" name="Título Gestão de custos"/>
          <p:cNvSpPr txBox="1"/>
          <p:nvPr/>
        </p:nvSpPr>
        <p:spPr>
          <a:xfrm>
            <a:off x="7376008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Gestão de custos</a:t>
            </a:r>
            <a:endParaRPr lang="en-US" sz="2000" dirty="0"/>
          </a:p>
        </p:txBody>
      </p:sp>
      <p:sp>
        <p:nvSpPr>
          <p:cNvPr id="13" name="Texto Gestão de custos"/>
          <p:cNvSpPr txBox="1"/>
          <p:nvPr/>
        </p:nvSpPr>
        <p:spPr>
          <a:xfrm>
            <a:off x="6553048" y="2743200"/>
            <a:ext cx="4815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Alocação de custos nos equipamentos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LIMITES DA FUNÇÃO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o planejador não é</a:t>
            </a:r>
            <a:endParaRPr lang="en-US" sz="3000" dirty="0"/>
          </a:p>
        </p:txBody>
      </p:sp>
      <p:sp>
        <p:nvSpPr>
          <p:cNvPr id="4" name="Cartão 1"/>
          <p:cNvSpPr/>
          <p:nvPr/>
        </p:nvSpPr>
        <p:spPr>
          <a:xfrm>
            <a:off x="548640" y="16002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Ícone não 1 (fundo)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Ícone não 1" descr="Ícone nã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Rótulo não 1"/>
          <p:cNvSpPr txBox="1"/>
          <p:nvPr/>
        </p:nvSpPr>
        <p:spPr>
          <a:xfrm>
            <a:off x="1508760" y="187452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8" name="Texto não 1"/>
          <p:cNvSpPr txBox="1"/>
          <p:nvPr/>
        </p:nvSpPr>
        <p:spPr>
          <a:xfrm>
            <a:off x="822960" y="26060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Atualizar planilha</a:t>
            </a:r>
            <a:endParaRPr lang="en-US" sz="1700" dirty="0"/>
          </a:p>
        </p:txBody>
      </p:sp>
      <p:sp>
        <p:nvSpPr>
          <p:cNvPr id="9" name="Cartão 2"/>
          <p:cNvSpPr/>
          <p:nvPr/>
        </p:nvSpPr>
        <p:spPr>
          <a:xfrm>
            <a:off x="3390824" y="16002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Ícone não 2 (fundo)"/>
          <p:cNvSpPr/>
          <p:nvPr/>
        </p:nvSpPr>
        <p:spPr>
          <a:xfrm>
            <a:off x="3665144" y="18745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Ícone não 2" descr="Ícone nã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790" y="2017166"/>
            <a:ext cx="263347" cy="263347"/>
          </a:xfrm>
          <a:prstGeom prst="rect">
            <a:avLst/>
          </a:prstGeom>
        </p:spPr>
      </p:pic>
      <p:sp>
        <p:nvSpPr>
          <p:cNvPr id="12" name="Rótulo não 2"/>
          <p:cNvSpPr txBox="1"/>
          <p:nvPr/>
        </p:nvSpPr>
        <p:spPr>
          <a:xfrm>
            <a:off x="4350944" y="187452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13" name="Texto não 2"/>
          <p:cNvSpPr txBox="1"/>
          <p:nvPr/>
        </p:nvSpPr>
        <p:spPr>
          <a:xfrm>
            <a:off x="3665144" y="26060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Secretário de supervisor</a:t>
            </a:r>
            <a:endParaRPr lang="en-US" sz="1700" dirty="0"/>
          </a:p>
        </p:txBody>
      </p:sp>
      <p:sp>
        <p:nvSpPr>
          <p:cNvPr id="14" name="Cartão 3"/>
          <p:cNvSpPr/>
          <p:nvPr/>
        </p:nvSpPr>
        <p:spPr>
          <a:xfrm>
            <a:off x="6233008" y="16002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5" name="Ícone não 3 (fundo)"/>
          <p:cNvSpPr/>
          <p:nvPr/>
        </p:nvSpPr>
        <p:spPr>
          <a:xfrm>
            <a:off x="6507328" y="18745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Ícone não 3" descr="Ícone nã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74" y="2017166"/>
            <a:ext cx="263347" cy="263347"/>
          </a:xfrm>
          <a:prstGeom prst="rect">
            <a:avLst/>
          </a:prstGeom>
        </p:spPr>
      </p:pic>
      <p:sp>
        <p:nvSpPr>
          <p:cNvPr id="17" name="Rótulo não 3"/>
          <p:cNvSpPr txBox="1"/>
          <p:nvPr/>
        </p:nvSpPr>
        <p:spPr>
          <a:xfrm>
            <a:off x="7193128" y="187452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18" name="Texto não 3"/>
          <p:cNvSpPr txBox="1"/>
          <p:nvPr/>
        </p:nvSpPr>
        <p:spPr>
          <a:xfrm>
            <a:off x="6507328" y="26060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Distribuir ordens para técnicos</a:t>
            </a:r>
            <a:endParaRPr lang="en-US" sz="1700" dirty="0"/>
          </a:p>
        </p:txBody>
      </p:sp>
      <p:sp>
        <p:nvSpPr>
          <p:cNvPr id="19" name="Cartão 4"/>
          <p:cNvSpPr/>
          <p:nvPr/>
        </p:nvSpPr>
        <p:spPr>
          <a:xfrm>
            <a:off x="9075191" y="160020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0" name="Ícone não 4 (fundo)"/>
          <p:cNvSpPr/>
          <p:nvPr/>
        </p:nvSpPr>
        <p:spPr>
          <a:xfrm>
            <a:off x="9349511" y="18745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Ícone não 4" descr="Ícone nã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158" y="2017166"/>
            <a:ext cx="263347" cy="263347"/>
          </a:xfrm>
          <a:prstGeom prst="rect">
            <a:avLst/>
          </a:prstGeom>
        </p:spPr>
      </p:pic>
      <p:sp>
        <p:nvSpPr>
          <p:cNvPr id="22" name="Rótulo não 4"/>
          <p:cNvSpPr txBox="1"/>
          <p:nvPr/>
        </p:nvSpPr>
        <p:spPr>
          <a:xfrm>
            <a:off x="10035311" y="187452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23" name="Texto não 4"/>
          <p:cNvSpPr txBox="1"/>
          <p:nvPr/>
        </p:nvSpPr>
        <p:spPr>
          <a:xfrm>
            <a:off x="9349511" y="26060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Revisar PMs</a:t>
            </a:r>
            <a:endParaRPr lang="en-US" sz="1700" dirty="0"/>
          </a:p>
        </p:txBody>
      </p:sp>
      <p:sp>
        <p:nvSpPr>
          <p:cNvPr id="24" name="Cartão 5"/>
          <p:cNvSpPr/>
          <p:nvPr/>
        </p:nvSpPr>
        <p:spPr>
          <a:xfrm>
            <a:off x="548640" y="3977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5" name="Ícone não 5 (fundo)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Ícone não 5" descr="Ícone nã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27" name="Rótulo não 5"/>
          <p:cNvSpPr txBox="1"/>
          <p:nvPr/>
        </p:nvSpPr>
        <p:spPr>
          <a:xfrm>
            <a:off x="1508760" y="425196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28" name="Texto não 5"/>
          <p:cNvSpPr txBox="1"/>
          <p:nvPr/>
        </p:nvSpPr>
        <p:spPr>
          <a:xfrm>
            <a:off x="822960" y="498348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Abrir notas ou relatar anomalias</a:t>
            </a:r>
            <a:endParaRPr lang="en-US" sz="1700" dirty="0"/>
          </a:p>
        </p:txBody>
      </p:sp>
      <p:sp>
        <p:nvSpPr>
          <p:cNvPr id="29" name="Cartão 6"/>
          <p:cNvSpPr/>
          <p:nvPr/>
        </p:nvSpPr>
        <p:spPr>
          <a:xfrm>
            <a:off x="3390824" y="3977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0" name="Ícone não 6 (fundo)"/>
          <p:cNvSpPr/>
          <p:nvPr/>
        </p:nvSpPr>
        <p:spPr>
          <a:xfrm>
            <a:off x="3665144" y="4251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1" name="Ícone não 6" descr="Ícone não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790" y="4394606"/>
            <a:ext cx="263347" cy="263347"/>
          </a:xfrm>
          <a:prstGeom prst="rect">
            <a:avLst/>
          </a:prstGeom>
        </p:spPr>
      </p:pic>
      <p:sp>
        <p:nvSpPr>
          <p:cNvPr id="32" name="Rótulo não 6"/>
          <p:cNvSpPr txBox="1"/>
          <p:nvPr/>
        </p:nvSpPr>
        <p:spPr>
          <a:xfrm>
            <a:off x="4350944" y="425196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33" name="Texto não 6"/>
          <p:cNvSpPr txBox="1"/>
          <p:nvPr/>
        </p:nvSpPr>
        <p:spPr>
          <a:xfrm>
            <a:off x="3665144" y="498348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Confirmar ordens pelo time técnico</a:t>
            </a:r>
            <a:endParaRPr lang="en-US" sz="1700" dirty="0"/>
          </a:p>
        </p:txBody>
      </p:sp>
      <p:sp>
        <p:nvSpPr>
          <p:cNvPr id="34" name="Cartão 7"/>
          <p:cNvSpPr/>
          <p:nvPr/>
        </p:nvSpPr>
        <p:spPr>
          <a:xfrm>
            <a:off x="6233008" y="3977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5" name="Ícone não 7 (fundo)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6" name="Ícone não 7" descr="Ícone não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974" y="4394606"/>
            <a:ext cx="263347" cy="263347"/>
          </a:xfrm>
          <a:prstGeom prst="rect">
            <a:avLst/>
          </a:prstGeom>
        </p:spPr>
      </p:pic>
      <p:sp>
        <p:nvSpPr>
          <p:cNvPr id="37" name="Rótulo não 7"/>
          <p:cNvSpPr txBox="1"/>
          <p:nvPr/>
        </p:nvSpPr>
        <p:spPr>
          <a:xfrm>
            <a:off x="7193128" y="425196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38" name="Texto não 7"/>
          <p:cNvSpPr txBox="1"/>
          <p:nvPr/>
        </p:nvSpPr>
        <p:spPr>
          <a:xfrm>
            <a:off x="6507328" y="498348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Encerrar ordens pelo supervisor</a:t>
            </a:r>
            <a:endParaRPr lang="en-US" sz="1700" dirty="0"/>
          </a:p>
        </p:txBody>
      </p:sp>
      <p:sp>
        <p:nvSpPr>
          <p:cNvPr id="39" name="Cartão 8"/>
          <p:cNvSpPr/>
          <p:nvPr/>
        </p:nvSpPr>
        <p:spPr>
          <a:xfrm>
            <a:off x="9075191" y="3977640"/>
            <a:ext cx="256786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0" name="Ícone não 8 (fundo)"/>
          <p:cNvSpPr/>
          <p:nvPr/>
        </p:nvSpPr>
        <p:spPr>
          <a:xfrm>
            <a:off x="9349511" y="4251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1" name="Ícone não 8" descr="Ícone não 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158" y="4394606"/>
            <a:ext cx="263347" cy="263347"/>
          </a:xfrm>
          <a:prstGeom prst="rect">
            <a:avLst/>
          </a:prstGeom>
        </p:spPr>
      </p:pic>
      <p:sp>
        <p:nvSpPr>
          <p:cNvPr id="42" name="Rótulo não 8"/>
          <p:cNvSpPr txBox="1"/>
          <p:nvPr/>
        </p:nvSpPr>
        <p:spPr>
          <a:xfrm>
            <a:off x="10035311" y="4251960"/>
            <a:ext cx="1379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NÃO</a:t>
            </a:r>
            <a:endParaRPr lang="en-US" sz="1400" dirty="0"/>
          </a:p>
        </p:txBody>
      </p:sp>
      <p:sp>
        <p:nvSpPr>
          <p:cNvPr id="43" name="Texto não 8"/>
          <p:cNvSpPr txBox="1"/>
          <p:nvPr/>
        </p:nvSpPr>
        <p:spPr>
          <a:xfrm>
            <a:off x="9349511" y="498348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Incluir mitigação de risco nas ordens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FLUXO DA MANUTENÇÃO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 abertura da nota à ordem de serviço</a:t>
            </a:r>
            <a:endParaRPr lang="en-US" sz="3000" dirty="0"/>
          </a:p>
        </p:txBody>
      </p:sp>
      <p:sp>
        <p:nvSpPr>
          <p:cNvPr id="4" name="Passo 1"/>
          <p:cNvSpPr/>
          <p:nvPr/>
        </p:nvSpPr>
        <p:spPr>
          <a:xfrm>
            <a:off x="548640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5" name="Passo texto 1"/>
          <p:cNvSpPr txBox="1"/>
          <p:nvPr/>
        </p:nvSpPr>
        <p:spPr>
          <a:xfrm>
            <a:off x="594360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Abertura de nota</a:t>
            </a:r>
            <a:endParaRPr lang="en-US" sz="1200" dirty="0"/>
          </a:p>
        </p:txBody>
      </p:sp>
      <p:sp>
        <p:nvSpPr>
          <p:cNvPr id="6" name="Passo 2"/>
          <p:cNvSpPr/>
          <p:nvPr/>
        </p:nvSpPr>
        <p:spPr>
          <a:xfrm>
            <a:off x="1789481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7" name="Passo texto 2"/>
          <p:cNvSpPr txBox="1"/>
          <p:nvPr/>
        </p:nvSpPr>
        <p:spPr>
          <a:xfrm>
            <a:off x="1835201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Análise de nota</a:t>
            </a:r>
            <a:endParaRPr lang="en-US" sz="1200" dirty="0"/>
          </a:p>
        </p:txBody>
      </p:sp>
      <p:sp>
        <p:nvSpPr>
          <p:cNvPr id="8" name="Passo 3"/>
          <p:cNvSpPr/>
          <p:nvPr/>
        </p:nvSpPr>
        <p:spPr>
          <a:xfrm>
            <a:off x="3030322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9" name="Passo texto 3"/>
          <p:cNvSpPr txBox="1"/>
          <p:nvPr/>
        </p:nvSpPr>
        <p:spPr>
          <a:xfrm>
            <a:off x="3076042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Gerar ordem de serviço</a:t>
            </a:r>
            <a:endParaRPr lang="en-US" sz="1200" dirty="0"/>
          </a:p>
        </p:txBody>
      </p:sp>
      <p:sp>
        <p:nvSpPr>
          <p:cNvPr id="10" name="Passo 4"/>
          <p:cNvSpPr/>
          <p:nvPr/>
        </p:nvSpPr>
        <p:spPr>
          <a:xfrm>
            <a:off x="4271162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Passo texto 4"/>
          <p:cNvSpPr txBox="1"/>
          <p:nvPr/>
        </p:nvSpPr>
        <p:spPr>
          <a:xfrm>
            <a:off x="4316882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Detalhar ordem</a:t>
            </a:r>
            <a:endParaRPr lang="en-US" sz="1200" dirty="0"/>
          </a:p>
        </p:txBody>
      </p:sp>
      <p:sp>
        <p:nvSpPr>
          <p:cNvPr id="12" name="Passo 5"/>
          <p:cNvSpPr/>
          <p:nvPr/>
        </p:nvSpPr>
        <p:spPr>
          <a:xfrm>
            <a:off x="5512003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Passo texto 5"/>
          <p:cNvSpPr txBox="1"/>
          <p:nvPr/>
        </p:nvSpPr>
        <p:spPr>
          <a:xfrm>
            <a:off x="5557723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Priorização da ordem</a:t>
            </a:r>
            <a:endParaRPr lang="en-US" sz="1200" dirty="0"/>
          </a:p>
        </p:txBody>
      </p:sp>
      <p:sp>
        <p:nvSpPr>
          <p:cNvPr id="14" name="Passo 6"/>
          <p:cNvSpPr/>
          <p:nvPr/>
        </p:nvSpPr>
        <p:spPr>
          <a:xfrm>
            <a:off x="6752844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Passo texto 6"/>
          <p:cNvSpPr txBox="1"/>
          <p:nvPr/>
        </p:nvSpPr>
        <p:spPr>
          <a:xfrm>
            <a:off x="6798564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Planejamento semanal</a:t>
            </a:r>
            <a:endParaRPr lang="en-US" sz="1200" dirty="0"/>
          </a:p>
        </p:txBody>
      </p:sp>
      <p:sp>
        <p:nvSpPr>
          <p:cNvPr id="16" name="Passo 7"/>
          <p:cNvSpPr/>
          <p:nvPr/>
        </p:nvSpPr>
        <p:spPr>
          <a:xfrm>
            <a:off x="7993685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Passo texto 7"/>
          <p:cNvSpPr txBox="1"/>
          <p:nvPr/>
        </p:nvSpPr>
        <p:spPr>
          <a:xfrm>
            <a:off x="8039405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7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Execução</a:t>
            </a:r>
            <a:endParaRPr lang="en-US" sz="1200" dirty="0"/>
          </a:p>
        </p:txBody>
      </p:sp>
      <p:sp>
        <p:nvSpPr>
          <p:cNvPr id="18" name="Passo 8"/>
          <p:cNvSpPr/>
          <p:nvPr/>
        </p:nvSpPr>
        <p:spPr>
          <a:xfrm>
            <a:off x="9234526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Passo texto 8"/>
          <p:cNvSpPr txBox="1"/>
          <p:nvPr/>
        </p:nvSpPr>
        <p:spPr>
          <a:xfrm>
            <a:off x="9280246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8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Confirmação</a:t>
            </a:r>
            <a:endParaRPr lang="en-US" sz="1200" dirty="0"/>
          </a:p>
        </p:txBody>
      </p:sp>
      <p:sp>
        <p:nvSpPr>
          <p:cNvPr id="20" name="Passo 9"/>
          <p:cNvSpPr/>
          <p:nvPr/>
        </p:nvSpPr>
        <p:spPr>
          <a:xfrm>
            <a:off x="10475366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1" name="Passo texto 9"/>
          <p:cNvSpPr txBox="1"/>
          <p:nvPr/>
        </p:nvSpPr>
        <p:spPr>
          <a:xfrm>
            <a:off x="10521086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9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Encerramento</a:t>
            </a:r>
            <a:endParaRPr lang="en-US" sz="1200" dirty="0"/>
          </a:p>
        </p:txBody>
      </p:sp>
      <p:sp>
        <p:nvSpPr>
          <p:cNvPr id="22" name="Cartão Abertura de nota"/>
          <p:cNvSpPr/>
          <p:nvPr/>
        </p:nvSpPr>
        <p:spPr>
          <a:xfrm>
            <a:off x="548640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23" name="Ícone Abertura de nota (fundo)"/>
          <p:cNvSpPr/>
          <p:nvPr/>
        </p:nvSpPr>
        <p:spPr>
          <a:xfrm>
            <a:off x="777240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24" name="Ícone Abertura de nota" descr="Ícone Abertura de no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669134"/>
            <a:ext cx="285293" cy="285293"/>
          </a:xfrm>
          <a:prstGeom prst="rect">
            <a:avLst/>
          </a:prstGeom>
        </p:spPr>
      </p:pic>
      <p:sp>
        <p:nvSpPr>
          <p:cNvPr id="25" name="Título Abertura de nota"/>
          <p:cNvSpPr txBox="1"/>
          <p:nvPr/>
        </p:nvSpPr>
        <p:spPr>
          <a:xfrm>
            <a:off x="1508760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1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Abertura de nota</a:t>
            </a:r>
            <a:endParaRPr lang="en-US" sz="1100" dirty="0"/>
          </a:p>
        </p:txBody>
      </p:sp>
      <p:sp>
        <p:nvSpPr>
          <p:cNvPr id="26" name="Papel Operador/Técnico"/>
          <p:cNvSpPr/>
          <p:nvPr/>
        </p:nvSpPr>
        <p:spPr>
          <a:xfrm>
            <a:off x="777240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A06A"/>
          </a:solidFill>
          <a:ln/>
        </p:spPr>
      </p:sp>
      <p:sp>
        <p:nvSpPr>
          <p:cNvPr id="27" name="Papel texto Operador/Técnico"/>
          <p:cNvSpPr txBox="1"/>
          <p:nvPr/>
        </p:nvSpPr>
        <p:spPr>
          <a:xfrm>
            <a:off x="77724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Operador/Técnico</a:t>
            </a:r>
            <a:endParaRPr lang="en-US" sz="1100" dirty="0"/>
          </a:p>
        </p:txBody>
      </p:sp>
      <p:sp>
        <p:nvSpPr>
          <p:cNvPr id="28" name="Texto Operador/Técnico"/>
          <p:cNvSpPr txBox="1"/>
          <p:nvPr/>
        </p:nvSpPr>
        <p:spPr>
          <a:xfrm>
            <a:off x="777240" y="361188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Descrever o problema/falha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Informar recursos necessários para corrigir a avaria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Descrever como executar a manutenção corretiva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Informar ferramentas e recursos (HH)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Informar materiais (cód. SAP ou referência)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Incluir orientações de segurança</a:t>
            </a:r>
            <a:endParaRPr lang="en-US" sz="1400" dirty="0"/>
          </a:p>
        </p:txBody>
      </p:sp>
      <p:sp>
        <p:nvSpPr>
          <p:cNvPr id="29" name="Cartão Análise de nota"/>
          <p:cNvSpPr/>
          <p:nvPr/>
        </p:nvSpPr>
        <p:spPr>
          <a:xfrm>
            <a:off x="4338218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30" name="Ícone Análise de nota (fundo)"/>
          <p:cNvSpPr/>
          <p:nvPr/>
        </p:nvSpPr>
        <p:spPr>
          <a:xfrm>
            <a:off x="4566818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31" name="Ícone Análise de nota" descr="Ícone Análise de no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52" y="2669134"/>
            <a:ext cx="285293" cy="285293"/>
          </a:xfrm>
          <a:prstGeom prst="rect">
            <a:avLst/>
          </a:prstGeom>
        </p:spPr>
      </p:pic>
      <p:sp>
        <p:nvSpPr>
          <p:cNvPr id="32" name="Título Análise de nota"/>
          <p:cNvSpPr txBox="1"/>
          <p:nvPr/>
        </p:nvSpPr>
        <p:spPr>
          <a:xfrm>
            <a:off x="5298338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2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Análise de nota</a:t>
            </a:r>
            <a:endParaRPr lang="en-US" sz="1100" dirty="0"/>
          </a:p>
        </p:txBody>
      </p:sp>
      <p:sp>
        <p:nvSpPr>
          <p:cNvPr id="33" name="Papel Planner"/>
          <p:cNvSpPr/>
          <p:nvPr/>
        </p:nvSpPr>
        <p:spPr>
          <a:xfrm>
            <a:off x="4566818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25DA6"/>
          </a:solidFill>
          <a:ln/>
        </p:spPr>
      </p:sp>
      <p:sp>
        <p:nvSpPr>
          <p:cNvPr id="34" name="Papel texto Planner"/>
          <p:cNvSpPr txBox="1"/>
          <p:nvPr/>
        </p:nvSpPr>
        <p:spPr>
          <a:xfrm>
            <a:off x="456681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Planner</a:t>
            </a:r>
            <a:endParaRPr lang="en-US" sz="1100" dirty="0"/>
          </a:p>
        </p:txBody>
      </p:sp>
      <p:sp>
        <p:nvSpPr>
          <p:cNvPr id="35" name="Texto Planner"/>
          <p:cNvSpPr txBox="1"/>
          <p:nvPr/>
        </p:nvSpPr>
        <p:spPr>
          <a:xfrm>
            <a:off x="4566818" y="361188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Análise macro: duplicidade, 1º nível e qualidade de abertura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Verificar plano que cubra a atividade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Gerar backlog D-1 por supervisor</a:t>
            </a:r>
            <a:endParaRPr lang="en-US" sz="1400" dirty="0"/>
          </a:p>
        </p:txBody>
      </p:sp>
      <p:sp>
        <p:nvSpPr>
          <p:cNvPr id="36" name="Papel Supervisor"/>
          <p:cNvSpPr/>
          <p:nvPr/>
        </p:nvSpPr>
        <p:spPr>
          <a:xfrm>
            <a:off x="4566818" y="4892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/>
        </p:spPr>
      </p:sp>
      <p:sp>
        <p:nvSpPr>
          <p:cNvPr id="37" name="Papel texto Supervisor"/>
          <p:cNvSpPr txBox="1"/>
          <p:nvPr/>
        </p:nvSpPr>
        <p:spPr>
          <a:xfrm>
            <a:off x="4566818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38" name="Texto Supervisor"/>
          <p:cNvSpPr txBox="1"/>
          <p:nvPr/>
        </p:nvSpPr>
        <p:spPr>
          <a:xfrm>
            <a:off x="4566818" y="52578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Garantir a qualidade da abertura com o time técnico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Completar a nota e informar a data de início prevista</a:t>
            </a:r>
            <a:endParaRPr lang="en-US" sz="1400" dirty="0"/>
          </a:p>
        </p:txBody>
      </p:sp>
      <p:sp>
        <p:nvSpPr>
          <p:cNvPr id="39" name="Cartão Gerar ordem de serviço"/>
          <p:cNvSpPr/>
          <p:nvPr/>
        </p:nvSpPr>
        <p:spPr>
          <a:xfrm>
            <a:off x="8127797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40" name="Ícone Gerar ordem de serviço (fundo)"/>
          <p:cNvSpPr/>
          <p:nvPr/>
        </p:nvSpPr>
        <p:spPr>
          <a:xfrm>
            <a:off x="8356397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41" name="Ícone Gerar ordem de serviço" descr="Ícone Gerar ordem de serviç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30" y="2669134"/>
            <a:ext cx="285293" cy="285293"/>
          </a:xfrm>
          <a:prstGeom prst="rect">
            <a:avLst/>
          </a:prstGeom>
        </p:spPr>
      </p:pic>
      <p:sp>
        <p:nvSpPr>
          <p:cNvPr id="42" name="Título Gerar ordem de serviço"/>
          <p:cNvSpPr txBox="1"/>
          <p:nvPr/>
        </p:nvSpPr>
        <p:spPr>
          <a:xfrm>
            <a:off x="9087917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3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Gerar ordem de serviço</a:t>
            </a:r>
            <a:endParaRPr lang="en-US" sz="1100" dirty="0"/>
          </a:p>
        </p:txBody>
      </p:sp>
      <p:sp>
        <p:nvSpPr>
          <p:cNvPr id="43" name="Papel Supervisor"/>
          <p:cNvSpPr/>
          <p:nvPr/>
        </p:nvSpPr>
        <p:spPr>
          <a:xfrm>
            <a:off x="8356397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/>
        </p:spPr>
      </p:sp>
      <p:sp>
        <p:nvSpPr>
          <p:cNvPr id="44" name="Papel texto Supervisor"/>
          <p:cNvSpPr txBox="1"/>
          <p:nvPr/>
        </p:nvSpPr>
        <p:spPr>
          <a:xfrm>
            <a:off x="8356397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45" name="Texto Supervisor"/>
          <p:cNvSpPr txBox="1"/>
          <p:nvPr/>
        </p:nvSpPr>
        <p:spPr>
          <a:xfrm>
            <a:off x="8356397" y="361188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Transformar a nota em ordem somente se contiver todas as informações para a manutenção corretiva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Incluir na ordem as etapas da atividade (operação)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FLUXO DA MANUTENÇÃO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 detalhamento à programação semanal</a:t>
            </a:r>
            <a:endParaRPr lang="en-US" sz="3000" dirty="0"/>
          </a:p>
        </p:txBody>
      </p:sp>
      <p:sp>
        <p:nvSpPr>
          <p:cNvPr id="4" name="Passo 1"/>
          <p:cNvSpPr/>
          <p:nvPr/>
        </p:nvSpPr>
        <p:spPr>
          <a:xfrm>
            <a:off x="548640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Passo texto 1"/>
          <p:cNvSpPr txBox="1"/>
          <p:nvPr/>
        </p:nvSpPr>
        <p:spPr>
          <a:xfrm>
            <a:off x="594360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Abertura de nota</a:t>
            </a:r>
            <a:endParaRPr lang="en-US" sz="1200" dirty="0"/>
          </a:p>
        </p:txBody>
      </p:sp>
      <p:sp>
        <p:nvSpPr>
          <p:cNvPr id="6" name="Passo 2"/>
          <p:cNvSpPr/>
          <p:nvPr/>
        </p:nvSpPr>
        <p:spPr>
          <a:xfrm>
            <a:off x="1789481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Passo texto 2"/>
          <p:cNvSpPr txBox="1"/>
          <p:nvPr/>
        </p:nvSpPr>
        <p:spPr>
          <a:xfrm>
            <a:off x="1835201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Análise de nota</a:t>
            </a:r>
            <a:endParaRPr lang="en-US" sz="1200" dirty="0"/>
          </a:p>
        </p:txBody>
      </p:sp>
      <p:sp>
        <p:nvSpPr>
          <p:cNvPr id="8" name="Passo 3"/>
          <p:cNvSpPr/>
          <p:nvPr/>
        </p:nvSpPr>
        <p:spPr>
          <a:xfrm>
            <a:off x="3030322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Passo texto 3"/>
          <p:cNvSpPr txBox="1"/>
          <p:nvPr/>
        </p:nvSpPr>
        <p:spPr>
          <a:xfrm>
            <a:off x="3076042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Gerar ordem de serviço</a:t>
            </a:r>
            <a:endParaRPr lang="en-US" sz="1200" dirty="0"/>
          </a:p>
        </p:txBody>
      </p:sp>
      <p:sp>
        <p:nvSpPr>
          <p:cNvPr id="10" name="Passo 4"/>
          <p:cNvSpPr/>
          <p:nvPr/>
        </p:nvSpPr>
        <p:spPr>
          <a:xfrm>
            <a:off x="4271162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1" name="Passo texto 4"/>
          <p:cNvSpPr txBox="1"/>
          <p:nvPr/>
        </p:nvSpPr>
        <p:spPr>
          <a:xfrm>
            <a:off x="4316882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Detalhar ordem</a:t>
            </a:r>
            <a:endParaRPr lang="en-US" sz="1200" dirty="0"/>
          </a:p>
        </p:txBody>
      </p:sp>
      <p:sp>
        <p:nvSpPr>
          <p:cNvPr id="12" name="Passo 5"/>
          <p:cNvSpPr/>
          <p:nvPr/>
        </p:nvSpPr>
        <p:spPr>
          <a:xfrm>
            <a:off x="5512003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3" name="Passo texto 5"/>
          <p:cNvSpPr txBox="1"/>
          <p:nvPr/>
        </p:nvSpPr>
        <p:spPr>
          <a:xfrm>
            <a:off x="5557723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Priorização da ordem</a:t>
            </a:r>
            <a:endParaRPr lang="en-US" sz="1200" dirty="0"/>
          </a:p>
        </p:txBody>
      </p:sp>
      <p:sp>
        <p:nvSpPr>
          <p:cNvPr id="14" name="Passo 6"/>
          <p:cNvSpPr/>
          <p:nvPr/>
        </p:nvSpPr>
        <p:spPr>
          <a:xfrm>
            <a:off x="6752844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5" name="Passo texto 6"/>
          <p:cNvSpPr txBox="1"/>
          <p:nvPr/>
        </p:nvSpPr>
        <p:spPr>
          <a:xfrm>
            <a:off x="6798564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Planejamento semanal</a:t>
            </a:r>
            <a:endParaRPr lang="en-US" sz="1200" dirty="0"/>
          </a:p>
        </p:txBody>
      </p:sp>
      <p:sp>
        <p:nvSpPr>
          <p:cNvPr id="16" name="Passo 7"/>
          <p:cNvSpPr/>
          <p:nvPr/>
        </p:nvSpPr>
        <p:spPr>
          <a:xfrm>
            <a:off x="7993685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Passo texto 7"/>
          <p:cNvSpPr txBox="1"/>
          <p:nvPr/>
        </p:nvSpPr>
        <p:spPr>
          <a:xfrm>
            <a:off x="8039405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7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Execução</a:t>
            </a:r>
            <a:endParaRPr lang="en-US" sz="1200" dirty="0"/>
          </a:p>
        </p:txBody>
      </p:sp>
      <p:sp>
        <p:nvSpPr>
          <p:cNvPr id="18" name="Passo 8"/>
          <p:cNvSpPr/>
          <p:nvPr/>
        </p:nvSpPr>
        <p:spPr>
          <a:xfrm>
            <a:off x="9234526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Passo texto 8"/>
          <p:cNvSpPr txBox="1"/>
          <p:nvPr/>
        </p:nvSpPr>
        <p:spPr>
          <a:xfrm>
            <a:off x="9280246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8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Confirmação</a:t>
            </a:r>
            <a:endParaRPr lang="en-US" sz="1200" dirty="0"/>
          </a:p>
        </p:txBody>
      </p:sp>
      <p:sp>
        <p:nvSpPr>
          <p:cNvPr id="20" name="Passo 9"/>
          <p:cNvSpPr/>
          <p:nvPr/>
        </p:nvSpPr>
        <p:spPr>
          <a:xfrm>
            <a:off x="10475366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1" name="Passo texto 9"/>
          <p:cNvSpPr txBox="1"/>
          <p:nvPr/>
        </p:nvSpPr>
        <p:spPr>
          <a:xfrm>
            <a:off x="10521086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9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Encerramento</a:t>
            </a:r>
            <a:endParaRPr lang="en-US" sz="1200" dirty="0"/>
          </a:p>
        </p:txBody>
      </p:sp>
      <p:sp>
        <p:nvSpPr>
          <p:cNvPr id="22" name="Cartão Detalhar ordem"/>
          <p:cNvSpPr/>
          <p:nvPr/>
        </p:nvSpPr>
        <p:spPr>
          <a:xfrm>
            <a:off x="548640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23" name="Ícone Detalhar ordem (fundo)"/>
          <p:cNvSpPr/>
          <p:nvPr/>
        </p:nvSpPr>
        <p:spPr>
          <a:xfrm>
            <a:off x="777240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24" name="Ícone Detalhar ordem" descr="Ícone Detalhar ord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669134"/>
            <a:ext cx="285293" cy="285293"/>
          </a:xfrm>
          <a:prstGeom prst="rect">
            <a:avLst/>
          </a:prstGeom>
        </p:spPr>
      </p:pic>
      <p:sp>
        <p:nvSpPr>
          <p:cNvPr id="25" name="Título Detalhar ordem"/>
          <p:cNvSpPr txBox="1"/>
          <p:nvPr/>
        </p:nvSpPr>
        <p:spPr>
          <a:xfrm>
            <a:off x="1508760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4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Detalhar ordem</a:t>
            </a:r>
            <a:endParaRPr lang="en-US" sz="1100" dirty="0"/>
          </a:p>
        </p:txBody>
      </p:sp>
      <p:sp>
        <p:nvSpPr>
          <p:cNvPr id="26" name="Papel Planner"/>
          <p:cNvSpPr/>
          <p:nvPr/>
        </p:nvSpPr>
        <p:spPr>
          <a:xfrm>
            <a:off x="777240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25DA6"/>
          </a:solidFill>
          <a:ln/>
        </p:spPr>
      </p:sp>
      <p:sp>
        <p:nvSpPr>
          <p:cNvPr id="27" name="Papel texto Planner"/>
          <p:cNvSpPr txBox="1"/>
          <p:nvPr/>
        </p:nvSpPr>
        <p:spPr>
          <a:xfrm>
            <a:off x="77724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Planner</a:t>
            </a:r>
            <a:endParaRPr lang="en-US" sz="1100" dirty="0"/>
          </a:p>
        </p:txBody>
      </p:sp>
      <p:sp>
        <p:nvSpPr>
          <p:cNvPr id="28" name="Texto Planner"/>
          <p:cNvSpPr txBox="1"/>
          <p:nvPr/>
        </p:nvSpPr>
        <p:spPr>
          <a:xfrm>
            <a:off x="777240" y="361188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Incluir cód. do material e quantidade na aba componentes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Providenciar demais recursos (ferramentas, andaime, etc.)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Providenciar materiais previstos na ordem, em parceria com o almoxarife</a:t>
            </a:r>
            <a:endParaRPr lang="en-US" sz="1400" dirty="0"/>
          </a:p>
        </p:txBody>
      </p:sp>
      <p:sp>
        <p:nvSpPr>
          <p:cNvPr id="29" name="Cartão Priorização da ordem"/>
          <p:cNvSpPr/>
          <p:nvPr/>
        </p:nvSpPr>
        <p:spPr>
          <a:xfrm>
            <a:off x="4338218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30" name="Ícone Priorização da ordem (fundo)"/>
          <p:cNvSpPr/>
          <p:nvPr/>
        </p:nvSpPr>
        <p:spPr>
          <a:xfrm>
            <a:off x="4566818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31" name="Ícone Priorização da ordem" descr="Ícone Priorização da ord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52" y="2669134"/>
            <a:ext cx="285293" cy="285293"/>
          </a:xfrm>
          <a:prstGeom prst="rect">
            <a:avLst/>
          </a:prstGeom>
        </p:spPr>
      </p:pic>
      <p:sp>
        <p:nvSpPr>
          <p:cNvPr id="32" name="Título Priorização da ordem"/>
          <p:cNvSpPr txBox="1"/>
          <p:nvPr/>
        </p:nvSpPr>
        <p:spPr>
          <a:xfrm>
            <a:off x="5298338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5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Priorização da ordem</a:t>
            </a:r>
            <a:endParaRPr lang="en-US" sz="1100" dirty="0"/>
          </a:p>
        </p:txBody>
      </p:sp>
      <p:sp>
        <p:nvSpPr>
          <p:cNvPr id="33" name="Papel Planner"/>
          <p:cNvSpPr/>
          <p:nvPr/>
        </p:nvSpPr>
        <p:spPr>
          <a:xfrm>
            <a:off x="4566818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25DA6"/>
          </a:solidFill>
          <a:ln/>
        </p:spPr>
      </p:sp>
      <p:sp>
        <p:nvSpPr>
          <p:cNvPr id="34" name="Papel texto Planner"/>
          <p:cNvSpPr txBox="1"/>
          <p:nvPr/>
        </p:nvSpPr>
        <p:spPr>
          <a:xfrm>
            <a:off x="456681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Planner</a:t>
            </a:r>
            <a:endParaRPr lang="en-US" sz="1100" dirty="0"/>
          </a:p>
        </p:txBody>
      </p:sp>
      <p:sp>
        <p:nvSpPr>
          <p:cNvPr id="35" name="Texto Planner"/>
          <p:cNvSpPr txBox="1"/>
          <p:nvPr/>
        </p:nvSpPr>
        <p:spPr>
          <a:xfrm>
            <a:off x="4566818" y="36118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Enviar à supervisão o backlog disponível para execução de preventivas e corretivas</a:t>
            </a:r>
            <a:endParaRPr lang="en-US" sz="1400" dirty="0"/>
          </a:p>
        </p:txBody>
      </p:sp>
      <p:sp>
        <p:nvSpPr>
          <p:cNvPr id="36" name="Papel Supervisor"/>
          <p:cNvSpPr/>
          <p:nvPr/>
        </p:nvSpPr>
        <p:spPr>
          <a:xfrm>
            <a:off x="4566818" y="45720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/>
        </p:spPr>
      </p:sp>
      <p:sp>
        <p:nvSpPr>
          <p:cNvPr id="37" name="Papel texto Supervisor"/>
          <p:cNvSpPr txBox="1"/>
          <p:nvPr/>
        </p:nvSpPr>
        <p:spPr>
          <a:xfrm>
            <a:off x="4566818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38" name="Texto Supervisor"/>
          <p:cNvSpPr txBox="1"/>
          <p:nvPr/>
        </p:nvSpPr>
        <p:spPr>
          <a:xfrm>
            <a:off x="4566818" y="493776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Priorizar, junto com o Planner, as ordens da próxima semana</a:t>
            </a:r>
            <a:endParaRPr lang="en-US" sz="1400" dirty="0"/>
          </a:p>
        </p:txBody>
      </p:sp>
      <p:sp>
        <p:nvSpPr>
          <p:cNvPr id="39" name="Cartão Planejamento semanal"/>
          <p:cNvSpPr/>
          <p:nvPr/>
        </p:nvSpPr>
        <p:spPr>
          <a:xfrm>
            <a:off x="8127797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40" name="Ícone Planejamento semanal (fundo)"/>
          <p:cNvSpPr/>
          <p:nvPr/>
        </p:nvSpPr>
        <p:spPr>
          <a:xfrm>
            <a:off x="8356397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41" name="Ícone Planejamento semanal" descr="Ícone Planejamento sema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30" y="2669134"/>
            <a:ext cx="285293" cy="285293"/>
          </a:xfrm>
          <a:prstGeom prst="rect">
            <a:avLst/>
          </a:prstGeom>
        </p:spPr>
      </p:pic>
      <p:sp>
        <p:nvSpPr>
          <p:cNvPr id="42" name="Título Planejamento semanal"/>
          <p:cNvSpPr txBox="1"/>
          <p:nvPr/>
        </p:nvSpPr>
        <p:spPr>
          <a:xfrm>
            <a:off x="9087917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6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Planejamento semanal</a:t>
            </a:r>
            <a:endParaRPr lang="en-US" sz="1100" dirty="0"/>
          </a:p>
        </p:txBody>
      </p:sp>
      <p:sp>
        <p:nvSpPr>
          <p:cNvPr id="43" name="Papel Planner"/>
          <p:cNvSpPr/>
          <p:nvPr/>
        </p:nvSpPr>
        <p:spPr>
          <a:xfrm>
            <a:off x="8356397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25DA6"/>
          </a:solidFill>
          <a:ln/>
        </p:spPr>
      </p:sp>
      <p:sp>
        <p:nvSpPr>
          <p:cNvPr id="44" name="Papel texto Planner"/>
          <p:cNvSpPr txBox="1"/>
          <p:nvPr/>
        </p:nvSpPr>
        <p:spPr>
          <a:xfrm>
            <a:off x="8356397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Planner</a:t>
            </a:r>
            <a:endParaRPr lang="en-US" sz="1100" dirty="0"/>
          </a:p>
        </p:txBody>
      </p:sp>
      <p:sp>
        <p:nvSpPr>
          <p:cNvPr id="45" name="Texto Planner"/>
          <p:cNvSpPr txBox="1"/>
          <p:nvPr/>
        </p:nvSpPr>
        <p:spPr>
          <a:xfrm>
            <a:off x="8356397" y="361188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Consolidar preventivas e corretivas na programação semanal, com datas previstas, recursos, ferramentas e materiais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FLUXO DA MANUTENÇÃO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 execução ao encerramento da ordem</a:t>
            </a:r>
            <a:endParaRPr lang="en-US" sz="3000" dirty="0"/>
          </a:p>
        </p:txBody>
      </p:sp>
      <p:sp>
        <p:nvSpPr>
          <p:cNvPr id="4" name="Passo 1"/>
          <p:cNvSpPr/>
          <p:nvPr/>
        </p:nvSpPr>
        <p:spPr>
          <a:xfrm>
            <a:off x="548640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Passo texto 1"/>
          <p:cNvSpPr txBox="1"/>
          <p:nvPr/>
        </p:nvSpPr>
        <p:spPr>
          <a:xfrm>
            <a:off x="594360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Abertura de nota</a:t>
            </a:r>
            <a:endParaRPr lang="en-US" sz="1200" dirty="0"/>
          </a:p>
        </p:txBody>
      </p:sp>
      <p:sp>
        <p:nvSpPr>
          <p:cNvPr id="6" name="Passo 2"/>
          <p:cNvSpPr/>
          <p:nvPr/>
        </p:nvSpPr>
        <p:spPr>
          <a:xfrm>
            <a:off x="1789481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Passo texto 2"/>
          <p:cNvSpPr txBox="1"/>
          <p:nvPr/>
        </p:nvSpPr>
        <p:spPr>
          <a:xfrm>
            <a:off x="1835201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Análise de nota</a:t>
            </a:r>
            <a:endParaRPr lang="en-US" sz="1200" dirty="0"/>
          </a:p>
        </p:txBody>
      </p:sp>
      <p:sp>
        <p:nvSpPr>
          <p:cNvPr id="8" name="Passo 3"/>
          <p:cNvSpPr/>
          <p:nvPr/>
        </p:nvSpPr>
        <p:spPr>
          <a:xfrm>
            <a:off x="3030322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Passo texto 3"/>
          <p:cNvSpPr txBox="1"/>
          <p:nvPr/>
        </p:nvSpPr>
        <p:spPr>
          <a:xfrm>
            <a:off x="3076042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Gerar ordem de serviço</a:t>
            </a:r>
            <a:endParaRPr lang="en-US" sz="1200" dirty="0"/>
          </a:p>
        </p:txBody>
      </p:sp>
      <p:sp>
        <p:nvSpPr>
          <p:cNvPr id="10" name="Passo 4"/>
          <p:cNvSpPr/>
          <p:nvPr/>
        </p:nvSpPr>
        <p:spPr>
          <a:xfrm>
            <a:off x="4271162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Passo texto 4"/>
          <p:cNvSpPr txBox="1"/>
          <p:nvPr/>
        </p:nvSpPr>
        <p:spPr>
          <a:xfrm>
            <a:off x="4316882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Detalhar ordem</a:t>
            </a:r>
            <a:endParaRPr lang="en-US" sz="1200" dirty="0"/>
          </a:p>
        </p:txBody>
      </p:sp>
      <p:sp>
        <p:nvSpPr>
          <p:cNvPr id="12" name="Passo 5"/>
          <p:cNvSpPr/>
          <p:nvPr/>
        </p:nvSpPr>
        <p:spPr>
          <a:xfrm>
            <a:off x="5512003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Passo texto 5"/>
          <p:cNvSpPr txBox="1"/>
          <p:nvPr/>
        </p:nvSpPr>
        <p:spPr>
          <a:xfrm>
            <a:off x="5557723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Priorização da ordem</a:t>
            </a:r>
            <a:endParaRPr lang="en-US" sz="1200" dirty="0"/>
          </a:p>
        </p:txBody>
      </p:sp>
      <p:sp>
        <p:nvSpPr>
          <p:cNvPr id="14" name="Passo 6"/>
          <p:cNvSpPr/>
          <p:nvPr/>
        </p:nvSpPr>
        <p:spPr>
          <a:xfrm>
            <a:off x="6752844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5" name="Passo texto 6"/>
          <p:cNvSpPr txBox="1"/>
          <p:nvPr/>
        </p:nvSpPr>
        <p:spPr>
          <a:xfrm>
            <a:off x="6798564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  </a:t>
            </a:r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Planejamento semanal</a:t>
            </a:r>
            <a:endParaRPr lang="en-US" sz="1200" dirty="0"/>
          </a:p>
        </p:txBody>
      </p:sp>
      <p:sp>
        <p:nvSpPr>
          <p:cNvPr id="16" name="Passo 7"/>
          <p:cNvSpPr/>
          <p:nvPr/>
        </p:nvSpPr>
        <p:spPr>
          <a:xfrm>
            <a:off x="7993685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7" name="Passo texto 7"/>
          <p:cNvSpPr txBox="1"/>
          <p:nvPr/>
        </p:nvSpPr>
        <p:spPr>
          <a:xfrm>
            <a:off x="8039405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Execução</a:t>
            </a:r>
            <a:endParaRPr lang="en-US" sz="1200" dirty="0"/>
          </a:p>
        </p:txBody>
      </p:sp>
      <p:sp>
        <p:nvSpPr>
          <p:cNvPr id="18" name="Passo 8"/>
          <p:cNvSpPr/>
          <p:nvPr/>
        </p:nvSpPr>
        <p:spPr>
          <a:xfrm>
            <a:off x="9234526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9" name="Passo texto 8"/>
          <p:cNvSpPr txBox="1"/>
          <p:nvPr/>
        </p:nvSpPr>
        <p:spPr>
          <a:xfrm>
            <a:off x="9280246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Confirmação</a:t>
            </a:r>
            <a:endParaRPr lang="en-US" sz="1200" dirty="0"/>
          </a:p>
        </p:txBody>
      </p:sp>
      <p:sp>
        <p:nvSpPr>
          <p:cNvPr id="20" name="Passo 9"/>
          <p:cNvSpPr/>
          <p:nvPr/>
        </p:nvSpPr>
        <p:spPr>
          <a:xfrm>
            <a:off x="10475366" y="1463040"/>
            <a:ext cx="1167689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21" name="Passo texto 9"/>
          <p:cNvSpPr txBox="1"/>
          <p:nvPr/>
        </p:nvSpPr>
        <p:spPr>
          <a:xfrm>
            <a:off x="10521086" y="1463040"/>
            <a:ext cx="10762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  </a:t>
            </a:r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Encerramento</a:t>
            </a:r>
            <a:endParaRPr lang="en-US" sz="1200" dirty="0"/>
          </a:p>
        </p:txBody>
      </p:sp>
      <p:sp>
        <p:nvSpPr>
          <p:cNvPr id="22" name="Cartão Execução da ordem"/>
          <p:cNvSpPr/>
          <p:nvPr/>
        </p:nvSpPr>
        <p:spPr>
          <a:xfrm>
            <a:off x="548640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23" name="Ícone Execução da ordem (fundo)"/>
          <p:cNvSpPr/>
          <p:nvPr/>
        </p:nvSpPr>
        <p:spPr>
          <a:xfrm>
            <a:off x="777240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24" name="Ícone Execução da ordem" descr="Ícone Execução da ord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669134"/>
            <a:ext cx="285293" cy="285293"/>
          </a:xfrm>
          <a:prstGeom prst="rect">
            <a:avLst/>
          </a:prstGeom>
        </p:spPr>
      </p:pic>
      <p:sp>
        <p:nvSpPr>
          <p:cNvPr id="25" name="Título Execução da ordem"/>
          <p:cNvSpPr txBox="1"/>
          <p:nvPr/>
        </p:nvSpPr>
        <p:spPr>
          <a:xfrm>
            <a:off x="1508760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7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Execução da ordem</a:t>
            </a:r>
            <a:endParaRPr lang="en-US" sz="1100" dirty="0"/>
          </a:p>
        </p:txBody>
      </p:sp>
      <p:sp>
        <p:nvSpPr>
          <p:cNvPr id="26" name="Papel Operador/Técnico"/>
          <p:cNvSpPr/>
          <p:nvPr/>
        </p:nvSpPr>
        <p:spPr>
          <a:xfrm>
            <a:off x="777240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A06A"/>
          </a:solidFill>
          <a:ln/>
        </p:spPr>
      </p:sp>
      <p:sp>
        <p:nvSpPr>
          <p:cNvPr id="27" name="Papel texto Operador/Técnico"/>
          <p:cNvSpPr txBox="1"/>
          <p:nvPr/>
        </p:nvSpPr>
        <p:spPr>
          <a:xfrm>
            <a:off x="77724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Operador/Técnico</a:t>
            </a:r>
            <a:endParaRPr lang="en-US" sz="1100" dirty="0"/>
          </a:p>
        </p:txBody>
      </p:sp>
      <p:sp>
        <p:nvSpPr>
          <p:cNvPr id="28" name="Texto Operador/Técnico"/>
          <p:cNvSpPr txBox="1"/>
          <p:nvPr/>
        </p:nvSpPr>
        <p:spPr>
          <a:xfrm>
            <a:off x="777240" y="361188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Executar a ordem de serviço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Garantir a correta confirmação da ordem de serviço</a:t>
            </a:r>
            <a:endParaRPr lang="en-US" sz="1400" dirty="0"/>
          </a:p>
        </p:txBody>
      </p:sp>
      <p:sp>
        <p:nvSpPr>
          <p:cNvPr id="29" name="Cartão Confirmação da ordem"/>
          <p:cNvSpPr/>
          <p:nvPr/>
        </p:nvSpPr>
        <p:spPr>
          <a:xfrm>
            <a:off x="4338218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30" name="Ícone Confirmação da ordem (fundo)"/>
          <p:cNvSpPr/>
          <p:nvPr/>
        </p:nvSpPr>
        <p:spPr>
          <a:xfrm>
            <a:off x="4566818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31" name="Ícone Confirmação da ordem" descr="Ícone Confirmação da ord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52" y="2669134"/>
            <a:ext cx="285293" cy="285293"/>
          </a:xfrm>
          <a:prstGeom prst="rect">
            <a:avLst/>
          </a:prstGeom>
        </p:spPr>
      </p:pic>
      <p:sp>
        <p:nvSpPr>
          <p:cNvPr id="32" name="Título Confirmação da ordem"/>
          <p:cNvSpPr txBox="1"/>
          <p:nvPr/>
        </p:nvSpPr>
        <p:spPr>
          <a:xfrm>
            <a:off x="5298338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8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Confirmação da ordem</a:t>
            </a:r>
            <a:endParaRPr lang="en-US" sz="1100" dirty="0"/>
          </a:p>
        </p:txBody>
      </p:sp>
      <p:sp>
        <p:nvSpPr>
          <p:cNvPr id="33" name="Papel Técnico"/>
          <p:cNvSpPr/>
          <p:nvPr/>
        </p:nvSpPr>
        <p:spPr>
          <a:xfrm>
            <a:off x="4566818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A06A"/>
          </a:solidFill>
          <a:ln/>
        </p:spPr>
      </p:sp>
      <p:sp>
        <p:nvSpPr>
          <p:cNvPr id="34" name="Papel texto Técnico"/>
          <p:cNvSpPr txBox="1"/>
          <p:nvPr/>
        </p:nvSpPr>
        <p:spPr>
          <a:xfrm>
            <a:off x="456681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Técnico</a:t>
            </a:r>
            <a:endParaRPr lang="en-US" sz="1100" dirty="0"/>
          </a:p>
        </p:txBody>
      </p:sp>
      <p:sp>
        <p:nvSpPr>
          <p:cNvPr id="35" name="Texto Técnico"/>
          <p:cNvSpPr txBox="1"/>
          <p:nvPr/>
        </p:nvSpPr>
        <p:spPr>
          <a:xfrm>
            <a:off x="4566818" y="361188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Confirmar a ordem com a descrição detalhada do serviço realizado, incluindo as horas apropriadas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houver anomalia durante a execução, informar a nota corretiva aberta na confirmação</a:t>
            </a:r>
            <a:endParaRPr lang="en-US" sz="1400" dirty="0"/>
          </a:p>
        </p:txBody>
      </p:sp>
      <p:sp>
        <p:nvSpPr>
          <p:cNvPr id="36" name="Cartão Encerramento da ordem"/>
          <p:cNvSpPr/>
          <p:nvPr/>
        </p:nvSpPr>
        <p:spPr>
          <a:xfrm>
            <a:off x="8127797" y="2286000"/>
            <a:ext cx="3515258" cy="402336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/>
        </p:spPr>
      </p:sp>
      <p:sp>
        <p:nvSpPr>
          <p:cNvPr id="37" name="Ícone Encerramento da ordem (fundo)"/>
          <p:cNvSpPr/>
          <p:nvPr/>
        </p:nvSpPr>
        <p:spPr>
          <a:xfrm>
            <a:off x="8356397" y="2514600"/>
            <a:ext cx="594360" cy="594360"/>
          </a:xfrm>
          <a:prstGeom prst="ellipse">
            <a:avLst/>
          </a:prstGeom>
          <a:solidFill>
            <a:srgbClr val="325DA6"/>
          </a:solidFill>
          <a:ln/>
        </p:spPr>
      </p:sp>
      <p:pic>
        <p:nvPicPr>
          <p:cNvPr id="38" name="Ícone Encerramento da ordem" descr="Ícone Encerramento da ord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30" y="2669134"/>
            <a:ext cx="285293" cy="285293"/>
          </a:xfrm>
          <a:prstGeom prst="rect">
            <a:avLst/>
          </a:prstGeom>
        </p:spPr>
      </p:pic>
      <p:sp>
        <p:nvSpPr>
          <p:cNvPr id="39" name="Título Encerramento da ordem"/>
          <p:cNvSpPr txBox="1"/>
          <p:nvPr/>
        </p:nvSpPr>
        <p:spPr>
          <a:xfrm>
            <a:off x="9087917" y="2468880"/>
            <a:ext cx="2326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Etapa 9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Encerramento da ordem</a:t>
            </a:r>
            <a:endParaRPr lang="en-US" sz="1100" dirty="0"/>
          </a:p>
        </p:txBody>
      </p:sp>
      <p:sp>
        <p:nvSpPr>
          <p:cNvPr id="40" name="Papel Supervisor"/>
          <p:cNvSpPr/>
          <p:nvPr/>
        </p:nvSpPr>
        <p:spPr>
          <a:xfrm>
            <a:off x="8356397" y="32461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/>
        </p:spPr>
      </p:sp>
      <p:sp>
        <p:nvSpPr>
          <p:cNvPr id="41" name="Papel texto Supervisor"/>
          <p:cNvSpPr txBox="1"/>
          <p:nvPr/>
        </p:nvSpPr>
        <p:spPr>
          <a:xfrm>
            <a:off x="8356397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42" name="Texto Supervisor"/>
          <p:cNvSpPr txBox="1"/>
          <p:nvPr/>
        </p:nvSpPr>
        <p:spPr>
          <a:xfrm>
            <a:off x="8356397" y="361188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Garantir a qualidade da confirmação da ordem de serviço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Validar a execução da atividade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Encerrar a ordem de serviço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6949440" y="21945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Obrigado!</a:t>
            </a:r>
            <a:endParaRPr lang="en-US" sz="3200" dirty="0"/>
          </a:p>
        </p:txBody>
      </p:sp>
      <p:sp>
        <p:nvSpPr>
          <p:cNvPr id="3" name="Text 0"/>
          <p:cNvSpPr/>
          <p:nvPr>
            <p:ph idx="105" type="body" hasCustomPrompt="1"/>
          </p:nvPr>
        </p:nvSpPr>
        <p:spPr>
          <a:xfrm>
            <a:off x="69494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Dúvidas?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Favor entrar em contato com Lucas Ribas de Andrade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">
  <a:themeElements>
    <a:clrScheme name="PRIO">
      <a:dk1>
        <a:srgbClr val="1E2A3B"/>
      </a:dk1>
      <a:lt1>
        <a:srgbClr val="FFFFFF"/>
      </a:lt1>
      <a:dk2>
        <a:srgbClr val="1F3F73"/>
      </a:dk2>
      <a:lt2>
        <a:srgbClr val="EEF3FA"/>
      </a:lt2>
      <a:accent1>
        <a:srgbClr val="325DA6"/>
      </a:accent1>
      <a:accent2>
        <a:srgbClr val="00A06A"/>
      </a:accent2>
      <a:accent3>
        <a:srgbClr val="008080"/>
      </a:accent3>
      <a:accent4>
        <a:srgbClr val="25506A"/>
      </a:accent4>
      <a:accent5>
        <a:srgbClr val="C0392B"/>
      </a:accent5>
      <a:accent6>
        <a:srgbClr val="8FA3BF"/>
      </a:accent6>
      <a:hlink>
        <a:srgbClr val="325DA6"/>
      </a:hlink>
      <a:folHlink>
        <a:srgbClr val="8FA3BF"/>
      </a:folHlink>
    </a:clrScheme>
    <a:fontScheme name="PR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PRIO</cp:lastModifiedBy>
  <cp:revision>1</cp:revision>
  <dcterms:created xsi:type="dcterms:W3CDTF">2026-10-26T18:24:15Z</dcterms:created>
  <dcterms:modified xsi:type="dcterms:W3CDTF">2026-10-26T18:24:15Z</dcterms:modified>
</cp:coreProperties>
</file>