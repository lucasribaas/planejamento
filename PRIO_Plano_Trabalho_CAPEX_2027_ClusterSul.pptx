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8A5A2E"/>
            </a:solidFill>
            <a:effectLst/>
          </c:spPr>
          <c:invertIfNegative val="0"/>
          <c:dLbls>
            <c:numFmt formatCode="0.0&quot;mi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2A3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5A2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67C3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FPSO Bravo</c:v>
                  </c:pt>
                  <c:pt idx="1">
                    <c:v>Polvo A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18.82</c:v>
                </c:pt>
                <c:pt idx="1">
                  <c:v>5.12</c:v>
                </c:pt>
              </c:numCache>
            </c:numRef>
          </c:val>
        </c:ser>
        <c:dLbls>
          <c:numFmt formatCode="0.0&quot;mi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B2A3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8E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C2B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8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3E8E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CE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· 2027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3317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&amp;</a:t>
            </a:r>
            <a:endParaRPr lang="en-US" sz="4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Orçamento CAPEX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60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Sul  ·  FPSO Bravo · Polvo A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4709160"/>
            <a:ext cx="1005840" cy="0"/>
          </a:xfrm>
          <a:prstGeom prst="line">
            <a:avLst/>
          </a:prstGeom>
          <a:noFill/>
          <a:ln w="31750">
            <a:solidFill>
              <a:srgbClr val="A6CE3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8920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Consolidação do plano de trabalho por frente estratégica e da composição do orçamento de CAPEX 2027, para leitura executiva.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Gerado em 25/09/2026  ·  Confidencial – Uso Interno PRIO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8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2179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Consolidado · Cluster Sul 2027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US$ 23,9 mi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TA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26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3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107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43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ESCOPOS DE CAPEX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43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em análise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807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4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24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NO PLANO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24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ativos · 5 frentes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971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2027 POR ATIVO (US$ milhões)</a:t>
            </a:r>
            <a:endParaRPr lang="en-US" sz="105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365760" y="3291840"/>
          <a:ext cx="57607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3291840"/>
          <a:ext cx="5287975" cy="914400"/>
        </p:xfrm>
        <a:graphic>
          <a:graphicData uri="http://schemas.openxmlformats.org/drawingml/2006/table">
            <a:tbl>
              <a:tblPr/>
              <a:tblGrid>
                <a:gridCol w="2220950"/>
                <a:gridCol w="1692152"/>
                <a:gridCol w="1374874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ATIVO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CAPEX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ESCOPOS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FPSO Bravo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US$ 18,8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69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Polvo 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US$ 5,1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38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TOTAL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US$ 23,9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107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base 'Geral - Em análise' (aba do arquivo Plano Integrado), somando itens com status 'Contar'. O total de todos os ativos inclui Parada Programada (status 'TA', com custo aberto no slide de cada ativo). Nenhum total considera a categoria Desenvolvimento de Produção.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FPSO Bravo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15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bravo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39974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FPSO Bravo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US$ 18,8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US$ 13,8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US$ 5,0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943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US$ 5,8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0275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US$ 13,0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EIM - Manutenção &amp; Integridade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US$ 8,6 mi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US$ 5,0 mi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US$ 2,1 mi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US$ 960,0 mil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US$ 955,5 mil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523036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66928" y="52303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3773729" y="52303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US$ 926,4 mil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55961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3773729" y="55961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US$ 192,5 mil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US$ 8,5 mi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US$ 5,9 mi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US$ 3,3 mi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US$ 1,2 mi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Parada Programada). O total desconsidera a categoria Desenvolvimento de Produção (US$ 0).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Bravo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69 itens no total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GTG B + MANUTENÇÃO GERADOR 25KH GTG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metering de gás e Diesel- GTGs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Mecânica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Swivel - Pacote Hidráulico (OneSubsea)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US$ 982,4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US$ 816,1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CARGO PUMP - Nº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US$ 721,9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sistema fixo de CO2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US$ 670,0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NR13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US$ 659,4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Ignitor do Flare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US$ 616,8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Manutenção no Swivel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US$ 414,5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Novas Destiladoras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US$ 411,9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57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 (inclui Parada Programada).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A67C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Polvo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olvoa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370459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A67C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Polvo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US$ 5,1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US$ 3,5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US$ 1,6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943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US$ 3,1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0275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US$ 2,0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US$ 2,4 mi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US$ 1,6 mi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EIM - Manutenção &amp; Integridade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US$ 634,0 mil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US$ 206,8 mil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US$ 200,0 mil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523036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66928" y="52303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3773729" y="52303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US$ 81,3 mil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US$ 2,5 mi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US$ 1,8 mi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US$ 634,0 mil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US$ 200,0 mil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Parada Programada). O total desconsidera a categoria Desenvolvimento de Produção (US$ 0).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A67C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Polvo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38 itens no total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do Motor - Bomba de Incêndio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US$ 863,1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do compressor de Ar de Instrumento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US$ 544,8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MPP - Adequação do sistema de Selagem Multifásica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US$ 519,2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US$ 484,9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novos Detectores de Gás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US$ 447,3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Repetidoras de Rádio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US$ 217,9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Flowline - Passagem de PIG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US$ 206,8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NR13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US$ 173,2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Estação Meteorológica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US$ 162,1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Desmobilização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US$ 162,1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Implantação do projeto 'Muster Digital'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US$ 150,0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26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 (inclui Parada Programada).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2026-09-29T23:49:33Z</dcterms:created>
  <dcterms:modified xsi:type="dcterms:W3CDTF">2026-09-29T23:49:33Z</dcterms:modified>
</cp:coreProperties>
</file>