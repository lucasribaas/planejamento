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CAPEX (US$ mi)</c:v>
                </c:pt>
              </c:strCache>
            </c:strRef>
          </c:tx>
          <c:spPr>
            <a:solidFill>
              <a:srgbClr val="145C68"/>
            </a:solidFill>
            <a:effectLst/>
          </c:spPr>
          <c:invertIfNegative val="0"/>
          <c:dLbls>
            <c:numFmt formatCode="#,##0.0&quot;mi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C2B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FPSO Frade</c:v>
                  </c:pt>
                  <c:pt idx="1">
                    <c:v>FPSO Peregrino</c:v>
                  </c:pt>
                  <c:pt idx="2">
                    <c:v>FPSO Bravo</c:v>
                  </c:pt>
                  <c:pt idx="3">
                    <c:v>PLAT A</c:v>
                  </c:pt>
                  <c:pt idx="4">
                    <c:v>PLAT B</c:v>
                  </c:pt>
                  <c:pt idx="5">
                    <c:v>Polvo A</c:v>
                  </c:pt>
                  <c:pt idx="6">
                    <c:v>PLAT C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58.7</c:v>
                </c:pt>
                <c:pt idx="1">
                  <c:v>22.2</c:v>
                </c:pt>
                <c:pt idx="2">
                  <c:v>16</c:v>
                </c:pt>
                <c:pt idx="3">
                  <c:v>12.5</c:v>
                </c:pt>
                <c:pt idx="4">
                  <c:v>6.6</c:v>
                </c:pt>
                <c:pt idx="5">
                  <c:v>5.9</c:v>
                </c:pt>
                <c:pt idx="6">
                  <c:v>5.6</c:v>
                </c:pt>
              </c:numCache>
            </c:numRef>
          </c:val>
        </c:ser>
        <c:dLbls>
          <c:numFmt formatCode="#,##0.0&quot;mi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1C2B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A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103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6CE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EXECUTIVA · 2027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46888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CAPEX, Top OPEX &amp;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Despriorizados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9776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 Peregrino, Cluster Sul (FPSO Bravo + Polvo A) &amp; FPSO Frade · Consolidado 7 ativos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Confidencial - Uso Interno PRIO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CAPEX por Ativo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CAPEX total (status 'Contar' + 'TA') por ativo · exclui Desenvolvimento de Produção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188720"/>
          <a:ext cx="630936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12280" y="1188720"/>
          <a:ext cx="4937760" cy="914400"/>
        </p:xfrm>
        <a:graphic>
          <a:graphicData uri="http://schemas.openxmlformats.org/drawingml/2006/table">
            <a:tbl>
              <a:tblPr/>
              <a:tblGrid>
                <a:gridCol w="2271370"/>
                <a:gridCol w="1580083"/>
                <a:gridCol w="1086307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DO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US$ 58,7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46,0%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US$ 22,2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US$ 16,0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US$ 12,5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US$ 6,6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US$ 5,9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US$ 5,6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(7 ativos)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US$ 127,7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100,0%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10 CAPEX por Área Requisitante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soma do CAPEX de todos os ativos, por área · exclui Desenvolvimento de Produção</a:t>
            </a:r>
            <a:endParaRPr lang="en-US" sz="12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0332720" cy="914400"/>
        </p:xfrm>
        <a:graphic>
          <a:graphicData uri="http://schemas.openxmlformats.org/drawingml/2006/table">
            <a:tbl>
              <a:tblPr/>
              <a:tblGrid>
                <a:gridCol w="619963"/>
                <a:gridCol w="5166360"/>
                <a:gridCol w="2686507"/>
                <a:gridCol w="1859890"/>
              </a:tblGrid>
              <a:tr h="374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DO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US$ 38,2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US$ 21,2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US$ 19,8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US$ 16,3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US$ 8,3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US$ 7,5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Suporte Técnico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US$ 4,0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Saúde e Segurança Ocupacional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US$ 3,0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 - Administrativo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US$ 2,4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 – Medição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US$ 1,9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145C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Outras 5 áreas (menor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US$ 5,1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i="1" dirty="0">
                          <a:solidFill>
                            <a:srgbClr val="145C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Serviço + Material (Jan–Dez) para CAPEX com status 'Contar'/'TA', agrupado por Área em todos os 7 ativos. Total: US$ 127,7 mi.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45C6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5 OPEX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individuais de OPEX (status 'Contar' + 'TA'), por ativo</a:t>
            </a:r>
            <a:endParaRPr lang="en-US" sz="12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3599078"/>
                <a:gridCol w="1912010"/>
                <a:gridCol w="2249424"/>
                <a:gridCol w="1912010"/>
                <a:gridCol w="1574597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Fixo - PRIO + OSM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PLN - Planejamento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US$ 19,6 mi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Fixo - PRIO + OSM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PLN - Planejamento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US$ 6,7 mi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Pintura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US$ 6,5 mi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FIXO PRIO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 - Administrativo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US$ 5,6 mi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FIXO PRIO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Catering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US$ 4,8 mi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'Geral - Em análise' · Cost Allocation = OPEX, status 'Contar'/'TA', agrupado por escopo em cada ativo. OPEX total consolidado: US$ 155,9 mi.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Despriorizados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Itens recusados (aba 'Recusadas') · 142 escopos no total · CAPEX + OPEX</a:t>
            </a:r>
            <a:endParaRPr lang="en-US" sz="12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1799539"/>
                <a:gridCol w="2249424"/>
                <a:gridCol w="899770"/>
                <a:gridCol w="1574597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ALOC.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Descarte de Água - Nova Flotadora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US$ 7,8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Integração de 2ª bomba Sulzer de injeção em Peregrino WHP-A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US$ 4,5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Centrífuga Diesel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C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US$ 2,7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GIE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Desenvolvimento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US$ 2,4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metering de gás e Diesel- GTGs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US$ 1,7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 Sistema PA/GA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US$ 1,6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linha offloading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US$ 945,2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REVAMP CARGO PUMP - Nº 2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US$ 721,9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Sistema de Cloração - 2 unidades Chloropac SB3K + implantação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US$ 705,9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Tecnológica das GTGs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US$ 695,2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DA AMARRA 06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US$ 540,0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Apoio à Manutenção - Time de Construção - Instalações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US$ 540,0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Calibrações/inspeções dimensionais RBC - conforme determina Resolução ANP/Inmetro Portaria 1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US$ 483,8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dos Profilers 2 Stg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Desenvolvimento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US$ 471,8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 EQUIPAMENTOS EX NR-10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US$ 456,7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 grid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7A2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127 escopos despriorizados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2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US$ 11,1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2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aba 'Recusadas' de cada arquivo · itens não aprovados para o plano 2027, agrupados por escopo. Total despriorizado (CAPEX+OPEX): US$ 37,4 mi. Não compõe o CAPEX/OPEX do plano.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2026-10-05T23:38:52Z</dcterms:created>
  <dcterms:modified xsi:type="dcterms:W3CDTF">2026-10-05T23:38:52Z</dcterms:modified>
</cp:coreProperties>
</file>