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 (US$ mi)</c:v>
                </c:pt>
              </c:strCache>
            </c:strRef>
          </c:tx>
          <c:spPr>
            <a:solidFill>
              <a:srgbClr val="145C68"/>
            </a:solidFill>
            <a:effectLst/>
          </c:spPr>
          <c:invertIfNegative val="0"/>
          <c:dLbls>
            <c:numFmt formatCode="#,##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FPSO Frade</c:v>
                  </c:pt>
                  <c:pt idx="1">
                    <c:v>FPSO Peregrino</c:v>
                  </c:pt>
                  <c:pt idx="2">
                    <c:v>FPSO Bravo</c:v>
                  </c:pt>
                  <c:pt idx="3">
                    <c:v>PLAT A</c:v>
                  </c:pt>
                  <c:pt idx="4">
                    <c:v>PLAT B</c:v>
                  </c:pt>
                  <c:pt idx="5">
                    <c:v>Polvo A</c:v>
                  </c:pt>
                  <c:pt idx="6">
                    <c:v>PLAT C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58.7</c:v>
                </c:pt>
                <c:pt idx="1">
                  <c:v>22.2</c:v>
                </c:pt>
                <c:pt idx="2">
                  <c:v>16</c:v>
                </c:pt>
                <c:pt idx="3">
                  <c:v>12.5</c:v>
                </c:pt>
                <c:pt idx="4">
                  <c:v>6.6</c:v>
                </c:pt>
                <c:pt idx="5">
                  <c:v>5.9</c:v>
                </c:pt>
                <c:pt idx="6">
                  <c:v>5.6</c:v>
                </c:pt>
              </c:numCache>
            </c:numRef>
          </c:val>
        </c:ser>
        <c:dLbls>
          <c:numFmt formatCode="#,##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C2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68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CAPEX, Top OPEX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(FPSO Bravo + Polvo A) &amp; FPSO Frade · Consolidado 7 ativos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Ativo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por ativo · exclui Desenvolvimento de Produção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63093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2271370"/>
                <a:gridCol w="1580083"/>
                <a:gridCol w="1086307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US$ 58,7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US$ 22,2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US$ 16,0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US$ 12,5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US$ 5,9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(7 ativos)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US$ 127,7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US$ 50,8 mi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TROCADOR DE CALOR DO GERADOR - GT4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US$ 41,4 mi (81,4%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US$ 19,4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Reparos Definitivos - Compósito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de Costado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OSs CORRETIVAS - 307 Oss COM PEDIDO E VALOR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US$ 848,4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US$ 10,9 mi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Compra de Placas de controle dos VFDs Rockwell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MPP - Adequação do sistema de Selagem Multifásica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Manutenção no Swivel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Sensores de Hidrogênio nas Salas de Baterias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US$ 281,8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US$ 9,5 mi (87,2%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US$ 28,4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Mergulho - Tamponamento da caixa de 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Dilúvio (FW e FF) - Troca de Tubulações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Sistema de Tubulação - 13 Sistemas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US$ 964,4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Automação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DTPs - WHP Polvo-A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US$ 419,8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QUINQUENAL DE GUINDASTE NORTE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US$ 27,6 mi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Membrana do Sistema de Geração de Nitrogênio Alpha e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 -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US$ 16,5 mi (59,8%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US$ 40,3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Interna NR-13 FPSO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US$ 976,2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US$ 312,0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3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Substituição/ Reparo dos Caissons - Abrangência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21792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300" dirty="0"/>
          </a:p>
        </p:txBody>
      </p:sp>
      <p:graphicFrame>
        <p:nvGraphicFramePr>
          <p:cNvPr id="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" name="Text 10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OPEX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(status 'Contar' + 'TA') nas áreas priorizadas: Manutenção, Suporte Técnico, Confiabilidade, Integridade, Naval, Construção e Projetos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687068"/>
                <a:gridCol w="2136953"/>
                <a:gridCol w="1912010"/>
                <a:gridCol w="1574597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Mecânico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'Geral - Em análise' · OPEX, status 'Contar'/'TA', restrito às áreas priorizadas acima. Soma do top 10: US$ 23,5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recusados (aba 'Recusadas') · 142 escopos no total · CAPEX + OPEX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1799539"/>
                <a:gridCol w="2249424"/>
                <a:gridCol w="899770"/>
                <a:gridCol w="1574597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 de Água - Nova Flotadora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US$ 7,8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de 2ª bomba Sulzer de injeção em Peregrino WHP-A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Centrífuga Diesel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PA/GA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US$ 945,2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Cloração - 2 unidades Chloropac SB3K + implantação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US$ 705,9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Tecnológica das GTGs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US$ 695,2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AMARRA 06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Calibrações/inspeções dimensionais RBC - conforme determina Resolução ANP/Inmetro Portaria 1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US$ 483,8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Profilers 2 Stg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US$ 471,8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 EQUIPAMENTOS EX NR-10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US$ 456,7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127 escopos despriorizados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US$ 37,4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1799539"/>
                <a:gridCol w="2249424"/>
                <a:gridCol w="899770"/>
                <a:gridCol w="1574597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 DE MERGULHO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US$ 448,1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Fiação de Sinais entre Mark VI e PMS ABB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US$ 404,7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IGG Fuel Gas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US$ 376,6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de bomba nacionalização das bombas críticas da praça de máquinas (Main cooling sea water, bomba de condensado e GS pump)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US$ 326,9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TAR: Intervenção Fuel Gas Heater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US$ 311,6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 Laboratório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US$ 309,4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 de Medição Offshore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US$ 297,7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Main Deck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US$ 271,5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Tubulação Tanque 5C Cot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US$ 267,8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US$ 267,0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Flowline Wahoo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US$ 262,0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[CONSTRUÇÕES] Suporte a abertura de vasos NR-13 (2027)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US$ 256,0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Compra e Instalação de Cabines de Dilúvio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Revamp das cabines de water mist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na Entrada da Água do Mar do Vacuum Condenser - instalação de novos filtros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US$ 239,7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112 escopos despriorizados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US$ 37,4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2026-10-06T18:41:07Z</dcterms:created>
  <dcterms:modified xsi:type="dcterms:W3CDTF">2026-10-06T18:41:07Z</dcterms:modified>
</cp:coreProperties>
</file>