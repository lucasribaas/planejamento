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10312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A6CE3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EXECUTIVA · 2027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468880"/>
            <a:ext cx="10515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CAPEX, Top OPEX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977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9D6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Campo Peregrino, Cluster Sul (FPSO Bravo + Polvo A) &amp; FPSO Frade · Consolidado 7 ativos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6263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A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Confidencial - Uso Interno PRIO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Ativo e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207008"/>
            <a:ext cx="0" cy="4965192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07008"/>
            <a:ext cx="32644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ATIVO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457200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ativos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457200" y="162763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1" name="Shape 9"/>
          <p:cNvSpPr/>
          <p:nvPr/>
        </p:nvSpPr>
        <p:spPr>
          <a:xfrm>
            <a:off x="3051353" y="178740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4956505" y="162763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US$ 137,8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51,9%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457200" y="217855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051353" y="233832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5" name="Shape 13"/>
          <p:cNvSpPr/>
          <p:nvPr/>
        </p:nvSpPr>
        <p:spPr>
          <a:xfrm>
            <a:off x="3051353" y="2338327"/>
            <a:ext cx="765313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4956505" y="217855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US$ 58,7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22,1%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72948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051353" y="288925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19" name="Shape 17"/>
          <p:cNvSpPr/>
          <p:nvPr/>
        </p:nvSpPr>
        <p:spPr>
          <a:xfrm>
            <a:off x="3051353" y="2889253"/>
            <a:ext cx="289362" cy="231389"/>
          </a:xfrm>
          <a:prstGeom prst="roundRect">
            <a:avLst>
              <a:gd name="adj" fmla="val 15807"/>
            </a:avLst>
          </a:prstGeom>
          <a:solidFill>
            <a:srgbClr val="145C68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4956505" y="272948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8,4%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3280410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051353" y="3440179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3" name="Shape 21"/>
          <p:cNvSpPr/>
          <p:nvPr/>
        </p:nvSpPr>
        <p:spPr>
          <a:xfrm>
            <a:off x="3051353" y="3440179"/>
            <a:ext cx="209031" cy="231389"/>
          </a:xfrm>
          <a:prstGeom prst="roundRect">
            <a:avLst>
              <a:gd name="adj" fmla="val 17498"/>
            </a:avLst>
          </a:prstGeom>
          <a:solidFill>
            <a:srgbClr val="145C68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4956505" y="3280410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US$ 16,0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6,0%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3831336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051353" y="3991105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27" name="Shape 25"/>
          <p:cNvSpPr/>
          <p:nvPr/>
        </p:nvSpPr>
        <p:spPr>
          <a:xfrm>
            <a:off x="3051353" y="3991105"/>
            <a:ext cx="163439" cy="231389"/>
          </a:xfrm>
          <a:prstGeom prst="roundRect">
            <a:avLst>
              <a:gd name="adj" fmla="val 22379"/>
            </a:avLst>
          </a:prstGeom>
          <a:solidFill>
            <a:srgbClr val="145C68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4956505" y="3831336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US$ 12,5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4,7%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382262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3051353" y="4542031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1" name="Shape 29"/>
          <p:cNvSpPr/>
          <p:nvPr/>
        </p:nvSpPr>
        <p:spPr>
          <a:xfrm>
            <a:off x="3051353" y="4542031"/>
            <a:ext cx="86192" cy="231389"/>
          </a:xfrm>
          <a:prstGeom prst="roundRect">
            <a:avLst>
              <a:gd name="adj" fmla="val 42435"/>
            </a:avLst>
          </a:prstGeom>
          <a:solidFill>
            <a:srgbClr val="145C68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4956505" y="4382262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2,5%</a:t>
            </a:r>
            <a:endParaRPr lang="en-US" sz="1100" dirty="0"/>
          </a:p>
        </p:txBody>
      </p:sp>
      <p:sp>
        <p:nvSpPr>
          <p:cNvPr id="33" name="Text 31"/>
          <p:cNvSpPr txBox="1"/>
          <p:nvPr/>
        </p:nvSpPr>
        <p:spPr>
          <a:xfrm>
            <a:off x="457200" y="4933188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3051353" y="5092957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5" name="Shape 33"/>
          <p:cNvSpPr/>
          <p:nvPr/>
        </p:nvSpPr>
        <p:spPr>
          <a:xfrm>
            <a:off x="3051353" y="5092957"/>
            <a:ext cx="76945" cy="231389"/>
          </a:xfrm>
          <a:prstGeom prst="roundRect">
            <a:avLst>
              <a:gd name="adj" fmla="val 47535"/>
            </a:avLst>
          </a:prstGeom>
          <a:solidFill>
            <a:srgbClr val="145C68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4956505" y="4933188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US$ 5,9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2,2%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457200" y="5484114"/>
            <a:ext cx="2502713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3051353" y="5643883"/>
            <a:ext cx="1795424" cy="231389"/>
          </a:xfrm>
          <a:prstGeom prst="roundRect">
            <a:avLst>
              <a:gd name="adj" fmla="val 15807"/>
            </a:avLst>
          </a:prstGeom>
          <a:solidFill>
            <a:srgbClr val="F0F4F5"/>
          </a:solidFill>
          <a:ln/>
        </p:spPr>
      </p:sp>
      <p:sp>
        <p:nvSpPr>
          <p:cNvPr id="39" name="Shape 37"/>
          <p:cNvSpPr/>
          <p:nvPr/>
        </p:nvSpPr>
        <p:spPr>
          <a:xfrm>
            <a:off x="3051353" y="5643883"/>
            <a:ext cx="73276" cy="231389"/>
          </a:xfrm>
          <a:prstGeom prst="roundRect">
            <a:avLst>
              <a:gd name="adj" fmla="val 49915"/>
            </a:avLst>
          </a:prstGeom>
          <a:solidFill>
            <a:srgbClr val="145C68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956505" y="5484114"/>
            <a:ext cx="941375" cy="55092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41" name="Text 39"/>
          <p:cNvSpPr txBox="1"/>
          <p:nvPr/>
        </p:nvSpPr>
        <p:spPr>
          <a:xfrm>
            <a:off x="457200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FROTA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291072" y="1207008"/>
            <a:ext cx="408051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DEPARTAMENTO (PRINCIPAIS)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207008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deptos</a:t>
            </a:r>
            <a:endParaRPr lang="en-US" sz="950" dirty="0"/>
          </a:p>
        </p:txBody>
      </p:sp>
      <p:sp>
        <p:nvSpPr>
          <p:cNvPr id="44" name="Text 42"/>
          <p:cNvSpPr txBox="1"/>
          <p:nvPr/>
        </p:nvSpPr>
        <p:spPr>
          <a:xfrm>
            <a:off x="6291072" y="1627632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8885225" y="1769648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46" name="Shape 44"/>
          <p:cNvSpPr/>
          <p:nvPr/>
        </p:nvSpPr>
        <p:spPr>
          <a:xfrm>
            <a:off x="8885225" y="1769648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47" name="Text 45"/>
          <p:cNvSpPr txBox="1"/>
          <p:nvPr/>
        </p:nvSpPr>
        <p:spPr>
          <a:xfrm>
            <a:off x="10790377" y="1627632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US$ 76,2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28,7%</a:t>
            </a:r>
            <a:endParaRPr lang="en-US" sz="1000" dirty="0"/>
          </a:p>
        </p:txBody>
      </p:sp>
      <p:sp>
        <p:nvSpPr>
          <p:cNvPr id="48" name="Text 46"/>
          <p:cNvSpPr txBox="1"/>
          <p:nvPr/>
        </p:nvSpPr>
        <p:spPr>
          <a:xfrm>
            <a:off x="6291072" y="2117344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000" dirty="0"/>
          </a:p>
        </p:txBody>
      </p:sp>
      <p:sp>
        <p:nvSpPr>
          <p:cNvPr id="49" name="Shape 47"/>
          <p:cNvSpPr/>
          <p:nvPr/>
        </p:nvSpPr>
        <p:spPr>
          <a:xfrm>
            <a:off x="8885225" y="2259360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50" name="Shape 48"/>
          <p:cNvSpPr/>
          <p:nvPr/>
        </p:nvSpPr>
        <p:spPr>
          <a:xfrm>
            <a:off x="8885225" y="2259360"/>
            <a:ext cx="1162652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10790377" y="2117344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000" dirty="0"/>
          </a:p>
        </p:txBody>
      </p:sp>
      <p:sp>
        <p:nvSpPr>
          <p:cNvPr id="52" name="Text 50"/>
          <p:cNvSpPr txBox="1"/>
          <p:nvPr/>
        </p:nvSpPr>
        <p:spPr>
          <a:xfrm>
            <a:off x="6291072" y="2607056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8885225" y="2749072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54" name="Shape 52"/>
          <p:cNvSpPr/>
          <p:nvPr/>
        </p:nvSpPr>
        <p:spPr>
          <a:xfrm>
            <a:off x="8885225" y="2749072"/>
            <a:ext cx="914514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10790377" y="2607056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000" dirty="0"/>
          </a:p>
        </p:txBody>
      </p:sp>
      <p:sp>
        <p:nvSpPr>
          <p:cNvPr id="56" name="Text 54"/>
          <p:cNvSpPr txBox="1"/>
          <p:nvPr/>
        </p:nvSpPr>
        <p:spPr>
          <a:xfrm>
            <a:off x="6291072" y="3096768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000" dirty="0"/>
          </a:p>
        </p:txBody>
      </p:sp>
      <p:sp>
        <p:nvSpPr>
          <p:cNvPr id="57" name="Shape 55"/>
          <p:cNvSpPr/>
          <p:nvPr/>
        </p:nvSpPr>
        <p:spPr>
          <a:xfrm>
            <a:off x="8885225" y="3238784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58" name="Shape 56"/>
          <p:cNvSpPr/>
          <p:nvPr/>
        </p:nvSpPr>
        <p:spPr>
          <a:xfrm>
            <a:off x="8885225" y="3238784"/>
            <a:ext cx="881032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10790377" y="3096768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000" dirty="0"/>
          </a:p>
        </p:txBody>
      </p:sp>
      <p:sp>
        <p:nvSpPr>
          <p:cNvPr id="60" name="Text 58"/>
          <p:cNvSpPr txBox="1"/>
          <p:nvPr/>
        </p:nvSpPr>
        <p:spPr>
          <a:xfrm>
            <a:off x="6291072" y="3586480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000" dirty="0"/>
          </a:p>
        </p:txBody>
      </p:sp>
      <p:sp>
        <p:nvSpPr>
          <p:cNvPr id="61" name="Shape 59"/>
          <p:cNvSpPr/>
          <p:nvPr/>
        </p:nvSpPr>
        <p:spPr>
          <a:xfrm>
            <a:off x="8885225" y="3728496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62" name="Shape 60"/>
          <p:cNvSpPr/>
          <p:nvPr/>
        </p:nvSpPr>
        <p:spPr>
          <a:xfrm>
            <a:off x="8885225" y="3728496"/>
            <a:ext cx="521270" cy="205679"/>
          </a:xfrm>
          <a:prstGeom prst="roundRect">
            <a:avLst>
              <a:gd name="adj" fmla="val 17783"/>
            </a:avLst>
          </a:prstGeom>
          <a:solidFill>
            <a:srgbClr val="0B2A3D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10790377" y="3586480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000" dirty="0"/>
          </a:p>
        </p:txBody>
      </p:sp>
      <p:sp>
        <p:nvSpPr>
          <p:cNvPr id="64" name="Text 62"/>
          <p:cNvSpPr txBox="1"/>
          <p:nvPr/>
        </p:nvSpPr>
        <p:spPr>
          <a:xfrm>
            <a:off x="6291072" y="4076192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000" dirty="0"/>
          </a:p>
        </p:txBody>
      </p:sp>
      <p:sp>
        <p:nvSpPr>
          <p:cNvPr id="65" name="Shape 63"/>
          <p:cNvSpPr/>
          <p:nvPr/>
        </p:nvSpPr>
        <p:spPr>
          <a:xfrm>
            <a:off x="8885225" y="4218208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66" name="Shape 64"/>
          <p:cNvSpPr/>
          <p:nvPr/>
        </p:nvSpPr>
        <p:spPr>
          <a:xfrm>
            <a:off x="8885225" y="4218208"/>
            <a:ext cx="177040" cy="205679"/>
          </a:xfrm>
          <a:prstGeom prst="roundRect">
            <a:avLst>
              <a:gd name="adj" fmla="val 20660"/>
            </a:avLst>
          </a:prstGeom>
          <a:solidFill>
            <a:srgbClr val="0B2A3D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10790377" y="4076192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6291072" y="4565904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000" dirty="0"/>
          </a:p>
        </p:txBody>
      </p:sp>
      <p:sp>
        <p:nvSpPr>
          <p:cNvPr id="69" name="Shape 67"/>
          <p:cNvSpPr/>
          <p:nvPr/>
        </p:nvSpPr>
        <p:spPr>
          <a:xfrm>
            <a:off x="8885225" y="4707920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70" name="Shape 68"/>
          <p:cNvSpPr/>
          <p:nvPr/>
        </p:nvSpPr>
        <p:spPr>
          <a:xfrm>
            <a:off x="8885225" y="4707920"/>
            <a:ext cx="94276" cy="205679"/>
          </a:xfrm>
          <a:prstGeom prst="roundRect">
            <a:avLst>
              <a:gd name="adj" fmla="val 38797"/>
            </a:avLst>
          </a:prstGeom>
          <a:solidFill>
            <a:srgbClr val="0B2A3D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10790377" y="4565904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000" dirty="0"/>
          </a:p>
        </p:txBody>
      </p:sp>
      <p:sp>
        <p:nvSpPr>
          <p:cNvPr id="72" name="Text 70"/>
          <p:cNvSpPr txBox="1"/>
          <p:nvPr/>
        </p:nvSpPr>
        <p:spPr>
          <a:xfrm>
            <a:off x="6291072" y="5055616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000" dirty="0"/>
          </a:p>
        </p:txBody>
      </p:sp>
      <p:sp>
        <p:nvSpPr>
          <p:cNvPr id="73" name="Shape 71"/>
          <p:cNvSpPr/>
          <p:nvPr/>
        </p:nvSpPr>
        <p:spPr>
          <a:xfrm>
            <a:off x="8885225" y="5197632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74" name="Shape 72"/>
          <p:cNvSpPr/>
          <p:nvPr/>
        </p:nvSpPr>
        <p:spPr>
          <a:xfrm>
            <a:off x="8885225" y="5197632"/>
            <a:ext cx="76481" cy="205679"/>
          </a:xfrm>
          <a:prstGeom prst="roundRect">
            <a:avLst>
              <a:gd name="adj" fmla="val 47824"/>
            </a:avLst>
          </a:prstGeom>
          <a:solidFill>
            <a:srgbClr val="0B2A3D"/>
          </a:solidFill>
          <a:ln/>
        </p:spPr>
      </p:sp>
      <p:sp>
        <p:nvSpPr>
          <p:cNvPr id="75" name="Text 73"/>
          <p:cNvSpPr txBox="1"/>
          <p:nvPr/>
        </p:nvSpPr>
        <p:spPr>
          <a:xfrm>
            <a:off x="10790377" y="5055616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000" dirty="0"/>
          </a:p>
        </p:txBody>
      </p:sp>
      <p:sp>
        <p:nvSpPr>
          <p:cNvPr id="76" name="Text 74"/>
          <p:cNvSpPr txBox="1"/>
          <p:nvPr/>
        </p:nvSpPr>
        <p:spPr>
          <a:xfrm>
            <a:off x="6291072" y="5545328"/>
            <a:ext cx="2502713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000" dirty="0"/>
          </a:p>
        </p:txBody>
      </p:sp>
      <p:sp>
        <p:nvSpPr>
          <p:cNvPr id="77" name="Shape 75"/>
          <p:cNvSpPr/>
          <p:nvPr/>
        </p:nvSpPr>
        <p:spPr>
          <a:xfrm>
            <a:off x="8885225" y="5687344"/>
            <a:ext cx="1795424" cy="205679"/>
          </a:xfrm>
          <a:prstGeom prst="roundRect">
            <a:avLst>
              <a:gd name="adj" fmla="val 17783"/>
            </a:avLst>
          </a:prstGeom>
          <a:solidFill>
            <a:srgbClr val="F0F4F5"/>
          </a:solidFill>
          <a:ln/>
        </p:spPr>
      </p:sp>
      <p:sp>
        <p:nvSpPr>
          <p:cNvPr id="78" name="Shape 76"/>
          <p:cNvSpPr/>
          <p:nvPr/>
        </p:nvSpPr>
        <p:spPr>
          <a:xfrm>
            <a:off x="8885225" y="5687344"/>
            <a:ext cx="54864" cy="205679"/>
          </a:xfrm>
          <a:prstGeom prst="roundRect">
            <a:avLst>
              <a:gd name="adj" fmla="val 66667"/>
            </a:avLst>
          </a:prstGeom>
          <a:solidFill>
            <a:srgbClr val="0B2A3D"/>
          </a:solidFill>
          <a:ln/>
        </p:spPr>
      </p:sp>
      <p:sp>
        <p:nvSpPr>
          <p:cNvPr id="79" name="Text 77"/>
          <p:cNvSpPr txBox="1"/>
          <p:nvPr/>
        </p:nvSpPr>
        <p:spPr>
          <a:xfrm>
            <a:off x="10790377" y="5545328"/>
            <a:ext cx="941375" cy="4897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9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000" dirty="0"/>
          </a:p>
        </p:txBody>
      </p:sp>
      <p:sp>
        <p:nvSpPr>
          <p:cNvPr id="80" name="Text 78"/>
          <p:cNvSpPr txBox="1"/>
          <p:nvPr/>
        </p:nvSpPr>
        <p:spPr>
          <a:xfrm>
            <a:off x="6291072" y="6089904"/>
            <a:ext cx="5440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SUBTOTAL   </a:t>
            </a:r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US$ 239,1 mi</a:t>
            </a:r>
            <a:pPr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(90,1% do total)</a:t>
            </a:r>
            <a:endParaRPr lang="en-US" sz="1000" dirty="0"/>
          </a:p>
        </p:txBody>
      </p:sp>
      <p:sp>
        <p:nvSpPr>
          <p:cNvPr id="81" name="Text 79"/>
          <p:cNvSpPr txBox="1"/>
          <p:nvPr/>
        </p:nvSpPr>
        <p:spPr>
          <a:xfrm>
            <a:off x="457200" y="6355080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Departamentos considerados: TA - Parada Programada, Projetos, NAV - Naval, MNT - Manutenção, CON - Construção, EIM - Manutenção e Integridade, Suporte Técnico, Grandes Manutenções, INT - Integridade.</a:t>
            </a:r>
            <a:endParaRPr lang="en-US" sz="800" dirty="0"/>
          </a:p>
        </p:txBody>
      </p:sp>
      <p:sp>
        <p:nvSpPr>
          <p:cNvPr id="82" name="Text 80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83" name="Text 81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CAPEX por Departamento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CAPEX total (status 'Contar' + 'TA') por área requisitante · somatório de toda a frota (8 ativos) · exclui Desenvolvimento de Produção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094476" y="1188720"/>
            <a:ext cx="0" cy="4983480"/>
          </a:xfrm>
          <a:prstGeom prst="line">
            <a:avLst/>
          </a:prstGeom>
          <a:noFill/>
          <a:ln w="12700">
            <a:solidFill>
              <a:srgbClr val="E3E8E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2801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- Parada Programada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9" name="Shape 7"/>
          <p:cNvSpPr/>
          <p:nvPr/>
        </p:nvSpPr>
        <p:spPr>
          <a:xfrm>
            <a:off x="3051353" y="14613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956505" y="12801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US$ 76,2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28,7%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457200" y="18802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051353" y="20614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3" name="Shape 11"/>
          <p:cNvSpPr/>
          <p:nvPr/>
        </p:nvSpPr>
        <p:spPr>
          <a:xfrm>
            <a:off x="3051353" y="2061401"/>
            <a:ext cx="116265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4956505" y="18802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US$ 49,3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18,6%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57200" y="24803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 - Naval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3051353" y="26614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17" name="Shape 15"/>
          <p:cNvSpPr/>
          <p:nvPr/>
        </p:nvSpPr>
        <p:spPr>
          <a:xfrm>
            <a:off x="3051353" y="2661476"/>
            <a:ext cx="91451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4956505" y="24803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US$ 38,8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14,6%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457200" y="30803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MNT – Manutenção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3051353" y="32615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1" name="Shape 19"/>
          <p:cNvSpPr/>
          <p:nvPr/>
        </p:nvSpPr>
        <p:spPr>
          <a:xfrm>
            <a:off x="3051353" y="3261551"/>
            <a:ext cx="881032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4956505" y="30803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US$ 37,4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14,1%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457200" y="368046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 - Construção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3051353" y="386162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5" name="Shape 23"/>
          <p:cNvSpPr/>
          <p:nvPr/>
        </p:nvSpPr>
        <p:spPr>
          <a:xfrm>
            <a:off x="3051353" y="3861626"/>
            <a:ext cx="521270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956505" y="368046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US$ 22,1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8,3%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428053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Processos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3051353" y="446170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29" name="Shape 27"/>
          <p:cNvSpPr/>
          <p:nvPr/>
        </p:nvSpPr>
        <p:spPr>
          <a:xfrm>
            <a:off x="3051353" y="4461701"/>
            <a:ext cx="214002" cy="237744"/>
          </a:xfrm>
          <a:prstGeom prst="roundRect">
            <a:avLst>
              <a:gd name="adj" fmla="val 17091"/>
            </a:avLst>
          </a:prstGeom>
          <a:solidFill>
            <a:srgbClr val="145C68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56505" y="428053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US$ 9,1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3,4%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457200" y="4880610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EIM - Manutenção &amp; Integridade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3051353" y="5061776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3" name="Shape 31"/>
          <p:cNvSpPr/>
          <p:nvPr/>
        </p:nvSpPr>
        <p:spPr>
          <a:xfrm>
            <a:off x="3051353" y="5061776"/>
            <a:ext cx="177040" cy="237744"/>
          </a:xfrm>
          <a:prstGeom prst="roundRect">
            <a:avLst>
              <a:gd name="adj" fmla="val 20660"/>
            </a:avLst>
          </a:prstGeom>
          <a:solidFill>
            <a:srgbClr val="145C68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4956505" y="4880610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US$ 7,5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2,8%</a:t>
            </a:r>
            <a:endParaRPr lang="en-US" sz="1100" dirty="0"/>
          </a:p>
        </p:txBody>
      </p:sp>
      <p:sp>
        <p:nvSpPr>
          <p:cNvPr id="35" name="Text 33"/>
          <p:cNvSpPr txBox="1"/>
          <p:nvPr/>
        </p:nvSpPr>
        <p:spPr>
          <a:xfrm>
            <a:off x="457200" y="5480685"/>
            <a:ext cx="2502713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e Segurança Ocupacional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3051353" y="5661851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37" name="Shape 35"/>
          <p:cNvSpPr/>
          <p:nvPr/>
        </p:nvSpPr>
        <p:spPr>
          <a:xfrm>
            <a:off x="3051353" y="5661851"/>
            <a:ext cx="131928" cy="237744"/>
          </a:xfrm>
          <a:prstGeom prst="roundRect">
            <a:avLst>
              <a:gd name="adj" fmla="val 27724"/>
            </a:avLst>
          </a:prstGeom>
          <a:solidFill>
            <a:srgbClr val="145C68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4956505" y="5480685"/>
            <a:ext cx="941375" cy="6000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US$ 5,6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2,1%</a:t>
            </a:r>
            <a:endParaRPr lang="en-US" sz="1100" dirty="0"/>
          </a:p>
        </p:txBody>
      </p:sp>
      <p:sp>
        <p:nvSpPr>
          <p:cNvPr id="39" name="Text 37"/>
          <p:cNvSpPr txBox="1"/>
          <p:nvPr/>
        </p:nvSpPr>
        <p:spPr>
          <a:xfrm>
            <a:off x="6291072" y="1280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P&amp;Q - Químicos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1" name="Shape 39"/>
          <p:cNvSpPr/>
          <p:nvPr/>
        </p:nvSpPr>
        <p:spPr>
          <a:xfrm>
            <a:off x="8885225" y="1504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10790377" y="1280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1,7%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6291072" y="1965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– Medição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8885225" y="2189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5" name="Shape 43"/>
          <p:cNvSpPr/>
          <p:nvPr/>
        </p:nvSpPr>
        <p:spPr>
          <a:xfrm>
            <a:off x="8885225" y="2189988"/>
            <a:ext cx="175388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46" name="Text 44"/>
          <p:cNvSpPr txBox="1"/>
          <p:nvPr/>
        </p:nvSpPr>
        <p:spPr>
          <a:xfrm>
            <a:off x="10790377" y="1965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US$ 4,3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1,6%</a:t>
            </a:r>
            <a:endParaRPr lang="en-US" sz="1100" dirty="0"/>
          </a:p>
        </p:txBody>
      </p:sp>
      <p:sp>
        <p:nvSpPr>
          <p:cNvPr id="47" name="Text 45"/>
          <p:cNvSpPr txBox="1"/>
          <p:nvPr/>
        </p:nvSpPr>
        <p:spPr>
          <a:xfrm>
            <a:off x="6291072" y="26517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Suporte Técnico</a:t>
            </a:r>
            <a:endParaRPr lang="en-US" sz="1100" dirty="0"/>
          </a:p>
        </p:txBody>
      </p:sp>
      <p:sp>
        <p:nvSpPr>
          <p:cNvPr id="48" name="Shape 46"/>
          <p:cNvSpPr/>
          <p:nvPr/>
        </p:nvSpPr>
        <p:spPr>
          <a:xfrm>
            <a:off x="8885225" y="28757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49" name="Shape 47"/>
          <p:cNvSpPr/>
          <p:nvPr/>
        </p:nvSpPr>
        <p:spPr>
          <a:xfrm>
            <a:off x="8885225" y="2875788"/>
            <a:ext cx="1624765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10790377" y="26517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US$ 4,0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1,5%</a:t>
            </a:r>
            <a:endParaRPr lang="en-US" sz="1100" dirty="0"/>
          </a:p>
        </p:txBody>
      </p:sp>
      <p:sp>
        <p:nvSpPr>
          <p:cNvPr id="51" name="Text 49"/>
          <p:cNvSpPr txBox="1"/>
          <p:nvPr/>
        </p:nvSpPr>
        <p:spPr>
          <a:xfrm>
            <a:off x="6291072" y="33375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Grandes Manutenções</a:t>
            </a:r>
            <a:endParaRPr lang="en-US" sz="1100" dirty="0"/>
          </a:p>
        </p:txBody>
      </p:sp>
      <p:sp>
        <p:nvSpPr>
          <p:cNvPr id="52" name="Shape 50"/>
          <p:cNvSpPr/>
          <p:nvPr/>
        </p:nvSpPr>
        <p:spPr>
          <a:xfrm>
            <a:off x="8885225" y="35615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3" name="Shape 51"/>
          <p:cNvSpPr/>
          <p:nvPr/>
        </p:nvSpPr>
        <p:spPr>
          <a:xfrm>
            <a:off x="8885225" y="3561588"/>
            <a:ext cx="1318091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4" name="Text 52"/>
          <p:cNvSpPr txBox="1"/>
          <p:nvPr/>
        </p:nvSpPr>
        <p:spPr>
          <a:xfrm>
            <a:off x="10790377" y="33375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US$ 3,2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1,2%</a:t>
            </a:r>
            <a:endParaRPr lang="en-US" sz="1100" dirty="0"/>
          </a:p>
        </p:txBody>
      </p:sp>
      <p:sp>
        <p:nvSpPr>
          <p:cNvPr id="55" name="Text 53"/>
          <p:cNvSpPr txBox="1"/>
          <p:nvPr/>
        </p:nvSpPr>
        <p:spPr>
          <a:xfrm>
            <a:off x="6291072" y="40233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 - Administrativo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8885225" y="42473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57" name="Shape 55"/>
          <p:cNvSpPr/>
          <p:nvPr/>
        </p:nvSpPr>
        <p:spPr>
          <a:xfrm>
            <a:off x="8885225" y="4247388"/>
            <a:ext cx="9576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58" name="Text 56"/>
          <p:cNvSpPr txBox="1"/>
          <p:nvPr/>
        </p:nvSpPr>
        <p:spPr>
          <a:xfrm>
            <a:off x="10790377" y="40233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US$ 2,4 mi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0,9%</a:t>
            </a:r>
            <a:endParaRPr lang="en-US" sz="1100" dirty="0"/>
          </a:p>
        </p:txBody>
      </p:sp>
      <p:sp>
        <p:nvSpPr>
          <p:cNvPr id="59" name="Text 57"/>
          <p:cNvSpPr txBox="1"/>
          <p:nvPr/>
        </p:nvSpPr>
        <p:spPr>
          <a:xfrm>
            <a:off x="6291072" y="47091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de Processos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8885225" y="49331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1" name="Shape 59"/>
          <p:cNvSpPr/>
          <p:nvPr/>
        </p:nvSpPr>
        <p:spPr>
          <a:xfrm>
            <a:off x="8885225" y="4933188"/>
            <a:ext cx="245133" cy="237744"/>
          </a:xfrm>
          <a:prstGeom prst="roundRect">
            <a:avLst>
              <a:gd name="adj" fmla="val 15385"/>
            </a:avLst>
          </a:prstGeom>
          <a:solidFill>
            <a:srgbClr val="145C68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10790377" y="47091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US$ 603,5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3" name="Text 61"/>
          <p:cNvSpPr txBox="1"/>
          <p:nvPr/>
        </p:nvSpPr>
        <p:spPr>
          <a:xfrm>
            <a:off x="6291072" y="5394960"/>
            <a:ext cx="2502713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2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 - Integridade</a:t>
            </a:r>
            <a:endParaRPr lang="en-US" sz="1100" dirty="0"/>
          </a:p>
        </p:txBody>
      </p:sp>
      <p:sp>
        <p:nvSpPr>
          <p:cNvPr id="64" name="Shape 62"/>
          <p:cNvSpPr/>
          <p:nvPr/>
        </p:nvSpPr>
        <p:spPr>
          <a:xfrm>
            <a:off x="8885225" y="5618988"/>
            <a:ext cx="1795424" cy="237744"/>
          </a:xfrm>
          <a:prstGeom prst="roundRect">
            <a:avLst>
              <a:gd name="adj" fmla="val 15385"/>
            </a:avLst>
          </a:prstGeom>
          <a:solidFill>
            <a:srgbClr val="F0F4F5"/>
          </a:solidFill>
          <a:ln/>
        </p:spPr>
      </p:sp>
      <p:sp>
        <p:nvSpPr>
          <p:cNvPr id="65" name="Shape 63"/>
          <p:cNvSpPr/>
          <p:nvPr/>
        </p:nvSpPr>
        <p:spPr>
          <a:xfrm>
            <a:off x="8885225" y="5618988"/>
            <a:ext cx="210778" cy="237744"/>
          </a:xfrm>
          <a:prstGeom prst="roundRect">
            <a:avLst>
              <a:gd name="adj" fmla="val 17353"/>
            </a:avLst>
          </a:prstGeom>
          <a:solidFill>
            <a:srgbClr val="145C68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10790377" y="5394960"/>
            <a:ext cx="9413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US$ 518,9 mil</a:t>
            </a:r>
            <a:pPr indent="0" marL="0">
              <a:buNone/>
            </a:pPr>
            <a:r>
              <a:rPr lang="en-US" sz="10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0,2%</a:t>
            </a:r>
            <a:endParaRPr lang="en-US" sz="1100" dirty="0"/>
          </a:p>
        </p:txBody>
      </p:sp>
      <p:sp>
        <p:nvSpPr>
          <p:cNvPr id="67" name="Text 65"/>
          <p:cNvSpPr txBox="1"/>
          <p:nvPr/>
        </p:nvSpPr>
        <p:spPr>
          <a:xfrm>
            <a:off x="457200" y="6153912"/>
            <a:ext cx="112745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(15 departamentos)   </a:t>
            </a:r>
            <a:pPr algn="ctr" indent="0" marL="0">
              <a:buNone/>
            </a:pPr>
            <a:r>
              <a:rPr lang="en-US" sz="11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US$ 265,5 mi</a:t>
            </a:r>
            <a:pPr algn="ctr" indent="0" marL="0">
              <a:buNone/>
            </a:pPr>
            <a:r>
              <a:rPr lang="en-US" sz="95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100,0%</a:t>
            </a:r>
            <a:endParaRPr lang="en-US" sz="1000" dirty="0"/>
          </a:p>
        </p:txBody>
      </p:sp>
      <p:sp>
        <p:nvSpPr>
          <p:cNvPr id="68" name="Text 6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69" name="Text 6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US$ 73,6 mi</a:t>
            </a:r>
            <a:endParaRPr lang="en-US" sz="125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Instalações (Fabr, Const e Mont Offshore)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US$ 14,0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Contingencia (1 un.)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das bobinas do transformador do MC-A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OverHaul (L3) na TG-C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HAWSER WINCH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US$ 52,0 mi (70,7%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CAPEX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 · nas áreas priorizadas</a:t>
            </a:r>
            <a:endParaRPr lang="en-US" sz="12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5618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UMS - 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bundle HP e LP/IP do MC-C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 e Instalação da bomba de Injeção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Recomposição do Dilúvio + Troca de Bicos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 UMS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sistema de ventilação trafos dos MCs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US$ 908,4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de Automação dos pacotes com PLCs GE-Fanuc (90-70 e 90-30)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Amarras - Troca ML 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Riser Balcony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US$ 791,7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ESTUDOS DE ENGENHARIA FPSO FORTE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Recuperar sistema de tratamento de efluentes (ETE)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US$ 650,0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Câmara Frigorífica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das Caixas de Proteção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US$ 590,2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Remoção da Torre de Telecom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US$ 562,4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880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do GGI-B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88036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i="1" dirty="0">
                          <a:solidFill>
                            <a:srgbClr val="35618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49 escopos (itens de menor valor individual)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E8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priorizadas, excl. Desenvolvimento de Produção. Total nessas áreas: US$ 73,6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35618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FT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Forte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US$ 14,4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5618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Forte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Mangote Offloading - Substituição seções M5 a M13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L1 TG's 4000hrs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US$ 720,0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US$ 50,8 mi</a:t>
            </a:r>
            <a:endParaRPr lang="en-US" sz="125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DOS BOOGIES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Guincho de Pull In + Reforma do Turret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US$ 8,7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L3 - TURBINA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Frade 100K (Fase 2)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 PARTS RECONDICIONAMENTO DOS BOOGIES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IGG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Gerador de Nitrogênio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Skids de Dilúvio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Sensores de H2S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TROCADOR DE CALOR DO GERADOR - GT4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US$ 41,4 mi (81,4%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FPSO Frade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US$ 19,4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1988820"/>
            <a:ext cx="8503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2E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Frade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828800" y="2354580"/>
          <a:ext cx="8503920" cy="914400"/>
        </p:xfrm>
        <a:graphic>
          <a:graphicData uri="http://schemas.openxmlformats.org/drawingml/2006/table">
            <a:tbl>
              <a:tblPr/>
              <a:tblGrid>
                <a:gridCol w="5952744"/>
                <a:gridCol w="2551176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Reparos Definitivos - Compósito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de Costado - Pintura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OSs CORRETIVAS - 307 Oss COM PEDIDO E VALOR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US$ 848,4 mil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9" name="Text 6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0" name="Text 7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US$ 10,9 mi</a:t>
            </a:r>
            <a:endParaRPr lang="en-US" sz="12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8A5A2E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L3 GTG B + MANUTENÇÃO GERADOR 25KH GTG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US$ 4,8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Retrofit do Motor - Bomba de Incêndio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US$ 863,1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do compressor de Ar de Instrumento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US$ 544,8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Compra de Placas de controle dos VFDs Rockwell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US$ 526,1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MPP - Adequação do sistema de Selagem Multifásica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US$ 519,2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Polvo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US$ 447,3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Manutenção no Swivel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US$ 414,5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Novas Destiladoras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US$ 411,9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Sensores de Hidrogênio nas Salas de Baterias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US$ 281,8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US$ 9,5 mi (87,2%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8A5A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TP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TBMT + Polvo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US$ 28,4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Bravo</a:t>
            </a:r>
            <a:endParaRPr lang="en-US" sz="13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Mergulho - Tamponamento da caixa de mar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Dilúvio (FW e FF) - Troca de Tubulações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Sistema de Tubulação - 13 Sistemas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US$ 964,4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24460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5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Polvo A</a:t>
            </a:r>
            <a:endParaRPr lang="en-US" sz="13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28117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 de material Automação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M5 - 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DTPs - WHP Polvo-A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US$ 419,8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QUINQUENAL DE GUINDASTE NORTE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US$ 372,5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CAPEX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CAPEX nas áreas priorizadas (Manutenção, Suporte Técnico, Confiabilidade, Integridade, Naval, Construção, Projetos) · total nessas áreas: US$ 27,6 mi</a:t>
            </a:r>
            <a:endParaRPr lang="en-US" sz="12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574597"/>
                <a:gridCol w="2136953"/>
                <a:gridCol w="2024482"/>
                <a:gridCol w="1574597"/>
              </a:tblGrid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A3D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lança do Guindaste Oeste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PLC das Turbinas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de obsolescência do INSUM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Suporte Técnico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Troca da Membrana do Sistema de Geração de Nitrogênio Alpha e Bravo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Grandes Manutenções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Bomba Framo (SWLP) -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Caldeira 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Novo Header de Vapor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US$ 882,9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STG-B e Gerador Elétrico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US$ 698,8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Meteoceanográfico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US$ 634,7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CAPEX, status 'Contar'/'TA', restrito às áreas priorizadas acima, excl. Desenvolvimento de Produção. Soma do top 10: US$ 16,5 mi (59,8% do CAPEX nessas áreas).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0B2A3D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PG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5 OPEX por Ativo · Peregrino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nas áreas priorizadas (Manutenção, Suporte Técnico, Confiabilidade, Integridade, Naval, Construção, Projetos) · total nessas áreas: US$ 40,3 mi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45720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FPSO Peregrino</a:t>
            </a:r>
            <a:endParaRPr lang="en-US" sz="13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Interna NR-13 FPSO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Tanques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217920" y="1188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A</a:t>
            </a:r>
            <a:endParaRPr lang="en-US" sz="1300" dirty="0"/>
          </a:p>
        </p:txBody>
      </p:sp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15544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US$ 976,2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US$ 312,0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normatização de reparos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US$ 273,0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45720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B</a:t>
            </a:r>
            <a:endParaRPr lang="en-US" sz="1300" dirty="0"/>
          </a:p>
        </p:txBody>
      </p:sp>
      <p:graphicFrame>
        <p:nvGraphicFramePr>
          <p:cNvPr id="37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Gerenciamento de Corrosão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Substituição/ Reparo dos Caissons - Abrangência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Inspeção de Jackets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US$ 400,0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 7"/>
          <p:cNvSpPr txBox="1"/>
          <p:nvPr/>
        </p:nvSpPr>
        <p:spPr>
          <a:xfrm>
            <a:off x="6217920" y="39319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B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 C</a:t>
            </a:r>
            <a:endParaRPr lang="en-US" sz="1300" dirty="0"/>
          </a:p>
        </p:txBody>
      </p:sp>
      <p:graphicFrame>
        <p:nvGraphicFramePr>
          <p:cNvPr id="49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17920" y="4297680"/>
          <a:ext cx="548640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16459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Manutenção Preventiva (L1) da GTG-B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US$ 708,5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Plano de Inspeção de sistemas de tubulação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US$ 567,0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US$ 564,0 mil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4" name="Text 8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Metodologia: Cost Allocation = OPEX, status 'Contar'/'TA', restrito às áreas priorizadas acima, agrupado por escopo dentro de cada ativo.</a:t>
            </a:r>
            <a:endParaRPr lang="en-US" sz="850" dirty="0"/>
          </a:p>
        </p:txBody>
      </p:sp>
      <p:sp>
        <p:nvSpPr>
          <p:cNvPr id="15" name="Text 9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16" name="Text 10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145C68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Top 10 OPEX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 2027 · maiores escopos de OPEX (status 'Contar' + 'TA') nas áreas priorizadas: Manutenção, Suporte Técnico, Confiabilidade, Integridade, Naval, Construção e Projetos</a:t>
            </a:r>
            <a:endParaRPr lang="en-US" sz="12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562356"/>
                <a:gridCol w="3374136"/>
                <a:gridCol w="1687068"/>
                <a:gridCol w="2136953"/>
                <a:gridCol w="1912010"/>
                <a:gridCol w="1574597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5C6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US$ 3,3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RTI M5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US$ 2,2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Constr, Mont e RTI.)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B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OPERAÇÃO USINA AGGREKO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Andaime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US$ 1,9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(Fabrc, Const e Mont Offshore)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Time de Construção - Instalações (Fabric, Constr e Mont.)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US$ 1,5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7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Campanha de Preservação - Pintura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9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7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7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'Geral - Em análise' · OPEX, status 'Contar'/'TA', restrito às áreas priorizadas acima. Soma do top 10: US$ 24,4 mi.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Itens recusados (aba 'Recusadas') · 239 escopos no total · CAPEX + OPEX</a:t>
            </a:r>
            <a:endParaRPr lang="en-US" sz="125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Descarte de Água - Nova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Barco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Integração de 2ª bomba Sulzer de injeção em Peregrino WHP-A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VSDs - Sistema de Compressão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de controle das 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 - Troca da IHM das Turbinas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OVERHAUL DA TG-C (WORKPACK INSTALAÇÃO HSPT + ALINHAMENTO + COMISSIONAMENTO)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Turbina HSPT + Alinhamento + Ajustes)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US$ 2,8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Centrífuga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C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Instalação da Turbina GG)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[LOGISTICA] - Aeronaves e Deslocamento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US$ 2,5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GIE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 - Subsea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VXL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US$ 2,3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Diesel da TG's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224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US$ 51,8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Continuação · próximos escopos por valor (parte 2)</a:t>
            </a:r>
            <a:endParaRPr lang="en-US" sz="12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CRD Araruama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Meio Ambiente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Eletrocloradora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US$ 2,0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metering de gás e Diesel-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US$ 1,7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Sistema PA/GA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 A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US$ 1,6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Gás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Substituir filtros grossos e finos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US$ 1,4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Mão de obra para execução de atividade 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US$ 1,2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Revisar filosofia de dosagem do DSS no riser balcony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US$ 1,1 mi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linha offloading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 -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US$ 945,2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Filtros grossos - água injetada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US$ 906,0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AR DE INST., COOLING MEDIUM, ÓLEO MINERAL E SINTÉTICO)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US$ 873,6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Instalação de novos detectores de Chama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Bem Estar/Segurança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US$ 838,3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209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US$ 31,6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3 (posições 31-40)</a:t>
            </a:r>
            <a:endParaRPr lang="en-US" sz="125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Eletrocloradora + Bomba para sequestrante de O2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US$ 772,0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US$ 768,8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REVAMP CARGO PUMP - Nº 2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EIM - Manutenção &amp; Integridade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US$ 721,9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Sistema de Cloração - 2 unidades Chloropac SB3K + implantação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Bravo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Químicos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US$ 705,9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Atualização Tecnológica das GTGs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US$ 695,2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Pintura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US$ 684,4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PÓS TA - Andaime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US$ 676,0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Instalar centrífugas de diesel nos quatro tanques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US$ 620,1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 filtro simplex para duplex - sistema diesel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Projetos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US$ 618,0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Revitalização da TG-B (WORKPACK RECOMPOSIÇÃO DO SISTEMA DE GÁS COMBUSTÍVEL)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US$ 601,8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199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US$ 24,7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384048"/>
            <a:ext cx="566928" cy="566928"/>
          </a:xfrm>
          <a:prstGeom prst="ellipse">
            <a:avLst/>
          </a:prstGeom>
          <a:solidFill>
            <a:srgbClr val="7A2E2E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457200" y="3840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170432" y="329184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2A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Escopos Despriorizados</a:t>
            </a:r>
            <a:endParaRPr lang="en-US" sz="2400" dirty="0"/>
          </a:p>
        </p:txBody>
      </p:sp>
      <p:sp>
        <p:nvSpPr>
          <p:cNvPr id="5" name="Text 3"/>
          <p:cNvSpPr txBox="1"/>
          <p:nvPr/>
        </p:nvSpPr>
        <p:spPr>
          <a:xfrm>
            <a:off x="1170432" y="7315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B6B7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50 escopos despriorizados · parte 4 (posições 41-50)</a:t>
            </a:r>
            <a:endParaRPr lang="en-US" sz="12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11247120" cy="914400"/>
        </p:xfrm>
        <a:graphic>
          <a:graphicData uri="http://schemas.openxmlformats.org/drawingml/2006/table">
            <a:tbl>
              <a:tblPr/>
              <a:tblGrid>
                <a:gridCol w="4498848"/>
                <a:gridCol w="1124712"/>
                <a:gridCol w="1912010"/>
                <a:gridCol w="1687068"/>
                <a:gridCol w="674827"/>
                <a:gridCol w="1349654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DESCRIÇÃO DO ESCOPO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ATIVO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REQUISITANTE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ALOC.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VALOR TOTAL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7A2E2E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Realizar revit das bombas P06 e P07 - Processos e Quimicos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US$ 600,0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SUBSTITUIÇÃO DA AMARRA 06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NAV - Naval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Apoio à Manutenção - Time de Construção - Instalações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 - Construção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US$ 540,0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Mecânica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US$ 530,6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4x bombas da DGF da flotadora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Reforma do tambor de amarração do HAWSER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Rotina Operacional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US$ 500,0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Calibrações/inspeções dimensionais RBC - conforme determina Resolução ANP/Inmetro Portaria 1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 – Medição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US$ 483,8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Upgrade dos Profilers 2 Stg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Peregrino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P&amp;Q - Processos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Desenvolvimento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US$ 471,8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PRÉ TA - Caldeiraria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Forte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 - Parada Programada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Eficiência de Produção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US$ 463,2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1C2B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INSP EQUIPAMENTOS EX NR-10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FPSO Frade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MNT – Manutenção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Integridade e Regulatório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30" dirty="0">
                          <a:solidFill>
                            <a:srgbClr val="5B6B7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OPEX</a:t>
                      </a:r>
                      <a:endParaRPr lang="en-US" sz="83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00" b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US$ 456,7 mil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0F4F5"/>
                    </a:solidFill>
                  </a:tcPr>
                </a:tc>
              </a:tr>
              <a:tr h="256032">
                <a:tc gridSpan="5"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7A2E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Outros 189 escopos despriorizados (itens de menor valor individual)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i="1" dirty="0">
                          <a:solidFill>
                            <a:srgbClr val="0B2A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US$ 19,7 mi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8E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E2E2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 txBox="1"/>
          <p:nvPr/>
        </p:nvSpPr>
        <p:spPr>
          <a:xfrm>
            <a:off x="457200" y="6382512"/>
            <a:ext cx="11247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Fonte: aba 'Recusadas' de cada arquivo · itens não aprovados para o plano 2027, agrupados por escopo. Total despriorizado (CAPEX+OPEX): US$ 103,3 mi. Não compõe o CAPEX/OPEX do plano.</a:t>
            </a:r>
            <a:endParaRPr lang="en-US" sz="850" dirty="0"/>
          </a:p>
        </p:txBody>
      </p:sp>
      <p:sp>
        <p:nvSpPr>
          <p:cNvPr id="8" name="Text 5"/>
          <p:cNvSpPr txBox="1"/>
          <p:nvPr/>
        </p:nvSpPr>
        <p:spPr>
          <a:xfrm>
            <a:off x="457200" y="6565392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spc="100" kern="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 · CAMPO PEREGRINO, CLUSTER SUL &amp; FPSO FRADE</a:t>
            </a:r>
            <a:endParaRPr lang="en-US" sz="800" dirty="0"/>
          </a:p>
        </p:txBody>
      </p:sp>
      <p:sp>
        <p:nvSpPr>
          <p:cNvPr id="9" name="Text 6"/>
          <p:cNvSpPr txBox="1"/>
          <p:nvPr/>
        </p:nvSpPr>
        <p:spPr>
          <a:xfrm>
            <a:off x="6248095" y="6565392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979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Trabalho 2027 · Confidencial - Uso Interno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2026-10-07T11:53:30Z</dcterms:created>
  <dcterms:modified xsi:type="dcterms:W3CDTF">2026-10-07T11:53:30Z</dcterms:modified>
</cp:coreProperties>
</file>