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A), FPSO Frade &amp; FPSO Forte · Consolidado 8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 e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207008"/>
            <a:ext cx="0" cy="4965192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0700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ATIVO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ativos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2763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51353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1" name="Shape 9"/>
          <p:cNvSpPr/>
          <p:nvPr/>
        </p:nvSpPr>
        <p:spPr>
          <a:xfrm>
            <a:off x="3051353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505" y="162763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US$ 137,9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65,6%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17855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051353" y="233832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3051353" y="2338327"/>
            <a:ext cx="496579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56505" y="217855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18,1%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72948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51353" y="288925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9" name="Shape 17"/>
          <p:cNvSpPr/>
          <p:nvPr/>
        </p:nvSpPr>
        <p:spPr>
          <a:xfrm>
            <a:off x="3051353" y="2889253"/>
            <a:ext cx="164738" cy="231389"/>
          </a:xfrm>
          <a:prstGeom prst="roundRect">
            <a:avLst>
              <a:gd name="adj" fmla="val 22203"/>
            </a:avLst>
          </a:prstGeom>
          <a:solidFill>
            <a:srgbClr val="145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56505" y="272948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US$ 12,7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6,0%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280410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51353" y="3440179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23" name="Shape 21"/>
          <p:cNvSpPr/>
          <p:nvPr/>
        </p:nvSpPr>
        <p:spPr>
          <a:xfrm>
            <a:off x="3051353" y="3440179"/>
            <a:ext cx="96596" cy="231389"/>
          </a:xfrm>
          <a:prstGeom prst="roundRect">
            <a:avLst>
              <a:gd name="adj" fmla="val 37865"/>
            </a:avLst>
          </a:prstGeom>
          <a:solidFill>
            <a:srgbClr val="145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505" y="3280410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3,5%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831336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051353" y="3991105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51353" y="3991105"/>
            <a:ext cx="95517" cy="231389"/>
          </a:xfrm>
          <a:prstGeom prst="roundRect">
            <a:avLst>
              <a:gd name="adj" fmla="val 38293"/>
            </a:avLst>
          </a:prstGeom>
          <a:solidFill>
            <a:srgbClr val="145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56505" y="3831336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3,5%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38226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051353" y="454203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1" name="Shape 29"/>
          <p:cNvSpPr/>
          <p:nvPr/>
        </p:nvSpPr>
        <p:spPr>
          <a:xfrm>
            <a:off x="3051353" y="4542031"/>
            <a:ext cx="54864" cy="231389"/>
          </a:xfrm>
          <a:prstGeom prst="roundRect">
            <a:avLst>
              <a:gd name="adj" fmla="val 66667"/>
            </a:avLst>
          </a:prstGeom>
          <a:solidFill>
            <a:srgbClr val="145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956505" y="438226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1,6%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93318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051353" y="509295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5" name="Shape 33"/>
          <p:cNvSpPr/>
          <p:nvPr/>
        </p:nvSpPr>
        <p:spPr>
          <a:xfrm>
            <a:off x="3051353" y="5092957"/>
            <a:ext cx="54864" cy="231389"/>
          </a:xfrm>
          <a:prstGeom prst="roundRect">
            <a:avLst>
              <a:gd name="adj" fmla="val 66667"/>
            </a:avLst>
          </a:prstGeom>
          <a:solidFill>
            <a:srgbClr val="145C6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956505" y="493318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0,9%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548411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051353" y="564388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9" name="Shape 37"/>
          <p:cNvSpPr/>
          <p:nvPr/>
        </p:nvSpPr>
        <p:spPr>
          <a:xfrm>
            <a:off x="3051353" y="5643883"/>
            <a:ext cx="54864" cy="231389"/>
          </a:xfrm>
          <a:prstGeom prst="roundRect">
            <a:avLst>
              <a:gd name="adj" fmla="val 66667"/>
            </a:avLst>
          </a:prstGeom>
          <a:solidFill>
            <a:srgbClr val="145C6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956505" y="548411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US$ 1,7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0,8%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FROTA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US$ 210,3 mi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291072" y="1207008"/>
            <a:ext cx="4080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DEPARTAMENTO (PRINCIPAIS)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91072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deptos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291072" y="1627632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885225" y="1823575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6" name="Shape 44"/>
          <p:cNvSpPr/>
          <p:nvPr/>
        </p:nvSpPr>
        <p:spPr>
          <a:xfrm>
            <a:off x="8885225" y="1823575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790377" y="1627632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US$ 55,0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26,2%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291072" y="2257262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885225" y="2453205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0" name="Shape 48"/>
          <p:cNvSpPr/>
          <p:nvPr/>
        </p:nvSpPr>
        <p:spPr>
          <a:xfrm>
            <a:off x="8885225" y="2453205"/>
            <a:ext cx="1249131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0790377" y="2257262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18,2%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6291072" y="288689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85225" y="3082834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4" name="Shape 52"/>
          <p:cNvSpPr/>
          <p:nvPr/>
        </p:nvSpPr>
        <p:spPr>
          <a:xfrm>
            <a:off x="8885225" y="3082834"/>
            <a:ext cx="1170325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790377" y="288689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US$ 35,9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17,1%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6291072" y="351652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85225" y="3712464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8" name="Shape 56"/>
          <p:cNvSpPr/>
          <p:nvPr/>
        </p:nvSpPr>
        <p:spPr>
          <a:xfrm>
            <a:off x="8885225" y="3712464"/>
            <a:ext cx="1030095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790377" y="351652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US$ 31,6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15,0%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6291072" y="414615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85225" y="4342094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2" name="Shape 60"/>
          <p:cNvSpPr/>
          <p:nvPr/>
        </p:nvSpPr>
        <p:spPr>
          <a:xfrm>
            <a:off x="8885225" y="4342094"/>
            <a:ext cx="767881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790377" y="414615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US$ 23,5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11,2%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291072" y="477578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85225" y="4971723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6" name="Shape 64"/>
          <p:cNvSpPr/>
          <p:nvPr/>
        </p:nvSpPr>
        <p:spPr>
          <a:xfrm>
            <a:off x="8885225" y="4971723"/>
            <a:ext cx="130554" cy="237744"/>
          </a:xfrm>
          <a:prstGeom prst="roundRect">
            <a:avLst>
              <a:gd name="adj" fmla="val 28016"/>
            </a:avLst>
          </a:prstGeom>
          <a:solidFill>
            <a:srgbClr val="0B2A3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790377" y="477578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1,9%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6291072" y="5405410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885225" y="5601353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70" name="Shape 68"/>
          <p:cNvSpPr/>
          <p:nvPr/>
        </p:nvSpPr>
        <p:spPr>
          <a:xfrm>
            <a:off x="8885225" y="5601353"/>
            <a:ext cx="62339" cy="237744"/>
          </a:xfrm>
          <a:prstGeom prst="roundRect">
            <a:avLst>
              <a:gd name="adj" fmla="val 58673"/>
            </a:avLst>
          </a:prstGeom>
          <a:solidFill>
            <a:srgbClr val="0B2A3D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790377" y="5405410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0,9%</a:t>
            </a:r>
            <a:endParaRPr lang="en-US" sz="1100" dirty="0"/>
          </a:p>
        </p:txBody>
      </p:sp>
      <p:sp>
        <p:nvSpPr>
          <p:cNvPr id="72" name="Text 70"/>
          <p:cNvSpPr txBox="1"/>
          <p:nvPr/>
        </p:nvSpPr>
        <p:spPr>
          <a:xfrm>
            <a:off x="6291072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US$ 190,1 mi</a:t>
            </a:r>
            <a:pPr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(90,4% do total)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 considerados: TA - Parada Programada, Projetos, NAV - Naval, MNT - Manutenção, CON - Construção, EIM - Manutenção e Integridade, Suporte Técnico, Grandes Manutenções, INT - Integridade.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área requisitante · somatório de toda a frota (8 ativos)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188720"/>
            <a:ext cx="0" cy="498348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801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51353" y="1504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9" name="Shape 7"/>
          <p:cNvSpPr/>
          <p:nvPr/>
        </p:nvSpPr>
        <p:spPr>
          <a:xfrm>
            <a:off x="3051353" y="1504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56505" y="12801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US$ 55,0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26,2%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9659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51353" y="21899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3051353" y="2189988"/>
            <a:ext cx="1249131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56505" y="19659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18,2%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51353" y="28757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7" name="Shape 15"/>
          <p:cNvSpPr/>
          <p:nvPr/>
        </p:nvSpPr>
        <p:spPr>
          <a:xfrm>
            <a:off x="3051353" y="2875788"/>
            <a:ext cx="1170325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56505" y="26517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US$ 35,9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17,1%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3375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051353" y="35615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1" name="Shape 19"/>
          <p:cNvSpPr/>
          <p:nvPr/>
        </p:nvSpPr>
        <p:spPr>
          <a:xfrm>
            <a:off x="3051353" y="3561588"/>
            <a:ext cx="1030095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56505" y="33375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US$ 31,6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15,0%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0233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51353" y="42473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051353" y="4247388"/>
            <a:ext cx="767881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56505" y="40233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US$ 23,5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11,2%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091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051353" y="4933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9" name="Shape 27"/>
          <p:cNvSpPr/>
          <p:nvPr/>
        </p:nvSpPr>
        <p:spPr>
          <a:xfrm>
            <a:off x="3051353" y="4933188"/>
            <a:ext cx="202403" cy="237744"/>
          </a:xfrm>
          <a:prstGeom prst="roundRect">
            <a:avLst>
              <a:gd name="adj" fmla="val 18071"/>
            </a:avLst>
          </a:prstGeom>
          <a:solidFill>
            <a:srgbClr val="145C6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56505" y="47091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2,9%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3949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051353" y="56189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3" name="Shape 31"/>
          <p:cNvSpPr/>
          <p:nvPr/>
        </p:nvSpPr>
        <p:spPr>
          <a:xfrm>
            <a:off x="3051353" y="5618988"/>
            <a:ext cx="134866" cy="237744"/>
          </a:xfrm>
          <a:prstGeom prst="roundRect">
            <a:avLst>
              <a:gd name="adj" fmla="val 27120"/>
            </a:avLst>
          </a:prstGeom>
          <a:solidFill>
            <a:srgbClr val="145C6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56505" y="53949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2,0%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291072" y="1280160"/>
            <a:ext cx="250271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885225" y="15613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7" name="Shape 35"/>
          <p:cNvSpPr/>
          <p:nvPr/>
        </p:nvSpPr>
        <p:spPr>
          <a:xfrm>
            <a:off x="8885225" y="15613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790377" y="1280160"/>
            <a:ext cx="94137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2,0%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291072" y="2080260"/>
            <a:ext cx="250271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885225" y="23614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1" name="Shape 39"/>
          <p:cNvSpPr/>
          <p:nvPr/>
        </p:nvSpPr>
        <p:spPr>
          <a:xfrm>
            <a:off x="8885225" y="2361438"/>
            <a:ext cx="1742285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790377" y="2080260"/>
            <a:ext cx="94137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1,9%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91072" y="2880360"/>
            <a:ext cx="250271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885225" y="31615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5" name="Shape 43"/>
          <p:cNvSpPr/>
          <p:nvPr/>
        </p:nvSpPr>
        <p:spPr>
          <a:xfrm>
            <a:off x="8885225" y="3161538"/>
            <a:ext cx="1359216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790377" y="2880360"/>
            <a:ext cx="94137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1,5%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291072" y="3680460"/>
            <a:ext cx="250271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885225" y="39616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9" name="Shape 47"/>
          <p:cNvSpPr/>
          <p:nvPr/>
        </p:nvSpPr>
        <p:spPr>
          <a:xfrm>
            <a:off x="8885225" y="3961638"/>
            <a:ext cx="897099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790377" y="3680460"/>
            <a:ext cx="94137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1,0%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291072" y="4480560"/>
            <a:ext cx="250271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885225" y="47617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3" name="Shape 51"/>
          <p:cNvSpPr/>
          <p:nvPr/>
        </p:nvSpPr>
        <p:spPr>
          <a:xfrm>
            <a:off x="8885225" y="4761738"/>
            <a:ext cx="831941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0790377" y="4480560"/>
            <a:ext cx="94137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0,9%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6291072" y="5280660"/>
            <a:ext cx="250271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885225" y="55618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7" name="Shape 55"/>
          <p:cNvSpPr/>
          <p:nvPr/>
        </p:nvSpPr>
        <p:spPr>
          <a:xfrm>
            <a:off x="8885225" y="5561838"/>
            <a:ext cx="230155" cy="237744"/>
          </a:xfrm>
          <a:prstGeom prst="roundRect">
            <a:avLst>
              <a:gd name="adj" fmla="val 15892"/>
            </a:avLst>
          </a:prstGeom>
          <a:solidFill>
            <a:srgbClr val="145C6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790377" y="5280660"/>
            <a:ext cx="94137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US$ 528,4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0,3%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457200" y="615391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(13 departamentos)   </a:t>
            </a:r>
            <a:pPr algn="ct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US$ 210,3 mi</a:t>
            </a:r>
            <a:pPr algn="ct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100,0%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US$ 73,6 mi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Instalações (Fabr, Const e Mont Offshore)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US$ 14,0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Contingencia (1 un.)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das bobinas do transformador do MC-A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OverHaul (L3) na TG-C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US$ 52,0 mi (70,7%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bundle HP e LP/IP do MC-C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bomba de Injeção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Recomposição do Dilúvio + Troca de Bicos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 UMS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de ventilação trafos dos MCs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de Automação dos pacotes com PLCs GE-Fanuc (90-70 e 90-30)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Riser Balcony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US$ 791,7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 FPSO FORTE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3561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54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US$ 73,6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US$ 0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6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35458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OPEX nas áreas priorizadas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US$ 33,9 mi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BOMBA DE AMINA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Mist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US$ 31,1 mi (91,8%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TBM - Junta de expansão exhaust -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US$ 430,5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Detectores de Chama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e Comissionamento OSPREY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MANGOTES - SEÇÕES 32 E 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US$ 331,8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MOTORES SEA WATER HIGH PRESSURE PUMP - RO - 2 UNIDADES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US$ 303,4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TURRET - DRIVING SYSTEM CHANGE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Avifauna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US$ 33,9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US$ 17,4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US$ 960,0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 CORRETIVAS - 307 Oss COM PEDIDO E VALOR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US$ 848,4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NR-10 INSPEÇÃO - PREVENTIVA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US$ 547,8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US$ 8,1 mi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US$ 609,0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NR13 - MBK-1130 (DEHYDRATOR) - IKM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US$ 258,6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NR13 - MBK-1130 (DEHYDRATOR) - AASJ &amp; INTERNOS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da 2ª bomba 30K para caldeira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US$ 196,6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US$ 8,0 mi (98,8%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NR13 - MBK-1130 (DEHYDRATOR) - VENDOR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Mangotinhos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Bomba de Skimming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US$ 8,1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US$ 22,8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UWILD - Casco e Amarra rasa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US$ 553,4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QUINQUENAL DE GUINDASTE NORTE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US$ 19,6 mi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de Seções do Mangote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US$ 15,0 mi (76,4%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da Produced Water Transfer Pumps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US$ 376,4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US$ 367,4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Conversão do ACS-1000 em drive produtor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US$ 19,6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US$ 28,1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TA: Substituição/ Reparo da linha de Offloading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US$ 833,0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NR-13 PLAT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4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de FWP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US$ 401,1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6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NR-13 PLAT 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US$ 480,6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TA: Substituição/ Reparo da linha de Offloading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US$ 2,6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US$ 16,1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Aprovado/Em Análise · CON - Construção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42 escopos · total US$ 24,4 mi · parte 1 de 3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5061204"/>
                <a:gridCol w="1799539"/>
                <a:gridCol w="2136953"/>
                <a:gridCol w="1687068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TA: Substituição/ Reparo da linha de Offloading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US$ 2,6 mi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Pintura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US$ 945,6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US$ 833,0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US$ 795,4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US$ 709,2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US$ 694,9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Pintura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US$ 651,6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Fabricação e Elaboração de isométrico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US$ 624,0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'CON - Construção',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Aprovado/Em Análise · CON - Construção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42 escopos · total US$ 24,4 mi · parte 2 de 3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5061204"/>
                <a:gridCol w="1799539"/>
                <a:gridCol w="2136953"/>
                <a:gridCol w="1687068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US$ 616,2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US$ 553,4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Andaime + Habitat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US$ 505,5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NR-13 PLAT C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US$ 480,6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Pintura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US$ 408,0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de FWP 1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US$ 401,1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NR-13 PLAT B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US$ 358,9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Fabricação e Elaboração de isométrico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US$ 273,2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Andaime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US$ 252,0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NR-13 PLAT 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'CON - Construção',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Aprovado/Em Análise · CON - Construção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42 escopos · total US$ 24,4 mi · parte 3 de 3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5061204"/>
                <a:gridCol w="1799539"/>
                <a:gridCol w="2136953"/>
                <a:gridCol w="1687068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HBG-1110B1 (CRUDE/CRUDE B1) - AASJ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US$ 238,0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US$ 221,4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HBG-1020B (CRUDE HEATER)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US$ 184,4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Isolamento Térmico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Andaime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US$ 156,0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HBG-1110B2 (CRUDE/CRUDE B2)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US$ 152,0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do Helideck (Cald. e Pintura)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US$ 138,0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MBD-1025 (SEPARADOR DE TESTE)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US$ 138,0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HBG-1110B1 (CRUDE/CRUDE B1) - IKM OU SIMILAR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US$ 133,9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 Onshore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 Onshore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- Laser Scan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US$ 32,2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- Laser Scan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US$ 32,2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Macgyver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US$ 26,3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'CON - Construção',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Aprovado/Em Análise · INT - Integridade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82 escopos · total US$ 10,9 mi · parte 1 de 6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5061204"/>
                <a:gridCol w="1799539"/>
                <a:gridCol w="2136953"/>
                <a:gridCol w="1687068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- 13 Sistemas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US$ 550,0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CUI - Remoção, inspeção e Reinstalação do Isolamento térmico de 26 vasos.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US$ 516,0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Inspeção Sistemas de Tubulações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US$ 373,8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FPSO Bravo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US$ 285,0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Ensaios Avançados para inspeção interna em atendimento ao plano de inspeção RBI / INI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DROPS FPSO FRADE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US$ 275,0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Trimestral de Análise de Cupons de Corrosão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RBI, ENDs complementares + Especiais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US$ 206,8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DROPS FPSO PRG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Caisson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Aprovado/Em Análise · INT - Integridade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82 escopos · total US$ 10,9 mi · parte 2 de 6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5061204"/>
                <a:gridCol w="1799539"/>
                <a:gridCol w="2136953"/>
                <a:gridCol w="1687068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Caisson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do Caisson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calibração de PSV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US$ 189,1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US$ 182,0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US$ 182,0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US$ 182,0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 de PSV's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Verificação de RTI's + Inspeção de Reparos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US$ 166,4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NR12 FPSO PRG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Ensaio de Dureza - Juntas Soldadas Sujeitas a H2S - Wahoo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US$ 140,0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- 8 Sistemas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US$ 135,6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Inspeção / Calibração de PSVs - FPSO Bravo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US$ 119,9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Ensaios Avançados para inspeção interna em atendimento plano de inspeção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NR12 FPSO BRAVO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Aprovado/Em Análise · INT - Integridade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82 escopos · total US$ 10,9 mi · parte 3 de 6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5061204"/>
                <a:gridCol w="1799539"/>
                <a:gridCol w="2136953"/>
                <a:gridCol w="1687068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Inspeção e Manutenção de PFP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US$ 99,4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PFP ESTRUTURAS TOPSIDE WHPA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US$ 93,7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END ESTRUTURAS TOPSIDE FPSO PRG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END ESTRUTURAS TOPSIDE WHPA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LGI FPSO PRG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END ESTRUTURAS TOPSIDE FPSO FRADE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LGI FPSO FRADE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LGI FPSO BRAVO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Cupom de Corrosão - WHP Polvo-A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US$ 78,0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Revalidação de RIs Críticas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US$ 70,9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LGI WHPA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US$ 65,6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CUI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CUI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CUI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Aprovado/Em Análise · INT - Integridade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82 escopos · total US$ 10,9 mi · parte 4 de 6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5061204"/>
                <a:gridCol w="1799539"/>
                <a:gridCol w="2136953"/>
                <a:gridCol w="1687068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PFP ESTRUTURAS TOPSIDE FPSO FRADE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Inspeção Caldeira Marinha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CUI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US$ 56,2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ENDs especiais e complementares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US$ 55,0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ENDs especiais e complementares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US$ 55,0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Máquina Termográfica - Emissão Fugitiva - Convencional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US$ 55,0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Cupom de Corrosão - FPSO Bravo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US$ 53,3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calibração de PSV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US$ 52,9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calibração de PSV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US$ 52,9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calibração de PSV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US$ 52,9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NR12 WHPA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NR12 FPSO FRADE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cupom de corrosão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US$ 43,6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cupom de corrosão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US$ 43,6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Aprovado/Em Análise · INT - Integridade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82 escopos · total US$ 10,9 mi · parte 5 de 6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5061204"/>
                <a:gridCol w="1799539"/>
                <a:gridCol w="2136953"/>
                <a:gridCol w="1687068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cupom de corrosão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US$ 43,6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Auditoria IBP para Calibração de PSV/PIs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a Auditoria IBP para Calibração de PSV/PIs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ENDs especiais e complementares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US$ 36,4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Periódica no Sistema de Tubulação ST-109 - Nitrogênio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US$ 35,0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cupom de corrosão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US$ 33,4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Inspeção / Calibração de PSVs - WHP Polvo-A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Interna para Recertificação SPIE Frade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interna SPIE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US$ 12,2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interna SPIE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US$ 12,2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interna SPIE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US$ 12,2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ISQ - Interna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US$ 12,2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Aprovado/Em Análise · INT - Integridade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82 escopos · total US$ 10,9 mi · parte 6 de 6</a:t>
            </a:r>
            <a:endParaRPr lang="en-US" sz="12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5061204"/>
                <a:gridCol w="1799539"/>
                <a:gridCol w="2136953"/>
                <a:gridCol w="1687068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interna para recertificação SPIE Bravo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US$ 12,2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de Recertificação SPIE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externa SPIE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externa SPIE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externa SPIE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IBP - Externa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de Recertificação SPIE 2027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US$ 9,5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Anual PFP - Proteção Passiva Contra Fogo - FPSO Frade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Inspeção de PFP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Inspeção de PFP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Inspeção de PFP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Anual PFP - Proteção Passiva Contra Fogo - WHP Polvo-A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430 escopos no total · CAPEX + OPEX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Barco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VSDs - Sistema de Compressão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de controle das 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 - Troca da IHM das Turbinas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- Subsea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TG-C (WORKPACK INSTALAÇÃO HSPT + ALINHAMENTO + COMISSIONAMENTO)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Turbina HSPT + Alinhamento + Ajustes)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Instalação da Turbina GG)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Aeronaves e Deslocamento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415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US$ 104,4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US$ 161,8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VXL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US$ 2,3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Diesel da TG's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CRD Araruama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Eletrocloradora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Substituir filtros grossos e finos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400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US$ 77,8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US$ 161,8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50 escopos despriorizados · parte 3 (posições 31-40)</a:t>
            </a:r>
            <a:endParaRPr lang="en-US" sz="12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Pintura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 EQUIPAMENTOS DE MERGULHO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filosofia de dosagem do DSS no riser balcony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-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-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390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US$ 66,2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US$ 161,8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50 escopos despriorizados · parte 4 (posições 41-50)</a:t>
            </a:r>
            <a:endParaRPr lang="en-US" sz="12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Laboratório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US$ 944,0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grossos - água injetada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US$ 906,0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US$ 876,9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RECOMPOSIÇÃO DO SISTEMA DE AR DE INST., COOLING MEDIUM, ÓLEO MINERAL E SINTÉTICO)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US$ 873,6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Chama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US$ 838,3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Eletrocloradora + Bomba para sequestrante de O2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US$ 772,0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US$ 768,8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380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US$ 57,7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US$ 161,8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2026-10-22T20:31:03Z</dcterms:created>
  <dcterms:modified xsi:type="dcterms:W3CDTF">2026-10-22T20:31:03Z</dcterms:modified>
</cp:coreProperties>
</file>