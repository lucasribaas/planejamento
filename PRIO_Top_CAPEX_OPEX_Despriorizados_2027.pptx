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 e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· exclui Desenvolvimento de Produção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1207008"/>
            <a:ext cx="0" cy="4965192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0700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ATIVO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07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ativos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2763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Forte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51353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1" name="Shape 9"/>
          <p:cNvSpPr/>
          <p:nvPr/>
        </p:nvSpPr>
        <p:spPr>
          <a:xfrm>
            <a:off x="3051353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505" y="162763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US$ 137,8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51,9%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17855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051353" y="233832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3051353" y="2338327"/>
            <a:ext cx="765313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56505" y="217855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US$ 58,7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22,1%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72948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051353" y="288925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9" name="Shape 17"/>
          <p:cNvSpPr/>
          <p:nvPr/>
        </p:nvSpPr>
        <p:spPr>
          <a:xfrm>
            <a:off x="3051353" y="2889253"/>
            <a:ext cx="289362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56505" y="272948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8,4%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280410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51353" y="3440179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23" name="Shape 21"/>
          <p:cNvSpPr/>
          <p:nvPr/>
        </p:nvSpPr>
        <p:spPr>
          <a:xfrm>
            <a:off x="3051353" y="3440179"/>
            <a:ext cx="209031" cy="231389"/>
          </a:xfrm>
          <a:prstGeom prst="roundRect">
            <a:avLst>
              <a:gd name="adj" fmla="val 17498"/>
            </a:avLst>
          </a:prstGeom>
          <a:solidFill>
            <a:srgbClr val="145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505" y="3280410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US$ 16,0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6,0%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831336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051353" y="3991105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51353" y="3991105"/>
            <a:ext cx="163439" cy="231389"/>
          </a:xfrm>
          <a:prstGeom prst="roundRect">
            <a:avLst>
              <a:gd name="adj" fmla="val 22379"/>
            </a:avLst>
          </a:prstGeom>
          <a:solidFill>
            <a:srgbClr val="145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56505" y="3831336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US$ 12,5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4,7%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38226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051353" y="454203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1" name="Shape 29"/>
          <p:cNvSpPr/>
          <p:nvPr/>
        </p:nvSpPr>
        <p:spPr>
          <a:xfrm>
            <a:off x="3051353" y="4542031"/>
            <a:ext cx="86192" cy="231389"/>
          </a:xfrm>
          <a:prstGeom prst="roundRect">
            <a:avLst>
              <a:gd name="adj" fmla="val 42435"/>
            </a:avLst>
          </a:prstGeom>
          <a:solidFill>
            <a:srgbClr val="145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956505" y="438226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2,5%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93318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051353" y="509295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5" name="Shape 33"/>
          <p:cNvSpPr/>
          <p:nvPr/>
        </p:nvSpPr>
        <p:spPr>
          <a:xfrm>
            <a:off x="3051353" y="5092957"/>
            <a:ext cx="76945" cy="231389"/>
          </a:xfrm>
          <a:prstGeom prst="roundRect">
            <a:avLst>
              <a:gd name="adj" fmla="val 47535"/>
            </a:avLst>
          </a:prstGeom>
          <a:solidFill>
            <a:srgbClr val="145C6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956505" y="493318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2,2%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548411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051353" y="564388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9" name="Shape 37"/>
          <p:cNvSpPr/>
          <p:nvPr/>
        </p:nvSpPr>
        <p:spPr>
          <a:xfrm>
            <a:off x="3051353" y="5643883"/>
            <a:ext cx="73276" cy="231389"/>
          </a:xfrm>
          <a:prstGeom prst="roundRect">
            <a:avLst>
              <a:gd name="adj" fmla="val 49915"/>
            </a:avLst>
          </a:prstGeom>
          <a:solidFill>
            <a:srgbClr val="145C6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956505" y="548411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2,1%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608990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FROTA   </a:t>
            </a:r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US$ 265,5 mi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291072" y="1207008"/>
            <a:ext cx="4080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DEPARTAMENTO (PRINCIPAIS)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91072" y="1207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deptos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291072" y="1627632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885225" y="1769648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46" name="Shape 44"/>
          <p:cNvSpPr/>
          <p:nvPr/>
        </p:nvSpPr>
        <p:spPr>
          <a:xfrm>
            <a:off x="8885225" y="1769648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0B2A3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790377" y="1627632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US$ 76,2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28,7%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6291072" y="2117344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885225" y="2259360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50" name="Shape 48"/>
          <p:cNvSpPr/>
          <p:nvPr/>
        </p:nvSpPr>
        <p:spPr>
          <a:xfrm>
            <a:off x="8885225" y="2259360"/>
            <a:ext cx="1162652" cy="205679"/>
          </a:xfrm>
          <a:prstGeom prst="roundRect">
            <a:avLst>
              <a:gd name="adj" fmla="val 17783"/>
            </a:avLst>
          </a:prstGeom>
          <a:solidFill>
            <a:srgbClr val="0B2A3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0790377" y="2117344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US$ 49,3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18,6%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291072" y="2607056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885225" y="2749072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54" name="Shape 52"/>
          <p:cNvSpPr/>
          <p:nvPr/>
        </p:nvSpPr>
        <p:spPr>
          <a:xfrm>
            <a:off x="8885225" y="2749072"/>
            <a:ext cx="914514" cy="205679"/>
          </a:xfrm>
          <a:prstGeom prst="roundRect">
            <a:avLst>
              <a:gd name="adj" fmla="val 17783"/>
            </a:avLst>
          </a:prstGeom>
          <a:solidFill>
            <a:srgbClr val="0B2A3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790377" y="2607056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US$ 38,8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14,6%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291072" y="3096768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885225" y="3238784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58" name="Shape 56"/>
          <p:cNvSpPr/>
          <p:nvPr/>
        </p:nvSpPr>
        <p:spPr>
          <a:xfrm>
            <a:off x="8885225" y="3238784"/>
            <a:ext cx="881032" cy="205679"/>
          </a:xfrm>
          <a:prstGeom prst="roundRect">
            <a:avLst>
              <a:gd name="adj" fmla="val 17783"/>
            </a:avLst>
          </a:prstGeom>
          <a:solidFill>
            <a:srgbClr val="0B2A3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790377" y="3096768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US$ 37,4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14,1%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6291072" y="3586480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885225" y="3728496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62" name="Shape 60"/>
          <p:cNvSpPr/>
          <p:nvPr/>
        </p:nvSpPr>
        <p:spPr>
          <a:xfrm>
            <a:off x="8885225" y="3728496"/>
            <a:ext cx="521270" cy="205679"/>
          </a:xfrm>
          <a:prstGeom prst="roundRect">
            <a:avLst>
              <a:gd name="adj" fmla="val 17783"/>
            </a:avLst>
          </a:prstGeom>
          <a:solidFill>
            <a:srgbClr val="0B2A3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790377" y="3586480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US$ 22,1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8,3%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6291072" y="4076192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8885225" y="4218208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66" name="Shape 64"/>
          <p:cNvSpPr/>
          <p:nvPr/>
        </p:nvSpPr>
        <p:spPr>
          <a:xfrm>
            <a:off x="8885225" y="4218208"/>
            <a:ext cx="177040" cy="205679"/>
          </a:xfrm>
          <a:prstGeom prst="roundRect">
            <a:avLst>
              <a:gd name="adj" fmla="val 20660"/>
            </a:avLst>
          </a:prstGeom>
          <a:solidFill>
            <a:srgbClr val="0B2A3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790377" y="4076192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2,8%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6291072" y="4565904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8885225" y="4707920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70" name="Shape 68"/>
          <p:cNvSpPr/>
          <p:nvPr/>
        </p:nvSpPr>
        <p:spPr>
          <a:xfrm>
            <a:off x="8885225" y="4707920"/>
            <a:ext cx="94276" cy="205679"/>
          </a:xfrm>
          <a:prstGeom prst="roundRect">
            <a:avLst>
              <a:gd name="adj" fmla="val 38797"/>
            </a:avLst>
          </a:prstGeom>
          <a:solidFill>
            <a:srgbClr val="0B2A3D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790377" y="4565904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1,5%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6291072" y="5055616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8885225" y="5197632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74" name="Shape 72"/>
          <p:cNvSpPr/>
          <p:nvPr/>
        </p:nvSpPr>
        <p:spPr>
          <a:xfrm>
            <a:off x="8885225" y="5197632"/>
            <a:ext cx="76481" cy="205679"/>
          </a:xfrm>
          <a:prstGeom prst="roundRect">
            <a:avLst>
              <a:gd name="adj" fmla="val 47824"/>
            </a:avLst>
          </a:prstGeom>
          <a:solidFill>
            <a:srgbClr val="0B2A3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790377" y="5055616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US$ 3,2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1,2%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6291072" y="5545328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885225" y="5687344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78" name="Shape 76"/>
          <p:cNvSpPr/>
          <p:nvPr/>
        </p:nvSpPr>
        <p:spPr>
          <a:xfrm>
            <a:off x="8885225" y="5687344"/>
            <a:ext cx="54864" cy="205679"/>
          </a:xfrm>
          <a:prstGeom prst="roundRect">
            <a:avLst>
              <a:gd name="adj" fmla="val 66667"/>
            </a:avLst>
          </a:prstGeom>
          <a:solidFill>
            <a:srgbClr val="0B2A3D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790377" y="5545328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US$ 518,9 mil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0,2%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6291072" y="608990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   </a:t>
            </a:r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US$ 239,1 mi</a:t>
            </a:r>
            <a:pPr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(90,1% do total)</a:t>
            </a:r>
            <a:endParaRPr lang="en-US" sz="1000" dirty="0"/>
          </a:p>
        </p:txBody>
      </p:sp>
      <p:sp>
        <p:nvSpPr>
          <p:cNvPr id="81" name="Text 79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Departamentos considerados: TA - Parada Programada, Projetos, NAV - Naval, MNT - Manutenção, CON - Construção, EIM - Manutenção e Integridade, Suporte Técnico, Grandes Manutenções, INT - Integridade.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área requisitante · somatório de toda a frota (8 ativos) · exclui Desenvolvimento de Produção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1188720"/>
            <a:ext cx="0" cy="498348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8016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51353" y="146132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9" name="Shape 7"/>
          <p:cNvSpPr/>
          <p:nvPr/>
        </p:nvSpPr>
        <p:spPr>
          <a:xfrm>
            <a:off x="3051353" y="146132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56505" y="128016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US$ 76,2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28,7%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88023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51353" y="206140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3051353" y="2061401"/>
            <a:ext cx="1162652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56505" y="188023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US$ 49,3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18,6%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48031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51353" y="266147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7" name="Shape 15"/>
          <p:cNvSpPr/>
          <p:nvPr/>
        </p:nvSpPr>
        <p:spPr>
          <a:xfrm>
            <a:off x="3051353" y="2661476"/>
            <a:ext cx="91451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56505" y="248031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US$ 38,8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14,6%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08038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051353" y="326155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1" name="Shape 19"/>
          <p:cNvSpPr/>
          <p:nvPr/>
        </p:nvSpPr>
        <p:spPr>
          <a:xfrm>
            <a:off x="3051353" y="3261551"/>
            <a:ext cx="881032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56505" y="308038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US$ 37,4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14,1%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68046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51353" y="386162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051353" y="3861626"/>
            <a:ext cx="521270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56505" y="368046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8,3%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8053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051353" y="446170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9" name="Shape 27"/>
          <p:cNvSpPr/>
          <p:nvPr/>
        </p:nvSpPr>
        <p:spPr>
          <a:xfrm>
            <a:off x="3051353" y="4461701"/>
            <a:ext cx="214002" cy="237744"/>
          </a:xfrm>
          <a:prstGeom prst="roundRect">
            <a:avLst>
              <a:gd name="adj" fmla="val 17091"/>
            </a:avLst>
          </a:prstGeom>
          <a:solidFill>
            <a:srgbClr val="145C6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56505" y="428053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3,4%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88061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051353" y="506177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33" name="Shape 31"/>
          <p:cNvSpPr/>
          <p:nvPr/>
        </p:nvSpPr>
        <p:spPr>
          <a:xfrm>
            <a:off x="3051353" y="5061776"/>
            <a:ext cx="177040" cy="237744"/>
          </a:xfrm>
          <a:prstGeom prst="roundRect">
            <a:avLst>
              <a:gd name="adj" fmla="val 20660"/>
            </a:avLst>
          </a:prstGeom>
          <a:solidFill>
            <a:srgbClr val="145C6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56505" y="488061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2,8%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548068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051353" y="566185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37" name="Shape 35"/>
          <p:cNvSpPr/>
          <p:nvPr/>
        </p:nvSpPr>
        <p:spPr>
          <a:xfrm>
            <a:off x="3051353" y="5661851"/>
            <a:ext cx="131928" cy="237744"/>
          </a:xfrm>
          <a:prstGeom prst="roundRect">
            <a:avLst>
              <a:gd name="adj" fmla="val 27724"/>
            </a:avLst>
          </a:prstGeom>
          <a:solidFill>
            <a:srgbClr val="145C6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956505" y="548068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2,1%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291072" y="12801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885225" y="1504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1" name="Shape 39"/>
          <p:cNvSpPr/>
          <p:nvPr/>
        </p:nvSpPr>
        <p:spPr>
          <a:xfrm>
            <a:off x="8885225" y="1504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790377" y="12801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1,7%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91072" y="19659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885225" y="21899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5" name="Shape 43"/>
          <p:cNvSpPr/>
          <p:nvPr/>
        </p:nvSpPr>
        <p:spPr>
          <a:xfrm>
            <a:off x="8885225" y="2189988"/>
            <a:ext cx="1753883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790377" y="19659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1,6%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291072" y="26517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885225" y="28757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9" name="Shape 47"/>
          <p:cNvSpPr/>
          <p:nvPr/>
        </p:nvSpPr>
        <p:spPr>
          <a:xfrm>
            <a:off x="8885225" y="2875788"/>
            <a:ext cx="1624765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790377" y="26517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1,5%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291072" y="33375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885225" y="35615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3" name="Shape 51"/>
          <p:cNvSpPr/>
          <p:nvPr/>
        </p:nvSpPr>
        <p:spPr>
          <a:xfrm>
            <a:off x="8885225" y="3561588"/>
            <a:ext cx="1318091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0790377" y="33375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1,2%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6291072" y="40233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885225" y="42473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7" name="Shape 55"/>
          <p:cNvSpPr/>
          <p:nvPr/>
        </p:nvSpPr>
        <p:spPr>
          <a:xfrm>
            <a:off x="8885225" y="4247388"/>
            <a:ext cx="957633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790377" y="40233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0,9%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6291072" y="47091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885225" y="4933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61" name="Shape 59"/>
          <p:cNvSpPr/>
          <p:nvPr/>
        </p:nvSpPr>
        <p:spPr>
          <a:xfrm>
            <a:off x="8885225" y="4933188"/>
            <a:ext cx="245133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0790377" y="47091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0,2%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291072" y="53949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885225" y="56189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65" name="Shape 63"/>
          <p:cNvSpPr/>
          <p:nvPr/>
        </p:nvSpPr>
        <p:spPr>
          <a:xfrm>
            <a:off x="8885225" y="5618988"/>
            <a:ext cx="210778" cy="237744"/>
          </a:xfrm>
          <a:prstGeom prst="roundRect">
            <a:avLst>
              <a:gd name="adj" fmla="val 17353"/>
            </a:avLst>
          </a:prstGeom>
          <a:solidFill>
            <a:srgbClr val="145C68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0790377" y="53949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US$ 518,9 mil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0,2%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457200" y="615391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(15 departamentos)   </a:t>
            </a:r>
            <a:pPr algn="ct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US$ 265,5 mi</a:t>
            </a:r>
            <a:pPr algn="ct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100,0%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US$ 73,6 mi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Instalações (Fabr, Const e Mont Offshore)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US$ 14,0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Contingencia (1 un.)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das bobinas do transformador do MC-A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OverHaul (L3) na TG-C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US$ 52,0 mi (70,7%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bundle HP e LP/IP do MC-C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bomba de Injeção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Recomposição do Dilúvio + Troca de Bicos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 UMS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de ventilação trafos dos MCs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de Automação dos pacotes com PLCs GE-Fanuc (90-70 e 90-30)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Riser Balcony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US$ 791,7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 FPSO FORTE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Recuperar sistema de tratamento de efluentes (ETE)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Câmara Frigorífica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das Caixas de Proteção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Remoção da Torre de Telecom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do GGI-B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3561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49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priorizadas, excl. Desenvolvimento de Produção. Total nessas áreas: US$ 73,6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US$ 14,4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6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Forte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(Fabrc, Const e Mont Offshore)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Mangote Offloading - Substituição seções M5 a M13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TG's 4000hrs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US$ 720,0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US$ 50,8 mi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US$ 41,4 mi (81,4%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US$ 19,4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de Costado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 CORRETIVAS - 307 Oss COM PEDIDO E VALOR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US$ 848,4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US$ 10,9 mi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US$ 9,5 mi (87,2%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US$ 28,4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Mergulho - Tamponamento da caixa de 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Sistema de Tubulação - 13 Sistemas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WHP Polvo-A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US$ 419,8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QUINQUENAL DE GUINDASTE NORTE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US$ 27,6 mi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US$ 16,5 mi (59,8%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US$ 40,3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US$ 976,2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3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- Abrangência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217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300" dirty="0"/>
          </a:p>
        </p:txBody>
      </p:sp>
      <p:graphicFrame>
        <p:nvGraphicFramePr>
          <p:cNvPr id="4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(Fabrc, Const e Mont Offshore)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US$ 24,4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239 escopos no total · CAPEX + OPEX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Barco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VSDs - Sistema de Compressão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de controle das 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 - Troca da IHM das Turbinas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TG-C (WORKPACK INSTALAÇÃO HSPT + ALINHAMENTO + COMISSIONAMENTO)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Turbina HSPT + Alinhamento + Ajustes)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Instalação da Turbina GG)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- Subsea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Aeronaves e Deslocamento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VXL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US$ 2,3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224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US$ 60,2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US$ 114,2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Diesel da TG's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CRD Araruama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Eletrocloradora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Substituir filtros grossos e finos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Mecânica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Pintura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filosofia de dosagem do DSS no riser balcony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209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US$ 36,8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US$ 114,2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50 escopos despriorizados · parte 3 (posições 31-40)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Laboratório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US$ 944,0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grossos - água injetada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US$ 906,0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 EQUIPAMENTOS DE MERGULHO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US$ 876,9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RECOMPOSIÇÃO DO SISTEMA DE AR DE INST., COOLING MEDIUM, ÓLEO MINERAL E SINTÉTICO)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US$ 873,6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Chama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US$ 838,3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Eletrocloradora + Bomba para sequestrante de O2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US$ 772,0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US$ 768,8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199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US$ 28,5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US$ 114,2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50 escopos despriorizados · parte 4 (posições 41-50)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Pintura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US$ 684,4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US$ 676,0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Instalar centrífugas de diesel nos quatro tanques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US$ 620,1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filtro simplex para duplex - sistema diesel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US$ 618,0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IGG Fuel Gas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US$ 617,1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RECOMPOSIÇÃO DO SISTEMA DE GÁS COMBUSTÍVEL)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US$ 601,8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Realizar revit das bombas P06 e P07 - Processos e Quimicos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RETORFIT SISTEMA VFD CARGO PUMPS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US$ 546,8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US$ 530,6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189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US$ 22,4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US$ 114,2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2026-10-07T14:36:24Z</dcterms:created>
  <dcterms:modified xsi:type="dcterms:W3CDTF">2026-10-07T14:36:25Z</dcterms:modified>
</cp:coreProperties>
</file>