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A), FPSO Frade &amp; FPSO Forte · Consolidado 8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 e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207008"/>
            <a:ext cx="0" cy="4965192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ATIVO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ativos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2763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1" name="Shape 9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505" y="162763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US$ 137,9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65,6%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17855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1353" y="233832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051353" y="2338327"/>
            <a:ext cx="496579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56505" y="217855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18,1%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2948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51353" y="288925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9" name="Shape 17"/>
          <p:cNvSpPr/>
          <p:nvPr/>
        </p:nvSpPr>
        <p:spPr>
          <a:xfrm>
            <a:off x="3051353" y="2889253"/>
            <a:ext cx="164738" cy="231389"/>
          </a:xfrm>
          <a:prstGeom prst="roundRect">
            <a:avLst>
              <a:gd name="adj" fmla="val 22203"/>
            </a:avLst>
          </a:prstGeom>
          <a:solidFill>
            <a:srgbClr val="145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56505" y="272948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6,0%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280410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51353" y="3440179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3" name="Shape 21"/>
          <p:cNvSpPr/>
          <p:nvPr/>
        </p:nvSpPr>
        <p:spPr>
          <a:xfrm>
            <a:off x="3051353" y="3440179"/>
            <a:ext cx="96596" cy="231389"/>
          </a:xfrm>
          <a:prstGeom prst="roundRect">
            <a:avLst>
              <a:gd name="adj" fmla="val 37865"/>
            </a:avLst>
          </a:prstGeom>
          <a:solidFill>
            <a:srgbClr val="145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505" y="3280410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3,5%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31336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51353" y="3991105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51353" y="3991105"/>
            <a:ext cx="95517" cy="231389"/>
          </a:xfrm>
          <a:prstGeom prst="roundRect">
            <a:avLst>
              <a:gd name="adj" fmla="val 38293"/>
            </a:avLst>
          </a:prstGeom>
          <a:solidFill>
            <a:srgbClr val="145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6505" y="3831336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3,5%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38226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51353" y="454203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1" name="Shape 29"/>
          <p:cNvSpPr/>
          <p:nvPr/>
        </p:nvSpPr>
        <p:spPr>
          <a:xfrm>
            <a:off x="3051353" y="4542031"/>
            <a:ext cx="54864" cy="231389"/>
          </a:xfrm>
          <a:prstGeom prst="roundRect">
            <a:avLst>
              <a:gd name="adj" fmla="val 66667"/>
            </a:avLst>
          </a:prstGeom>
          <a:solidFill>
            <a:srgbClr val="145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56505" y="438226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1,6%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93318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51353" y="509295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3051353" y="5092957"/>
            <a:ext cx="54864" cy="231389"/>
          </a:xfrm>
          <a:prstGeom prst="roundRect">
            <a:avLst>
              <a:gd name="adj" fmla="val 66667"/>
            </a:avLst>
          </a:prstGeom>
          <a:solidFill>
            <a:srgbClr val="145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956505" y="493318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48411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51353" y="564388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9" name="Shape 37"/>
          <p:cNvSpPr/>
          <p:nvPr/>
        </p:nvSpPr>
        <p:spPr>
          <a:xfrm>
            <a:off x="3051353" y="5643883"/>
            <a:ext cx="54864" cy="231389"/>
          </a:xfrm>
          <a:prstGeom prst="roundRect">
            <a:avLst>
              <a:gd name="adj" fmla="val 66667"/>
            </a:avLst>
          </a:prstGeom>
          <a:solidFill>
            <a:srgbClr val="145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56505" y="548411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0,8%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FROTA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US$ 210,3 mi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291072" y="1207008"/>
            <a:ext cx="4080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DEPARTAMENTO (PRINCIPAIS)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deptos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291072" y="1627632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885225" y="182357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6" name="Shape 44"/>
          <p:cNvSpPr/>
          <p:nvPr/>
        </p:nvSpPr>
        <p:spPr>
          <a:xfrm>
            <a:off x="8885225" y="182357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90377" y="1627632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US$ 55,0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26,2%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291072" y="2257262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885225" y="245320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0" name="Shape 48"/>
          <p:cNvSpPr/>
          <p:nvPr/>
        </p:nvSpPr>
        <p:spPr>
          <a:xfrm>
            <a:off x="8885225" y="2453205"/>
            <a:ext cx="1249131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90377" y="2257262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18,2%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291072" y="288689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85225" y="308283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4" name="Shape 52"/>
          <p:cNvSpPr/>
          <p:nvPr/>
        </p:nvSpPr>
        <p:spPr>
          <a:xfrm>
            <a:off x="8885225" y="3082834"/>
            <a:ext cx="1170325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90377" y="288689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US$ 35,9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17,1%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291072" y="351652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85225" y="371246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8" name="Shape 56"/>
          <p:cNvSpPr/>
          <p:nvPr/>
        </p:nvSpPr>
        <p:spPr>
          <a:xfrm>
            <a:off x="8885225" y="3712464"/>
            <a:ext cx="1030095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790377" y="351652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US$ 31,6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15,0%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6291072" y="414615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85225" y="434209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2" name="Shape 60"/>
          <p:cNvSpPr/>
          <p:nvPr/>
        </p:nvSpPr>
        <p:spPr>
          <a:xfrm>
            <a:off x="8885225" y="4342094"/>
            <a:ext cx="767881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790377" y="414615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US$ 23,5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11,2%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91072" y="477578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85225" y="4971723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6" name="Shape 64"/>
          <p:cNvSpPr/>
          <p:nvPr/>
        </p:nvSpPr>
        <p:spPr>
          <a:xfrm>
            <a:off x="8885225" y="4971723"/>
            <a:ext cx="130554" cy="237744"/>
          </a:xfrm>
          <a:prstGeom prst="roundRect">
            <a:avLst>
              <a:gd name="adj" fmla="val 28016"/>
            </a:avLst>
          </a:prstGeom>
          <a:solidFill>
            <a:srgbClr val="0B2A3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90377" y="477578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1,9%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6291072" y="5405410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85225" y="5601353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70" name="Shape 68"/>
          <p:cNvSpPr/>
          <p:nvPr/>
        </p:nvSpPr>
        <p:spPr>
          <a:xfrm>
            <a:off x="8885225" y="5601353"/>
            <a:ext cx="62339" cy="237744"/>
          </a:xfrm>
          <a:prstGeom prst="roundRect">
            <a:avLst>
              <a:gd name="adj" fmla="val 58673"/>
            </a:avLst>
          </a:prstGeom>
          <a:solidFill>
            <a:srgbClr val="0B2A3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790377" y="5405410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6291072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US$ 190,1 mi</a:t>
            </a:r>
            <a:pPr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(90,4% do total)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 considerados: TA - Parada Programada, Projetos, NAV - Naval, MNT - Manutenção, CON - Construção, EIM - Manutenção e Integridade, Suporte Técnico, Grandes Manutenções, INT - Integridade.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área requisitante · somatório de toda a frota (8 ativos)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188720"/>
            <a:ext cx="0" cy="498348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51353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9" name="Shape 7"/>
          <p:cNvSpPr/>
          <p:nvPr/>
        </p:nvSpPr>
        <p:spPr>
          <a:xfrm>
            <a:off x="3051353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505" y="1280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US$ 55,0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26,2%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65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51353" y="2189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051353" y="2189988"/>
            <a:ext cx="124913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56505" y="1965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18,2%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51353" y="28757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7" name="Shape 15"/>
          <p:cNvSpPr/>
          <p:nvPr/>
        </p:nvSpPr>
        <p:spPr>
          <a:xfrm>
            <a:off x="3051353" y="2875788"/>
            <a:ext cx="117032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56505" y="26517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US$ 35,9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17,1%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3375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51353" y="35615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051353" y="3561588"/>
            <a:ext cx="103009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56505" y="33375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US$ 31,6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15,0%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233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51353" y="42473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051353" y="4247388"/>
            <a:ext cx="76788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6505" y="40233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US$ 23,5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11,2%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51353" y="4933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9" name="Shape 27"/>
          <p:cNvSpPr/>
          <p:nvPr/>
        </p:nvSpPr>
        <p:spPr>
          <a:xfrm>
            <a:off x="3051353" y="4933188"/>
            <a:ext cx="202403" cy="237744"/>
          </a:xfrm>
          <a:prstGeom prst="roundRect">
            <a:avLst>
              <a:gd name="adj" fmla="val 18071"/>
            </a:avLst>
          </a:prstGeom>
          <a:solidFill>
            <a:srgbClr val="145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56505" y="4709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2,9%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394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051353" y="5618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3" name="Shape 31"/>
          <p:cNvSpPr/>
          <p:nvPr/>
        </p:nvSpPr>
        <p:spPr>
          <a:xfrm>
            <a:off x="3051353" y="5618988"/>
            <a:ext cx="134866" cy="237744"/>
          </a:xfrm>
          <a:prstGeom prst="roundRect">
            <a:avLst>
              <a:gd name="adj" fmla="val 27120"/>
            </a:avLst>
          </a:prstGeom>
          <a:solidFill>
            <a:srgbClr val="145C6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56505" y="5394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2,0%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291072" y="12801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885225" y="15613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7" name="Shape 35"/>
          <p:cNvSpPr/>
          <p:nvPr/>
        </p:nvSpPr>
        <p:spPr>
          <a:xfrm>
            <a:off x="8885225" y="15613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790377" y="12801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2,0%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291072" y="20802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885225" y="23614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1" name="Shape 39"/>
          <p:cNvSpPr/>
          <p:nvPr/>
        </p:nvSpPr>
        <p:spPr>
          <a:xfrm>
            <a:off x="8885225" y="2361438"/>
            <a:ext cx="174228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790377" y="20802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1,9%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28803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885225" y="31615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5" name="Shape 43"/>
          <p:cNvSpPr/>
          <p:nvPr/>
        </p:nvSpPr>
        <p:spPr>
          <a:xfrm>
            <a:off x="8885225" y="3161538"/>
            <a:ext cx="1359216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790377" y="28803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36804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885225" y="39616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9" name="Shape 47"/>
          <p:cNvSpPr/>
          <p:nvPr/>
        </p:nvSpPr>
        <p:spPr>
          <a:xfrm>
            <a:off x="8885225" y="3961638"/>
            <a:ext cx="897099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790377" y="36804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1,0%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291072" y="44805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885225" y="47617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3" name="Shape 51"/>
          <p:cNvSpPr/>
          <p:nvPr/>
        </p:nvSpPr>
        <p:spPr>
          <a:xfrm>
            <a:off x="8885225" y="4761738"/>
            <a:ext cx="83194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790377" y="44805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291072" y="5280660"/>
            <a:ext cx="250271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885225" y="556183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7" name="Shape 55"/>
          <p:cNvSpPr/>
          <p:nvPr/>
        </p:nvSpPr>
        <p:spPr>
          <a:xfrm>
            <a:off x="8885225" y="5561838"/>
            <a:ext cx="230155" cy="237744"/>
          </a:xfrm>
          <a:prstGeom prst="roundRect">
            <a:avLst>
              <a:gd name="adj" fmla="val 15892"/>
            </a:avLst>
          </a:prstGeom>
          <a:solidFill>
            <a:srgbClr val="145C6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790377" y="5280660"/>
            <a:ext cx="94137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US$ 528,4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0,3%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" y="61539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(13 departamentos)   </a:t>
            </a:r>
            <a:pPr algn="ct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US$ 210,3 mi</a:t>
            </a:r>
            <a:pPr algn="ct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100,0%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OPEX por Ativo e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total (status 'Contar' + 'TA')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207008"/>
            <a:ext cx="0" cy="4965192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ATIVO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27632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51353" y="182357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1" name="Shape 9"/>
          <p:cNvSpPr/>
          <p:nvPr/>
        </p:nvSpPr>
        <p:spPr>
          <a:xfrm>
            <a:off x="3051353" y="182357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505" y="1627632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27,6%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57262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1353" y="245320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051353" y="2453205"/>
            <a:ext cx="1231748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56505" y="2257262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19,0%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88689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51353" y="308283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9" name="Shape 17"/>
          <p:cNvSpPr/>
          <p:nvPr/>
        </p:nvSpPr>
        <p:spPr>
          <a:xfrm>
            <a:off x="3051353" y="3082834"/>
            <a:ext cx="100031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56505" y="288689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15,4%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1652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51353" y="371246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3" name="Shape 21"/>
          <p:cNvSpPr/>
          <p:nvPr/>
        </p:nvSpPr>
        <p:spPr>
          <a:xfrm>
            <a:off x="3051353" y="3712464"/>
            <a:ext cx="75427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505" y="351652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11,6%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14615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51353" y="434209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51353" y="4342094"/>
            <a:ext cx="70361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6505" y="414615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10,8%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7578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51353" y="4971723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1" name="Shape 29"/>
          <p:cNvSpPr/>
          <p:nvPr/>
        </p:nvSpPr>
        <p:spPr>
          <a:xfrm>
            <a:off x="3051353" y="4971723"/>
            <a:ext cx="653500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56505" y="477578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US$ 14,1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10,1%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5405410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51353" y="5601353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3051353" y="5601353"/>
            <a:ext cx="35757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956505" y="5405410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5,5%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FROTA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US$ 140,6 mi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1207008"/>
            <a:ext cx="4080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DEPARTAMENTO (PRINCIPAIS)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291072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deptos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291072" y="1627632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885225" y="182357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2" name="Shape 40"/>
          <p:cNvSpPr/>
          <p:nvPr/>
        </p:nvSpPr>
        <p:spPr>
          <a:xfrm>
            <a:off x="8885225" y="182357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790377" y="1627632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17,3%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291072" y="2257262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885225" y="2453205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6" name="Shape 44"/>
          <p:cNvSpPr/>
          <p:nvPr/>
        </p:nvSpPr>
        <p:spPr>
          <a:xfrm>
            <a:off x="8885225" y="2453205"/>
            <a:ext cx="1649231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90377" y="2257262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15,9%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291072" y="288689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885225" y="308283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0" name="Shape 48"/>
          <p:cNvSpPr/>
          <p:nvPr/>
        </p:nvSpPr>
        <p:spPr>
          <a:xfrm>
            <a:off x="8885225" y="3082834"/>
            <a:ext cx="801466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90377" y="288689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7,7%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291072" y="351652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85225" y="371246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4" name="Shape 52"/>
          <p:cNvSpPr/>
          <p:nvPr/>
        </p:nvSpPr>
        <p:spPr>
          <a:xfrm>
            <a:off x="8885225" y="3712464"/>
            <a:ext cx="669679" cy="237744"/>
          </a:xfrm>
          <a:prstGeom prst="roundRect">
            <a:avLst>
              <a:gd name="adj" fmla="val 15385"/>
            </a:avLst>
          </a:prstGeom>
          <a:solidFill>
            <a:srgbClr val="0B2A3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90377" y="351652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6,5%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291072" y="414615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85225" y="4342094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8" name="Shape 56"/>
          <p:cNvSpPr/>
          <p:nvPr/>
        </p:nvSpPr>
        <p:spPr>
          <a:xfrm>
            <a:off x="8885225" y="4342094"/>
            <a:ext cx="110308" cy="237744"/>
          </a:xfrm>
          <a:prstGeom prst="roundRect">
            <a:avLst>
              <a:gd name="adj" fmla="val 33158"/>
            </a:avLst>
          </a:prstGeom>
          <a:solidFill>
            <a:srgbClr val="0B2A3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790377" y="414615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1,1%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6291072" y="4775781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85225" y="4971723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2" name="Shape 60"/>
          <p:cNvSpPr/>
          <p:nvPr/>
        </p:nvSpPr>
        <p:spPr>
          <a:xfrm>
            <a:off x="8885225" y="4971723"/>
            <a:ext cx="54864" cy="237744"/>
          </a:xfrm>
          <a:prstGeom prst="roundRect">
            <a:avLst>
              <a:gd name="adj" fmla="val 66667"/>
            </a:avLst>
          </a:prstGeom>
          <a:solidFill>
            <a:srgbClr val="0B2A3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790377" y="4775781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US$ 458,0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0,3%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91072" y="5405410"/>
            <a:ext cx="2502713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85225" y="5601353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6" name="Shape 64"/>
          <p:cNvSpPr/>
          <p:nvPr/>
        </p:nvSpPr>
        <p:spPr>
          <a:xfrm>
            <a:off x="8885225" y="5601353"/>
            <a:ext cx="54864" cy="237744"/>
          </a:xfrm>
          <a:prstGeom prst="roundRect">
            <a:avLst>
              <a:gd name="adj" fmla="val 66667"/>
            </a:avLst>
          </a:prstGeom>
          <a:solidFill>
            <a:srgbClr val="0B2A3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90377" y="5405410"/>
            <a:ext cx="941375" cy="629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US$ 110,0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0,1%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6291072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US$ 68,8 mi</a:t>
            </a:r>
            <a:pPr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(48,9% do total)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FPSO Forte não possui escopos de OPEX cadastrados nesta revisão (100% CAPEX) · 1 ativo(s) de 8 sem OPEX.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OPEX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total (status 'Contar' + 'TA') por área requisitante · somatório de toda a frota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188720"/>
            <a:ext cx="0" cy="498348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PLN - Planejamento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051353" y="1406721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9" name="Shape 7"/>
          <p:cNvSpPr/>
          <p:nvPr/>
        </p:nvSpPr>
        <p:spPr>
          <a:xfrm>
            <a:off x="3051353" y="1406721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505" y="1280160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US$ 32,8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23,3%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716578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51353" y="1843139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051353" y="1843139"/>
            <a:ext cx="1333707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56505" y="1716578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US$ 24,4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17,3%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52996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051353" y="2279558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17" name="Shape 15"/>
          <p:cNvSpPr/>
          <p:nvPr/>
        </p:nvSpPr>
        <p:spPr>
          <a:xfrm>
            <a:off x="3051353" y="2279558"/>
            <a:ext cx="1225109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56505" y="2152996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US$ 22,4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15,9%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589415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51353" y="2715976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051353" y="2715976"/>
            <a:ext cx="773969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56505" y="2589415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US$ 14,1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10,1%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025833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051353" y="3152394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051353" y="3152394"/>
            <a:ext cx="595358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6505" y="3025833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US$ 10,9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7,7%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462251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51353" y="3588812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29" name="Shape 27"/>
          <p:cNvSpPr/>
          <p:nvPr/>
        </p:nvSpPr>
        <p:spPr>
          <a:xfrm>
            <a:off x="3051353" y="3588812"/>
            <a:ext cx="497462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56505" y="3462251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US$ 9,1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6,5%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898669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51353" y="4025230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33" name="Shape 31"/>
          <p:cNvSpPr/>
          <p:nvPr/>
        </p:nvSpPr>
        <p:spPr>
          <a:xfrm>
            <a:off x="3051353" y="4025230"/>
            <a:ext cx="415679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56505" y="3898669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US$ 7,6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5,4%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335087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51353" y="4461649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37" name="Shape 35"/>
          <p:cNvSpPr/>
          <p:nvPr/>
        </p:nvSpPr>
        <p:spPr>
          <a:xfrm>
            <a:off x="3051353" y="4461649"/>
            <a:ext cx="229310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956505" y="4335087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US$ 4,2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3,0%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771505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051353" y="4898067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41" name="Shape 39"/>
          <p:cNvSpPr/>
          <p:nvPr/>
        </p:nvSpPr>
        <p:spPr>
          <a:xfrm>
            <a:off x="3051353" y="4898067"/>
            <a:ext cx="220120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956505" y="4771505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2,9%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5207924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051353" y="5334485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45" name="Shape 43"/>
          <p:cNvSpPr/>
          <p:nvPr/>
        </p:nvSpPr>
        <p:spPr>
          <a:xfrm>
            <a:off x="3051353" y="5334485"/>
            <a:ext cx="177931" cy="183296"/>
          </a:xfrm>
          <a:prstGeom prst="roundRect">
            <a:avLst>
              <a:gd name="adj" fmla="val 20556"/>
            </a:avLst>
          </a:prstGeom>
          <a:solidFill>
            <a:srgbClr val="145C6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956505" y="5207924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2,3%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644342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051353" y="5770903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49" name="Shape 47"/>
          <p:cNvSpPr/>
          <p:nvPr/>
        </p:nvSpPr>
        <p:spPr>
          <a:xfrm>
            <a:off x="3051353" y="5770903"/>
            <a:ext cx="148978" cy="183296"/>
          </a:xfrm>
          <a:prstGeom prst="roundRect">
            <a:avLst>
              <a:gd name="adj" fmla="val 24551"/>
            </a:avLst>
          </a:prstGeom>
          <a:solidFill>
            <a:srgbClr val="145C6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956505" y="5644342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US$ 2,7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1,9%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91072" y="1280160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885225" y="1406721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53" name="Shape 51"/>
          <p:cNvSpPr/>
          <p:nvPr/>
        </p:nvSpPr>
        <p:spPr>
          <a:xfrm>
            <a:off x="8885225" y="1406721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790377" y="1280160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US$ 1,5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1,1%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291072" y="1716578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8885225" y="1843139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57" name="Shape 55"/>
          <p:cNvSpPr/>
          <p:nvPr/>
        </p:nvSpPr>
        <p:spPr>
          <a:xfrm>
            <a:off x="8885225" y="1843139"/>
            <a:ext cx="1648279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790377" y="1716578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US$ 1,4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1,0%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291072" y="2152996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8885225" y="2279558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61" name="Shape 59"/>
          <p:cNvSpPr/>
          <p:nvPr/>
        </p:nvSpPr>
        <p:spPr>
          <a:xfrm>
            <a:off x="8885225" y="2279558"/>
            <a:ext cx="952014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0790377" y="2152996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US$ 793,7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0,6%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6291072" y="2589415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8885225" y="2715976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65" name="Shape 63"/>
          <p:cNvSpPr/>
          <p:nvPr/>
        </p:nvSpPr>
        <p:spPr>
          <a:xfrm>
            <a:off x="8885225" y="2715976"/>
            <a:ext cx="549357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790377" y="2589415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US$ 458,0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0,3%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6291072" y="3025833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ITT - Tecnologia da informação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8885225" y="3152394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69" name="Shape 67"/>
          <p:cNvSpPr/>
          <p:nvPr/>
        </p:nvSpPr>
        <p:spPr>
          <a:xfrm>
            <a:off x="8885225" y="3152394"/>
            <a:ext cx="359828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790377" y="3025833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US$ 300,0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291072" y="3462251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 - SMS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885225" y="3588812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73" name="Shape 71"/>
          <p:cNvSpPr/>
          <p:nvPr/>
        </p:nvSpPr>
        <p:spPr>
          <a:xfrm>
            <a:off x="8885225" y="3588812"/>
            <a:ext cx="293790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10790377" y="3462251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US$ 244,9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6291072" y="3898669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885225" y="4025230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77" name="Shape 75"/>
          <p:cNvSpPr/>
          <p:nvPr/>
        </p:nvSpPr>
        <p:spPr>
          <a:xfrm>
            <a:off x="8885225" y="4025230"/>
            <a:ext cx="196706" cy="183296"/>
          </a:xfrm>
          <a:prstGeom prst="roundRect">
            <a:avLst>
              <a:gd name="adj" fmla="val 19955"/>
            </a:avLst>
          </a:prstGeom>
          <a:solidFill>
            <a:srgbClr val="145C68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790377" y="3898669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US$ 164,0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0,1%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6291072" y="4335087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- Logistica terrestre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8885225" y="4461649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81" name="Shape 79"/>
          <p:cNvSpPr/>
          <p:nvPr/>
        </p:nvSpPr>
        <p:spPr>
          <a:xfrm>
            <a:off x="8885225" y="4461649"/>
            <a:ext cx="135744" cy="183296"/>
          </a:xfrm>
          <a:prstGeom prst="roundRect">
            <a:avLst>
              <a:gd name="adj" fmla="val 26945"/>
            </a:avLst>
          </a:prstGeom>
          <a:solidFill>
            <a:srgbClr val="145C68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790377" y="4335087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US$ 113,2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0,1%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6291072" y="4771505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8885225" y="4898067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85" name="Shape 83"/>
          <p:cNvSpPr/>
          <p:nvPr/>
        </p:nvSpPr>
        <p:spPr>
          <a:xfrm>
            <a:off x="8885225" y="4898067"/>
            <a:ext cx="131937" cy="183296"/>
          </a:xfrm>
          <a:prstGeom prst="roundRect">
            <a:avLst>
              <a:gd name="adj" fmla="val 27722"/>
            </a:avLst>
          </a:prstGeom>
          <a:solidFill>
            <a:srgbClr val="145C6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790377" y="4771505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US$ 110,0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0,1%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6291072" y="5207924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- Produção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8885225" y="5334485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89" name="Shape 87"/>
          <p:cNvSpPr/>
          <p:nvPr/>
        </p:nvSpPr>
        <p:spPr>
          <a:xfrm>
            <a:off x="8885225" y="5334485"/>
            <a:ext cx="107948" cy="183296"/>
          </a:xfrm>
          <a:prstGeom prst="roundRect">
            <a:avLst>
              <a:gd name="adj" fmla="val 33883"/>
            </a:avLst>
          </a:prstGeom>
          <a:solidFill>
            <a:srgbClr val="145C68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790377" y="5207924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US$ 90,0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0,1%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6291072" y="5644342"/>
            <a:ext cx="2502713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Ambiente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8885225" y="5770903"/>
            <a:ext cx="1795424" cy="183296"/>
          </a:xfrm>
          <a:prstGeom prst="roundRect">
            <a:avLst>
              <a:gd name="adj" fmla="val 19955"/>
            </a:avLst>
          </a:prstGeom>
          <a:solidFill>
            <a:srgbClr val="F0F4F5"/>
          </a:solidFill>
          <a:ln/>
        </p:spPr>
      </p:sp>
      <p:sp>
        <p:nvSpPr>
          <p:cNvPr id="93" name="Shape 91"/>
          <p:cNvSpPr/>
          <p:nvPr/>
        </p:nvSpPr>
        <p:spPr>
          <a:xfrm>
            <a:off x="8885225" y="5770903"/>
            <a:ext cx="99749" cy="183296"/>
          </a:xfrm>
          <a:prstGeom prst="roundRect">
            <a:avLst>
              <a:gd name="adj" fmla="val 36668"/>
            </a:avLst>
          </a:prstGeom>
          <a:solidFill>
            <a:srgbClr val="145C68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790377" y="5644342"/>
            <a:ext cx="941375" cy="436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US$ 83,2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0,1%</a:t>
            </a:r>
            <a:endParaRPr lang="en-US" sz="100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61539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(22 departamentos)   </a:t>
            </a:r>
            <a:pPr algn="ct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US$ 140,6 mi</a:t>
            </a:r>
            <a:pPr algn="ct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100,0%</a:t>
            </a:r>
            <a:endParaRPr lang="en-US" sz="1000" dirty="0"/>
          </a:p>
        </p:txBody>
      </p:sp>
      <p:sp>
        <p:nvSpPr>
          <p:cNvPr id="96" name="Text 9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7" name="Text 9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bundle HP e LP/IP do MC-C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bomba de Injeção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Recomposição do Dilúvio + Troca de Bicos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 UMS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de ventilação trafos dos MCs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de Automação dos pacotes com PLCs GE-Fanuc (90-70 e 90-30)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Riser Balcony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US$ 791,7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 FPSO FORTE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3561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US$ 73,6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US$ 33,9 mi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US$ 31,1 mi (91,8%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US$ 430,5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e Comissionamento OSPREY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MANGOTES - SEÇÕES 32 E 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US$ 331,8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MOTORES SEA WATER HIGH PRESSURE PUMP - RO - 2 UNIDADES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US$ 303,4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TURRET - DRIVING SYSTEM CHANGE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Avifauna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US$ 33,9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US$ 17,4 mi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NR-10 INSPEÇÃO - PREVENTIVA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US$ 547,8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 - Remoção, inspeção e Reinstalação do Isolamento térmico de 26 vasos.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US$ 516,0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Andaime + Habitat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REASSESSMENT - TANQUES E LIFTING 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US$ 375,0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Lighthouse - SaaS + suporte técnico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US$ 337,1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 TURBINA GE 4.000 HORAS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US$ 332,3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excl. Desenvolvimento de Produção. Soma do top 10: US$ 8,0 mi (46,0% do OPEX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E FABRICAÇÃO DE FIRE DAMPERS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EMBARQUE INSTALAÇÃO E FABRICAÇÃO DAS MANGUEIRAS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US$ 286,3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Ensaios Avançados para inspeção interna em atendimento ao plano de inspeção RBI / 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DROPS FPSO FRADE 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US$ 275,0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DE MATERIAIS PA/GA (AMPLIFICADOR, ESTROBO E SIRENE)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Alinhamento Gearbox e Reparo Vazamento Mancal do GeradorGTG4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END/TESTE FUNCIONAL GUINDASTES ABS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 PERIODICA TURRET &amp; SUBSTITUIÇÃO DOS ESTOJOS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Trimestral de Análise de Cupons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p/ substituir pecas UPS A/B/Tcom (MATERIAL)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US$ 211,1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88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priorizadas, excl. Desenvolvimento de Produção. Total nessas áreas: US$ 17,4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CON - Construção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4 escopos · total US$ 4,1 mi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Andaime + Habitat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US$ 505,5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Macgyver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US$ 26,3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ativo = 'FPSO Frade',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INT - Integridade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17 escopos · total US$ 3,0 mi · parte 1 de 2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 - Remoção, inspeção e Reinstalação do Isolamento térmico de 26 vasos.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US$ 516,0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Ensaios Avançados para inspeção interna em atendimento ao plano de inspeção RBI / INI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DROPS FPSO FRADE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US$ 275,0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Trimestral de Análise de Cupons de Corrosão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 de PSV's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Ensaio de Dureza - Juntas Soldadas Sujeitas a H2S - 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END ESTRUTURAS TOPSIDE FPSO FRADE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LGI FPSO FRADE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ativo = 'FPSO Frade',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INT - Integridade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17 escopos · total US$ 3,0 mi · parte 2 de 2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PFP ESTRUTURAS TOPSIDE FPSO FRADE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 Termográfica - Emissão Fugitiva - Convencional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NR12 FPSO FRADE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Auditoria IBP para Calibração de PSV/PIs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Periódica no Sistema de Tubulação ST-109 - Nitrogênio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US$ 35,0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para Recertificação SPIE Frade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de Recertificação SPIE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Anual PFP - Proteção Passiva Contra Fogo - 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ativo = 'FPSO Frade',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US$ 8,1 mi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US$ 609,0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NR13 - MBK-1130 (DEHYDRATOR) - IKM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US$ 258,6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NR13 - MBK-1130 (DEHYDRATOR) - AASJ &amp; INTERNOS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da 2ª bomba 30K para caldeira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US$ 196,6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US$ 8,0 mi (98,8%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NR13 - MBK-1130 (DEHYDRATOR) - VENDOR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Mangotinhos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Bomba de Skimming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US$ 8,1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US$ 22,8 mi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UWILD - Casco e Amarra rasa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US$ 651,6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Fabricação e Elaboração de isométrico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UWILD - Amarra profunda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Retorno de Itens de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excl. Desenvolvimento de Produção. Soma do top 10: US$ 9,5 mi (41,5% do OPEX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US$ 553,4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SUL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BOMBORDO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US$ 344,2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FPSO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US$ 285,0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8A5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154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priorizadas, excl. Desenvolvimento de Produção. Total nessas áreas: US$ 22,8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CON - Construção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12 escopos · total US$ 5,1 mi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Pintura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US$ 651,6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Fabricação e Elaboração de isométrico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US$ 624,0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Andaime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HBG-1110B1 (CRUDE/CRUDE B1) - AASJ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US$ 238,0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HBG-1020B (CRUDE HEATER)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US$ 184,4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Isolamento Térmico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HBG-1110B2 (CRUDE/CRUDE B2)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MBD-1025 (SEPARADOR DE TESTE)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US$ 138,0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NR13 HBG-1110B1 (CRUDE/CRUDE B1) - IKM OU SIMILAR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US$ 133,9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Onshore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ativo = 'FPSO Bravo',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INT - Integridade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12 escopos · total US$ 1,5 mi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US$ 285,0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Inspeção / Calibração de PSVs - 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US$ 119,9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Ensaios Avançados para inspeção interna em atendimento plano de inspeção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NR12 FPSO BRAVO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LGI FPSO BRAVO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Revalidação de RIs Críticas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US$ 70,9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 - 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US$ 53,3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a Auditoria IBP para Calibração de PSV/PIs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para recertificação SPIE Bravo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de Recertificação SPIE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ativo = 'FPSO Bravo',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CON - Construção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6 escopos · total US$ 1,7 mi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US$ 553,4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Pintura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Fabricação e Elaboração de isométrico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Andaime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US$ 156,0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do Helideck (Cald. e Pintura)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US$ 138,0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Onshore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ativo = 'Polvo A',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INT - Integridade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6 escopos · total US$ 294,0 mil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- 8 Sistemas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 - WHP Polvo-A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US$ 78,0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Inspeção / Calibração de PSVs - WHP Polvo-A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Anual PFP - Proteção Passiva Contra Fogo - WHP Polvo-A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ativo = 'Polvo A',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US$ 19,6 mi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Seções do Mangote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US$ 15,0 mi (76,4%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da Produced Water Transfer Pumps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US$ 367,4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Conversão do ACS-1000 em drive produtor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US$ 19,6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US$ 28,1 mi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TA: Substituição/ Reparo da linha de Offloading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excl. Desenvolvimento de Produção. Soma do top 10: US$ 12,0 mi (42,7% do OPEX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UWILD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US$ 480,6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US$ 408,0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de FWP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US$ 401,1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192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priorizadas, excl. Desenvolvimento de Produção. Total nessas áreas: US$ 28,1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CON - Construção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5 escopos · total US$ 6,8 mi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TA: Substituição/ Reparo da linha de Offloading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US$ 694,9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US$ 408,0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ativo = 'FPSO Peregrino',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INT - Integridade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14 escopos · total US$ 2,8 mi</a:t>
            </a:r>
            <a:endParaRPr lang="en-US" sz="12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Sistemas de Tubulações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US$ 373,8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RBI, ENDs complementares + Especiais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DROPS FPSO PRG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calibração de PSV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US$ 189,1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Verificação de RTI's + Inspeção de Reparos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US$ 166,4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NR12 FPSO PRG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e Manutenção de PFP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US$ 99,4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END ESTRUTURAS TOPSIDE FPSO PRG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LGI FPSO PRG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Inspeção Caldeira Marinha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US$ 33,4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ISQ - Interna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IBP - Externa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ativo = 'FPSO Peregrino',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CON - Construção · PLAT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5 escopos · total US$ 2,1 mi</a:t>
            </a:r>
            <a:endParaRPr lang="en-US" sz="1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US$ 833,0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US$ 709,2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- Laser Scan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ativo = 'PLAT A',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INT - Integridade · PLAT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13 escopos · total US$ 922,8 mil</a:t>
            </a:r>
            <a:endParaRPr lang="en-US" sz="12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do Caisson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PFP ESTRUTURAS TOPSIDE WHPA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US$ 93,7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END ESTRUTURAS TOPSIDE WHPA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LGI WHPA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US$ 65,6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ENDs especiais e complementares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calibração de PSV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NR12 WHPA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US$ 43,6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SPIE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externa SPIE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69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de PFP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ativo = 'PLAT A',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CON - Construção · PLAT B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6 escopos · total US$ 2,8 mi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US$ 945,6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US$ 795,4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de FWP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US$ 401,1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US$ 358,9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- Laser Scan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ativo = 'PLAT B',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INT - Integridade · PLAT B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10 escopos · total US$ 1,2 mi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Caisson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ENDs especiais e complementares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US$ 55,0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calibração de PSV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US$ 43,6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SPIE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externa SPIE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de PFP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ativo = 'PLAT B',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CON - Construção · PLAT C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4 escopos · total US$ 1,6 mi</a:t>
            </a:r>
            <a:endParaRPr lang="en-US" sz="12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NR-13 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US$ 480,6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US$ 221,4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'CON - Construção', ativo = 'PLAT C',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OPEX INT - Integridade · PLAT C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'Em análise' (status 'Contar'/'TA') · 10 escopos · total US$ 1,2 mi</a:t>
            </a:r>
            <a:endParaRPr lang="en-US" sz="12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6298387"/>
                <a:gridCol w="2474366"/>
                <a:gridCol w="191201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Caisson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US$ 200,0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US$ 182,0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calibração de PSV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cupom de corrosão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US$ 43,6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ENDs especiais e complementares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interna SPIE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US$ 12,2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Auditoria externa SPIE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US$ 9,5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Inspeção de PFP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'Geral - Em análise' · Alocação de Custo = OPEX, status 'Contar'/'TA', área requisitante = 'INT - Integridade', ativo = 'PLAT C', excl. Desenvolvimento de Produção.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430 escopos no total · CAPEX + OPEX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415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US$ 104,4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US$ 161,8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400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US$ 161,8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3 (posições 31-40)</a:t>
            </a:r>
            <a:endParaRPr lang="en-US" sz="12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 EQUIPAMENTOS DE MERGULHO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390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US$ 66,2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US$ 161,8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4 (posições 41-50)</a:t>
            </a:r>
            <a:endParaRPr lang="en-US" sz="12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US$ 944,0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US$ 876,9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Eletrocloradora + Bomba para sequestrante de O2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US$ 772,0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US$ 768,8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380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US$ 57,7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US$ 161,8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SUL, FPSO FRADE &amp; FPSO FORTE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2026-10-22T20:52:28Z</dcterms:created>
  <dcterms:modified xsi:type="dcterms:W3CDTF">2026-10-22T20:52:28Z</dcterms:modified>
</cp:coreProperties>
</file>