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CAPEX (US$ mi)</c:v>
                </c:pt>
              </c:strCache>
            </c:strRef>
          </c:tx>
          <c:spPr>
            <a:solidFill>
              <a:srgbClr val="145C68"/>
            </a:solidFill>
            <a:effectLst/>
          </c:spPr>
          <c:invertIfNegative val="0"/>
          <c:dLbls>
            <c:numFmt formatCode="#,##0.0&quot;mi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C2B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FPSO Forte</c:v>
                  </c:pt>
                  <c:pt idx="1">
                    <c:v>FPSO Frade</c:v>
                  </c:pt>
                  <c:pt idx="2">
                    <c:v>FPSO Peregrino</c:v>
                  </c:pt>
                  <c:pt idx="3">
                    <c:v>FPSO Bravo</c:v>
                  </c:pt>
                  <c:pt idx="4">
                    <c:v>PLAT A</c:v>
                  </c:pt>
                  <c:pt idx="5">
                    <c:v>PLAT B</c:v>
                  </c:pt>
                  <c:pt idx="6">
                    <c:v>Polvo A</c:v>
                  </c:pt>
                  <c:pt idx="7">
                    <c:v>PLAT C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137.8</c:v>
                </c:pt>
                <c:pt idx="1">
                  <c:v>58.7</c:v>
                </c:pt>
                <c:pt idx="2">
                  <c:v>22.2</c:v>
                </c:pt>
                <c:pt idx="3">
                  <c:v>16</c:v>
                </c:pt>
                <c:pt idx="4">
                  <c:v>12.5</c:v>
                </c:pt>
                <c:pt idx="5">
                  <c:v>6.6</c:v>
                </c:pt>
                <c:pt idx="6">
                  <c:v>5.9</c:v>
                </c:pt>
                <c:pt idx="7">
                  <c:v>5.6</c:v>
                </c:pt>
              </c:numCache>
            </c:numRef>
          </c:val>
        </c:ser>
        <c:dLbls>
          <c:numFmt formatCode="#,##0.0&quot;mi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1C2B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A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103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6CE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EXECUTIVA · 2027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46888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CAPEX, Top OPEX &amp;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Despriorizados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9776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 Peregrino, Cluster Sul (FPSO Bravo + Polvo A) &amp; FPSO Frade · Consolidado 7 ativos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Confidencial - Uso Interno PRIO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CAPEX por Ativo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CAPEX total (status 'Contar' + 'TA') por ativo · exclui Desenvolvimento de Produção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188720"/>
          <a:ext cx="630936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12280" y="1188720"/>
          <a:ext cx="4937760" cy="914400"/>
        </p:xfrm>
        <a:graphic>
          <a:graphicData uri="http://schemas.openxmlformats.org/drawingml/2006/table">
            <a:tbl>
              <a:tblPr/>
              <a:tblGrid>
                <a:gridCol w="2271370"/>
                <a:gridCol w="1580083"/>
                <a:gridCol w="1086307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DO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US$ 137,8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US$ 58,7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US$ 22,2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US$ 16,0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US$ 12,5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US$ 6,6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US$ 5,9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US$ 5,6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(8 ativos)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US$ 265,5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100,0%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35618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10 CAPEX · FPSO Forte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CAPEX nas áreas priorizadas (Manutenção, Suporte Técnico, Confiabilidade, Integridade, Naval, Construção, Projetos) · total nessas áreas: US$ 73,6 mi</a:t>
            </a:r>
            <a:endParaRPr lang="en-US" sz="12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574597"/>
                <a:gridCol w="2136953"/>
                <a:gridCol w="2024482"/>
                <a:gridCol w="1574597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UMS - Time de Construção - Instalações (Fabr, Const e Mont Offshore)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US$ 14,0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REVITALIZAÇÃO TG-B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US$ 5,7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Amarras - Contingencia (1 un.)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US$ 5,7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Amarras - Troca ML 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Amarras - Troca ML 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Amarras - Troca ML 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UMS - Time de Construção - Pintura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US$ 4,6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das bobinas do transformador do MC-A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Manutenção Preventiva OverHaul (L3) na TG-C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OVERHAUL HAWSER WINCH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Grandes Manutenções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US$ 1,9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CAPEX, status 'Contar'/'TA', restrito às áreas priorizadas acima, excl. Desenvolvimento de Produção. Soma do top 10: US$ 52,0 mi (70,7% do CAPEX nessas áreas).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35618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CAPEX · FPSO Forte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Continuação · próximos escopos por valor (parte 2) · nas áreas priorizadas</a:t>
            </a:r>
            <a:endParaRPr lang="en-US" sz="12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574597"/>
                <a:gridCol w="2136953"/>
                <a:gridCol w="2024482"/>
                <a:gridCol w="1574597"/>
              </a:tblGrid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UMS - Time de Construção - Andaime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US$ 1,8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bundle HP e LP/IP do MC-C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Reparo e Instalação da bomba de Injeção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Recomposição do Dilúvio + Troca de Bicos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Tanques UMS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US$ 962,5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Retrofit sistema de ventilação trafos dos MCs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US$ 908,4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Retrofit de Automação dos pacotes com PLCs GE-Fanuc (90-70 e 90-30)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Amarras - Troca ML 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Revitalização do Riser Balcony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US$ 791,7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ESTUDOS DE ENGENHARIA FPSO FORTE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US$ 700,2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Recuperar sistema de tratamento de efluentes (ETE)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US$ 650,0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Câmara Frigorífica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das Caixas de Proteção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US$ 590,2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Remoção da Torre de Telecom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US$ 562,4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Overhaul do GGI-B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 gridSpan="5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3561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49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CAPEX, status 'Contar'/'TA', restrito às áreas priorizadas, excl. Desenvolvimento de Produção. Total nessas áreas: US$ 73,6 mi.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35618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5 OPEX por Ativo · FPSO Forte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OPEX nas áreas priorizadas (Manutenção, Suporte Técnico, Confiabilidade, Integridade, Naval, Construção, Projetos) · total nessas áreas: US$ 14,4 mi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1828800" y="198882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61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FPSO Forte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0" y="2354580"/>
          <a:ext cx="8503920" cy="914400"/>
        </p:xfrm>
        <a:graphic>
          <a:graphicData uri="http://schemas.openxmlformats.org/drawingml/2006/table">
            <a:tbl>
              <a:tblPr/>
              <a:tblGrid>
                <a:gridCol w="5952744"/>
                <a:gridCol w="2551176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Andaime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US$ 1,9 mi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(Fabrc, Const e Mont Offshore)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US$ 1,5 mi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Tanques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Mangote Offloading - Substituição seções M5 a M13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L1 TG's 4000hrs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US$ 720,0 mil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OPEX, status 'Contar'/'TA', restrito às áreas priorizadas acima, agrupado por escopo dentro de cada ativo.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10 CAPEX · FPSO Frade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CAPEX nas áreas priorizadas (Manutenção, Suporte Técnico, Confiabilidade, Integridade, Naval, Construção, Projetos) · total nessas áreas: US$ 50,8 mi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574597"/>
                <a:gridCol w="2136953"/>
                <a:gridCol w="2024482"/>
                <a:gridCol w="1574597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DOS BOOGIES DO TURRET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US$ 11,4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Guincho de Pull In + Reforma do Turret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US$ 8,7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L3 - TURBINA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Frade 100K (Fase 2)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SPARE PARTS RECONDICIONAMENTO DOS BOOGIES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REVAMP IGG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US$ 1,6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Gerador de Nitrogênio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Skids de Dilúvio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Sensores de H2S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TROCADOR DE CALOR DO GERADOR - GT4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CAPEX, status 'Contar'/'TA', restrito às áreas priorizadas acima, excl. Desenvolvimento de Produção. Soma do top 10: US$ 41,4 mi (81,4% do CAPEX nessas áreas).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5 OPEX por Ativo · FPSO Frade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OPEX nas áreas priorizadas (Manutenção, Suporte Técnico, Confiabilidade, Integridade, Naval, Construção, Projetos) · total nessas áreas: US$ 19,4 mi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1828800" y="198882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FPSO Frade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0" y="2354580"/>
          <a:ext cx="8503920" cy="914400"/>
        </p:xfrm>
        <a:graphic>
          <a:graphicData uri="http://schemas.openxmlformats.org/drawingml/2006/table">
            <a:tbl>
              <a:tblPr/>
              <a:tblGrid>
                <a:gridCol w="5952744"/>
                <a:gridCol w="2551176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RTI M5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US$ 2,2 mi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Preservação - Pintura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Reparos Definitivos - Compósito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Preservação de Costado - Pintura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OSs CORRETIVAS - 307 Oss COM PEDIDO E VALOR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US$ 848,4 mil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OPEX, status 'Contar'/'TA', restrito às áreas priorizadas acima, agrupado por escopo dentro de cada ativo.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10 CAPEX · TBMT + Polvo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CAPEX nas áreas priorizadas (Manutenção, Suporte Técnico, Confiabilidade, Integridade, Naval, Construção, Projetos) · total nessas áreas: US$ 10,9 mi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574597"/>
                <a:gridCol w="2136953"/>
                <a:gridCol w="2024482"/>
                <a:gridCol w="1574597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L3 GTG B + MANUTENÇÃO GERADOR 25KH GTG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US$ 4,8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Retrofit do Motor - Bomba de Incêndio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US$ 863,1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REVAMP CARGO PUMP - Nº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US$ 687,0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Revitalização do compressor de Ar de Instrumento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US$ 544,8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Compra de Placas de controle dos VFDs Rockwell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US$ 526,1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MPP - Adequação do sistema de Selagem Multifásica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US$ 519,2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 novos Detectores de Gás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US$ 447,3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Manutenção no Swivel elétrico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US$ 414,5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Novas Destiladoras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US$ 411,9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 Sensores de Hidrogênio nas Salas de Baterias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US$ 281,8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CAPEX, status 'Contar'/'TA', restrito às áreas priorizadas acima, excl. Desenvolvimento de Produção. Soma do top 10: US$ 9,5 mi (87,2% do CAPEX nessas áreas).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5 OPEX por Ativo · TBMT + Polvo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OPEX nas áreas priorizadas (Manutenção, Suporte Técnico, Confiabilidade, Integridade, Naval, Construção, Projetos) · total nessas áreas: US$ 28,4 mi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4460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FPSO Bravo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11780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OPERAÇÃO USINA AGGREKO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Mergulho - Tamponamento da caixa de mar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M5 - Time de Construção - Instalações (Fabric, Constr e Mont.)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Sistema de Dilúvio (FW e FF) - Troca de Tubulações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de Sistema de Tubulação - 13 Sistemas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US$ 964,4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217920" y="24460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Polvo A</a:t>
            </a:r>
            <a:endParaRPr lang="en-US" sz="13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2811780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Baixa de material Automação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US$ 628,8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M5 - Time de Construção - Instalações (Fabric, Constr e Mont.)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US$ 610,0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Apoio à Manutenção - Time de Construção - Instalações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normatização de DTPs - WHP Polvo-A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US$ 419,8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QUINQUENAL DE GUINDASTE NORTE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US$ 372,5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OPEX, status 'Contar'/'TA', restrito às áreas priorizadas acima, agrupado por escopo dentro de cada ativo.</a:t>
            </a:r>
            <a:endParaRPr lang="en-US" sz="85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12" name="Text 8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10 CAPEX · Peregrino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CAPEX nas áreas priorizadas (Manutenção, Suporte Técnico, Confiabilidade, Integridade, Naval, Construção, Projetos) · total nessas áreas: US$ 27,6 mi</a:t>
            </a:r>
            <a:endParaRPr lang="en-US" sz="12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574597"/>
                <a:gridCol w="2136953"/>
                <a:gridCol w="2024482"/>
                <a:gridCol w="1574597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da lança do Guindaste Oeste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US$ 3,5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PLC das Turbinas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de obsolescência do INSUM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Suporte Técnico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de obsolescência do INSUM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Suporte Técnico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da Membrana do Sistema de Geração de Nitrogênio Alpha e Bravo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Grandes Manutenções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Overhaul da Bomba Framo (SWLP) -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Caldeira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Novo Header de Vapor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US$ 882,9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Overhaul da STG-B e Gerador Elétrico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US$ 698,8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 Sistema Meteoceanográfico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US$ 634,7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CAPEX, status 'Contar'/'TA', restrito às áreas priorizadas acima, excl. Desenvolvimento de Produção. Soma do top 10: US$ 16,5 mi (59,8% do CAPEX nessas áreas).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5 OPEX por Ativo · Peregrino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OPEX nas áreas priorizadas (Manutenção, Suporte Técnico, Confiabilidade, Integridade, Naval, Construção, Projetos) · total nessas áreas: US$ 40,3 mi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FPSO Peregrino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Pintura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US$ 6,5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Interna NR-13 FPSO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Tanques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normatização de reparos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21792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 A</a:t>
            </a:r>
            <a:endParaRPr lang="en-US" sz="1300" dirty="0"/>
          </a:p>
        </p:txBody>
      </p:sp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554480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US$ 1,5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de Gerenciamento de Corrosão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US$ 976,2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Jackets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Andaime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US$ 312,0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normatização de reparos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US$ 273,0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457200" y="3931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 B</a:t>
            </a:r>
            <a:endParaRPr lang="en-US" sz="13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Constr, Mont e RTI.)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de Gerenciamento de Corrosão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Substituição/ Reparo dos Caissons - Abrangência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de Inspeção de sistemas de tubulação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US$ 567,0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de Jackets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7"/>
          <p:cNvSpPr txBox="1"/>
          <p:nvPr/>
        </p:nvSpPr>
        <p:spPr>
          <a:xfrm>
            <a:off x="6217920" y="3931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 C</a:t>
            </a:r>
            <a:endParaRPr lang="en-US" sz="1300" dirty="0"/>
          </a:p>
        </p:txBody>
      </p:sp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4297680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Manutenção Preventiva (L1) da GTG-A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US$ 708,5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Manutenção Preventiva (L1) da GTG-B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US$ 708,5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de Inspeção de sistemas de tubulação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US$ 567,0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Pintura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US$ 564,0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 8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OPEX, status 'Contar'/'TA', restrito às áreas priorizadas acima, agrupado por escopo dentro de cada ativo.</a:t>
            </a:r>
            <a:endParaRPr lang="en-US" sz="850" dirty="0"/>
          </a:p>
        </p:txBody>
      </p:sp>
      <p:sp>
        <p:nvSpPr>
          <p:cNvPr id="15" name="Text 9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16" name="Text 10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45C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10 OPEX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OPEX (status 'Contar' + 'TA') nas áreas priorizadas: Manutenção, Suporte Técnico, Confiabilidade, Integridade, Naval, Construção e Projetos</a:t>
            </a:r>
            <a:endParaRPr lang="en-US" sz="12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687068"/>
                <a:gridCol w="2136953"/>
                <a:gridCol w="1912010"/>
                <a:gridCol w="1574597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Pintura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US$ 6,5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C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US$ 3,3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RTI M5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US$ 2,2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Constr, Mont e RTI.)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B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US$ 2,1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OPERAÇÃO USINA AGGREKO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Andaime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US$ 1,9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(Fabrc, Const e Mont Offshore)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US$ 1,5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US$ 1,5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Preservação - Pintura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'Geral - Em análise' · OPEX, status 'Contar'/'TA', restrito às áreas priorizadas acima. Soma do top 10: US$ 24,4 mi.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Despriorizados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Itens recusados (aba 'Recusadas') · 239 escopos no total · CAPEX + OPEX</a:t>
            </a:r>
            <a:endParaRPr lang="en-US" sz="12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498848"/>
                <a:gridCol w="1124712"/>
                <a:gridCol w="1912010"/>
                <a:gridCol w="1687068"/>
                <a:gridCol w="674827"/>
                <a:gridCol w="1349654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ALOC.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Descarte de Água - Nova Flotadora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US$ 7,8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[LOGISTICA] - Barco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US$ 6,4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Integração de 2ª bomba Sulzer de injeção em Peregrino WHP-A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US$ 4,5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dos VSDs - Sistema de Compressão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US$ 3,7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 sistema de controle das TGs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US$ 3,4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 - Troca da IHM das Turbinas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US$ 3,2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OVERHAUL DA TG-C (WORKPACK INSTALAÇÃO HSPT + ALINHAMENTO + COMISSIONAMENTO)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US$ 2,8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Revitalização da TG-B (WORKPACK Turbina HSPT + Alinhamento + Ajustes)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US$ 2,8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Centrífuga Diesel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US$ 2,7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Revitalização da TG-B (WORKPACK Instalação da Turbina GG)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US$ 2,7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[LOGISTICA] - Aeronaves e Deslocamento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US$ 2,5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 - Subsea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Desenvolvimento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US$ 2,4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VXL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US$ 2,3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Mão de obra para execução de atividade  - Caldeiraria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US$ 2,1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Metering Diesel da TG's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US$ 2,1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 gridSpan="5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7A2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224 escopos despriorizados (itens de menor valor individual)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2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US$ 51,8 mi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2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aba 'Recusadas' de cada arquivo · itens não aprovados para o plano 2027, agrupados por escopo. Total despriorizado (CAPEX+OPEX): US$ 103,3 mi. Não compõe o CAPEX/OPEX do plano.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Despriorizados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Continuação · próximos escopos por valor (parte 2)</a:t>
            </a:r>
            <a:endParaRPr lang="en-US" sz="12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498848"/>
                <a:gridCol w="1124712"/>
                <a:gridCol w="1912010"/>
                <a:gridCol w="1687068"/>
                <a:gridCol w="674827"/>
                <a:gridCol w="1349654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ALOC.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CRD Araruama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Meio Ambiente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Mão de obra para execução de atividade  - Andaime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da Eletrocloradora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metering de gás e Diesel- GTGs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US$ 1,7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 Sistema PA/GA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US$ 1,6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 Novos Detectores de Gás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Substituir filtros grossos e finos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Caldeiraria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Mão de obra para execução de atividade  - Mecânica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Mão de obra para execução de atividade  - Pintura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Revisar filosofia de dosagem do DSS no riser balcony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linha offloading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 - Integridade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US$ 945,2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Filtros grossos - água injetada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US$ 906,0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Revitalização da TG-B (WORKPACK RECOMPOSIÇÃO DO SISTEMA DE AR DE INST., COOLING MEDIUM, ÓLEO MINERAL E SINTÉTICO)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US$ 873,6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 novos detectores de Chama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US$ 838,3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 gridSpan="5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7A2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209 escopos despriorizados (itens de menor valor individual)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2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US$ 31,6 mi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2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aba 'Recusadas' de cada arquivo · itens não aprovados para o plano 2027, agrupados por escopo. Total despriorizado (CAPEX+OPEX): US$ 103,3 mi. Não compõe o CAPEX/OPEX do plano.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2026-10-06T20:54:43Z</dcterms:created>
  <dcterms:modified xsi:type="dcterms:W3CDTF">2026-10-06T20:54:43Z</dcterms:modified>
</cp:coreProperties>
</file>