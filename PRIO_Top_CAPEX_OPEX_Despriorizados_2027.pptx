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 (US$ mi)</c:v>
                </c:pt>
              </c:strCache>
            </c:strRef>
          </c:tx>
          <c:spPr>
            <a:solidFill>
              <a:srgbClr val="145C68"/>
            </a:solidFill>
            <a:effectLst/>
          </c:spPr>
          <c:invertIfNegative val="0"/>
          <c:dLbls>
            <c:numFmt formatCode="#,##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FPSO Frade</c:v>
                  </c:pt>
                  <c:pt idx="1">
                    <c:v>FPSO Peregrino</c:v>
                  </c:pt>
                  <c:pt idx="2">
                    <c:v>FPSO Bravo</c:v>
                  </c:pt>
                  <c:pt idx="3">
                    <c:v>PLAT A</c:v>
                  </c:pt>
                  <c:pt idx="4">
                    <c:v>PLAT B</c:v>
                  </c:pt>
                  <c:pt idx="5">
                    <c:v>Polvo A</c:v>
                  </c:pt>
                  <c:pt idx="6">
                    <c:v>PLAT C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58.7</c:v>
                </c:pt>
                <c:pt idx="1">
                  <c:v>22.2</c:v>
                </c:pt>
                <c:pt idx="2">
                  <c:v>16</c:v>
                </c:pt>
                <c:pt idx="3">
                  <c:v>12.5</c:v>
                </c:pt>
                <c:pt idx="4">
                  <c:v>6.6</c:v>
                </c:pt>
                <c:pt idx="5">
                  <c:v>5.9</c:v>
                </c:pt>
                <c:pt idx="6">
                  <c:v>5.6</c:v>
                </c:pt>
              </c:numCache>
            </c:numRef>
          </c:val>
        </c:ser>
        <c:dLbls>
          <c:numFmt formatCode="#,##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C2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68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CAPEX, Top OPEX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(FPSO Bravo + Polvo A) &amp; FPSO Frade · Consolidado 7 ativos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-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Ativo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por ativo · exclui Desenvolvimento de Produção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188720"/>
          <a:ext cx="63093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937760" cy="914400"/>
        </p:xfrm>
        <a:graphic>
          <a:graphicData uri="http://schemas.openxmlformats.org/drawingml/2006/table">
            <a:tbl>
              <a:tblPr/>
              <a:tblGrid>
                <a:gridCol w="2271370"/>
                <a:gridCol w="1580083"/>
                <a:gridCol w="1086307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US$ 58,7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US$ 22,2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US$ 16,0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US$ 12,5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US$ 5,9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(7 ativos)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US$ 127,7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por Escopo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individuais de CAPEX (status 'Contar' + 'TA'), por ativo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do Casario - Acomodação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agrupado por escopo em cada ativo. Soma do top 10: US$ 50,2 mi (39,3% do CAPEX total).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individuais de OPEX (status 'Contar' + 'TA'), por ativo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3599078"/>
                <a:gridCol w="1912010"/>
                <a:gridCol w="2249424"/>
                <a:gridCol w="1912010"/>
                <a:gridCol w="1574597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Fixo - PRIO + OSM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PLN - Planejamento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US$ 19,6 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Fixo - PRIO + OSM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PLN - Planejamento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US$ 6,7 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FIXO PRIO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US$ 5,6 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FIXO PRIO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'Geral - Em análise' · Cost Allocation = OPEX, status 'Contar'/'TA', agrupado por escopo em cada ativo. OPEX total consolidado: US$ 155,9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recusados (aba 'Recusadas') · 142 escopos no total · CAPEX + OPEX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1799539"/>
                <a:gridCol w="2249424"/>
                <a:gridCol w="899770"/>
                <a:gridCol w="1574597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 de Água - Nova Flotadora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US$ 7,8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de 2ª bomba Sulzer de injeção em Peregrino WHP-A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Centrífuga Diesel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PA/GA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US$ 945,2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Cloração - 2 unidades Chloropac SB3K + implantação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US$ 705,9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Tecnológica das GTGs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US$ 695,2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AMARRA 06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Calibrações/inspeções dimensionais RBC - conforme determina Resolução ANP/Inmetro Portaria 1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US$ 483,8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Profilers 2 Stg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US$ 471,8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 EQUIPAMENTOS EX NR-10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US$ 456,7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127 escopos despriorizados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US$ 37,4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2026-10-05T23:45:50Z</dcterms:created>
  <dcterms:modified xsi:type="dcterms:W3CDTF">2026-10-05T23:45:50Z</dcterms:modified>
</cp:coreProperties>
</file>