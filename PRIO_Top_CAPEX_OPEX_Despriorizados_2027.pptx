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 (US$ mi)</c:v>
                </c:pt>
              </c:strCache>
            </c:strRef>
          </c:tx>
          <c:spPr>
            <a:solidFill>
              <a:srgbClr val="145C68"/>
            </a:solidFill>
            <a:effectLst/>
          </c:spPr>
          <c:invertIfNegative val="0"/>
          <c:dLbls>
            <c:numFmt formatCode="#,##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2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FPSO Forte</c:v>
                  </c:pt>
                  <c:pt idx="1">
                    <c:v>FPSO Frade</c:v>
                  </c:pt>
                  <c:pt idx="2">
                    <c:v>FPSO Peregrino</c:v>
                  </c:pt>
                  <c:pt idx="3">
                    <c:v>FPSO Bravo</c:v>
                  </c:pt>
                  <c:pt idx="4">
                    <c:v>PLAT A</c:v>
                  </c:pt>
                  <c:pt idx="5">
                    <c:v>PLAT B</c:v>
                  </c:pt>
                  <c:pt idx="6">
                    <c:v>Polvo A</c:v>
                  </c:pt>
                  <c:pt idx="7">
                    <c:v>PLAT C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137.8</c:v>
                </c:pt>
                <c:pt idx="1">
                  <c:v>58.7</c:v>
                </c:pt>
                <c:pt idx="2">
                  <c:v>22.2</c:v>
                </c:pt>
                <c:pt idx="3">
                  <c:v>16</c:v>
                </c:pt>
                <c:pt idx="4">
                  <c:v>12.5</c:v>
                </c:pt>
                <c:pt idx="5">
                  <c:v>6.6</c:v>
                </c:pt>
                <c:pt idx="6">
                  <c:v>5.9</c:v>
                </c:pt>
                <c:pt idx="7">
                  <c:v>5.6</c:v>
                </c:pt>
              </c:numCache>
            </c:numRef>
          </c:val>
        </c:ser>
        <c:dLbls>
          <c:numFmt formatCode="#,##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C2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 (US$ mi)</c:v>
                </c:pt>
              </c:strCache>
            </c:strRef>
          </c:tx>
          <c:spPr>
            <a:solidFill>
              <a:srgbClr val="145C68"/>
            </a:solidFill>
            <a:effectLst/>
          </c:spPr>
          <c:invertIfNegative val="0"/>
          <c:dLbls>
            <c:numFmt formatCode="#,##0.0&quot;mi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C2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TA - Parada Programada</c:v>
                  </c:pt>
                  <c:pt idx="1">
                    <c:v>Projetos</c:v>
                  </c:pt>
                  <c:pt idx="2">
                    <c:v>NAV - Naval</c:v>
                  </c:pt>
                  <c:pt idx="3">
                    <c:v>MNT – Manutenção</c:v>
                  </c:pt>
                  <c:pt idx="4">
                    <c:v>CON - Construção</c:v>
                  </c:pt>
                  <c:pt idx="5">
                    <c:v>P&amp;Q - Processos</c:v>
                  </c:pt>
                  <c:pt idx="6">
                    <c:v>EIM - Manutenção &amp; Integridade</c:v>
                  </c:pt>
                  <c:pt idx="7">
                    <c:v>Saúde e Segurança Ocupacional</c:v>
                  </c:pt>
                  <c:pt idx="8">
                    <c:v>P&amp;Q - Químicos</c:v>
                  </c:pt>
                  <c:pt idx="9">
                    <c:v>MET – Medição</c:v>
                  </c:pt>
                  <c:pt idx="10">
                    <c:v>Suporte Técnico</c:v>
                  </c:pt>
                  <c:pt idx="11">
                    <c:v>Grandes Manutenções</c:v>
                  </c:pt>
                  <c:pt idx="12">
                    <c:v>ADM - Administrativo</c:v>
                  </c:pt>
                  <c:pt idx="13">
                    <c:v>Segurança de Processos</c:v>
                  </c:pt>
                  <c:pt idx="14">
                    <c:v>INT - Integridade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76.2</c:v>
                </c:pt>
                <c:pt idx="1">
                  <c:v>49.3</c:v>
                </c:pt>
                <c:pt idx="2">
                  <c:v>38.8</c:v>
                </c:pt>
                <c:pt idx="3">
                  <c:v>37.4</c:v>
                </c:pt>
                <c:pt idx="4">
                  <c:v>22.1</c:v>
                </c:pt>
                <c:pt idx="5">
                  <c:v>9.1</c:v>
                </c:pt>
                <c:pt idx="6">
                  <c:v>7.5</c:v>
                </c:pt>
                <c:pt idx="7">
                  <c:v>5.6</c:v>
                </c:pt>
                <c:pt idx="8">
                  <c:v>4.4</c:v>
                </c:pt>
                <c:pt idx="9">
                  <c:v>4.3</c:v>
                </c:pt>
                <c:pt idx="10">
                  <c:v>4</c:v>
                </c:pt>
                <c:pt idx="11">
                  <c:v>3.2</c:v>
                </c:pt>
                <c:pt idx="12">
                  <c:v>2.4</c:v>
                </c:pt>
                <c:pt idx="13">
                  <c:v>0.6</c:v>
                </c:pt>
                <c:pt idx="14">
                  <c:v>0.5</c:v>
                </c:pt>
              </c:numCache>
            </c:numRef>
          </c:val>
        </c:ser>
        <c:dLbls>
          <c:numFmt formatCode="#,##0.0&quot;mi&quot;" sourceLinked="0"/>
          <c:txPr>
            <a:bodyPr/>
            <a:lstStyle/>
            <a:p>
              <a:pPr>
                <a:defRPr b="0" i="0" strike="noStrike" sz="800" u="none">
                  <a:solidFill>
                    <a:srgbClr val="1C2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2700000"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4688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CAPEX, Top OPEX &amp;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(FPSO Bravo + Polvo A) &amp; FPSO Frade · Consolidado 7 ativos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-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 por Ativo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CAPEX total (status 'Contar' + 'TA') por ativo · exclui Desenvolvimento de Produção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188720"/>
          <a:ext cx="63093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188720"/>
          <a:ext cx="4937760" cy="914400"/>
        </p:xfrm>
        <a:graphic>
          <a:graphicData uri="http://schemas.openxmlformats.org/drawingml/2006/table">
            <a:tbl>
              <a:tblPr/>
              <a:tblGrid>
                <a:gridCol w="2271370"/>
                <a:gridCol w="1580083"/>
                <a:gridCol w="1086307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DO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US$ 137,8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US$ 58,7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US$ 22,2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US$ 16,0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US$ 12,5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US$ 6,6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US$ 5,9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US$ 5,6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(8 ativos)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US$ 265,5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 por Departamento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CAPEX total (status 'Contar' + 'TA') por área requisitante · somatório de toda a frota (8 ativos) · exclui Desenvolvimento de Produção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188720"/>
          <a:ext cx="63093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188720"/>
          <a:ext cx="4937760" cy="914400"/>
        </p:xfrm>
        <a:graphic>
          <a:graphicData uri="http://schemas.openxmlformats.org/drawingml/2006/table">
            <a:tbl>
              <a:tblPr/>
              <a:tblGrid>
                <a:gridCol w="2271370"/>
                <a:gridCol w="1580083"/>
                <a:gridCol w="1086307"/>
              </a:tblGrid>
              <a:tr h="2985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DEPARTAMENTO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 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DO 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985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US$ 76,2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5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US$ 49,3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985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US$ 38,8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5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US$ 37,4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985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US$ 22,1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5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US$ 9,1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985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US$ 7,5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5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US$ 5,6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985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Químicos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US$ 4,4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5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 – Medição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US$ 4,3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985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5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985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- Administrativo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US$ 2,4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5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985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US$ 518,9 mil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5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(15 departamentos)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US$ 265,5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US$ 73,6 mi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Instalações (Fabr, Const e Mont Offshore)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US$ 14,0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TG-B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Contingencia (1 un.)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das bobinas do transformador do MC-A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OverHaul (L3) na TG-C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HAWSER WINCH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US$ 52,0 mi (70,7%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CAPEX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 · nas áreas priorizadas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bundle HP e LP/IP do MC-C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 e Instalação da bomba de Injeção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Recomposição do Dilúvio + Troca de Bicos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 UMS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US$ 962,5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sistema de ventilação trafos dos MCs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US$ 908,4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de Automação dos pacotes com PLCs GE-Fanuc (90-70 e 90-30)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Riser Balcony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US$ 791,7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 DE ENGENHARIA FPSO FORTE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Recuperar sistema de tratamento de efluentes (ETE)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Câmara Frigorífica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das Caixas de Proteção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US$ 590,2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Remoção da Torre de Telecom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do GGI-B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3561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49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priorizadas, excl. Desenvolvimento de Produção. Total nessas áreas: US$ 73,6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US$ 14,4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9888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6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Forte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0" y="2354580"/>
          <a:ext cx="8503920" cy="914400"/>
        </p:xfrm>
        <a:graphic>
          <a:graphicData uri="http://schemas.openxmlformats.org/drawingml/2006/table">
            <a:tbl>
              <a:tblPr/>
              <a:tblGrid>
                <a:gridCol w="5952744"/>
                <a:gridCol w="255117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(Fabrc, Const e Mont Offshore)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Mangote Offloading - Substituição seções M5 a M13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 TG's 4000hrs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US$ 720,0 mil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US$ 50,8 mi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IGG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Gerador de Nitrogênio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Skids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Sensores de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TROCADOR DE CALOR DO GERADOR - GT4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US$ 41,4 mi (81,4%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US$ 19,4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9888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Frade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0" y="2354580"/>
          <a:ext cx="8503920" cy="914400"/>
        </p:xfrm>
        <a:graphic>
          <a:graphicData uri="http://schemas.openxmlformats.org/drawingml/2006/table">
            <a:tbl>
              <a:tblPr/>
              <a:tblGrid>
                <a:gridCol w="5952744"/>
                <a:gridCol w="255117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M5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- Pintura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Reparos Definitivos - Compósito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de Costado - Pintura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OSs CORRETIVAS - 307 Oss COM PEDIDO E VALOR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US$ 848,4 mil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US$ 10,9 mi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Compra de Placas de controle dos VFDs Rockwell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MPP - Adequação do sistema de Selagem Multifásica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US$ 519,2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Manutenção no Swivel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US$ 414,5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Novas Destiladoras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Sensores de Hidrogênio nas Salas de Baterias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US$ 281,8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US$ 9,5 mi (87,2%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US$ 28,4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Bravo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Mergulho - Tamponamento da caixa de 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Dilúvio (FW e FF) - Troca de Tubulações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Sistema de Tubulação - 13 Sistemas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US$ 964,4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Polvo A</a:t>
            </a:r>
            <a:endParaRPr lang="en-US" sz="13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Automação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US$ 628,8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US$ 610,0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DTPs - WHP Polvo-A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US$ 419,8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QUINQUENAL DE GUINDASTE NORTE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US$ 27,6 mi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Membrana do Sistema de Geração de Nitrogênio Alpha e Bravo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 -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Novo Header de Vapor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US$ 882,9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Meteoceanográfico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US$ 634,7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US$ 16,5 mi (59,8%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US$ 40,3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Peregrino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Interna NR-13 FPSO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normatização de reparos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A</a:t>
            </a:r>
            <a:endParaRPr lang="en-US" sz="13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US$ 976,2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US$ 312,0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reparos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US$ 273,0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B</a:t>
            </a:r>
            <a:endParaRPr lang="en-US" sz="1300" dirty="0"/>
          </a:p>
        </p:txBody>
      </p:sp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Substituição/ Reparo dos Caissons - Abrangência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621792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C</a:t>
            </a:r>
            <a:endParaRPr lang="en-US" sz="1300" dirty="0"/>
          </a:p>
        </p:txBody>
      </p:sp>
      <p:graphicFrame>
        <p:nvGraphicFramePr>
          <p:cNvPr id="4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(L1) da GTG-A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US$ 708,5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(L1) da GTG-B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US$ 708,5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15" name="Text 9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6" name="Text 10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OPEX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(status 'Contar' + 'TA') nas áreas priorizadas: Manutenção, Suporte Técnico, Confiabilidade, Integridade, Naval, Construção e Projetos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687068"/>
                <a:gridCol w="2136953"/>
                <a:gridCol w="1912010"/>
                <a:gridCol w="1574597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M5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(Fabrc, Const e Mont Offshore)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'Geral - Em análise' · OPEX, status 'Contar'/'TA', restrito às áreas priorizadas acima. Soma do top 10: US$ 24,4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recusados (aba 'Recusadas') · 239 escopos no total · CAPEX + OPEX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Descarte de Água - Nova Flotadora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[LOGISTICA] - Barco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Integração de 2ª bomba Sulzer de injeção em Peregrino WHP-A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US$ 4,5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VSDs - Sistema de Compressão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de controle das TGs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 - Troca da IHM das Turbinas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TG-C (WORKPACK INSTALAÇÃO HSPT + ALINHAMENTO + COMISSIONAMENTO)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Turbina HSPT + Alinhamento + Ajustes)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Centrífuga Diesel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Instalação da Turbina GG)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[LOGISTICA] - Aeronaves e Deslocamento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US$ 2,5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 - Subsea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VXL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US$ 2,3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Caldeiraria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Diesel da TG's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224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US$ 51,8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US$ 103,3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CRD Araruama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 Ambiente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Andaime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da Eletrocloradora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de gás e Diesel- GTGs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PA/GA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Substituir filtros grossos e finos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Mecânica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Pintura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Revisar filosofia de dosagem do DSS no riser balcony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linha offloading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US$ 945,2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Filtros grossos - água injetada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US$ 906,0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RECOMPOSIÇÃO DO SISTEMA DE AR DE INST., COOLING MEDIUM, ÓLEO MINERAL E SINTÉTICO)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US$ 873,6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Chama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US$ 838,3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209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US$ 31,6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US$ 103,3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2026-10-06T21:14:32Z</dcterms:created>
  <dcterms:modified xsi:type="dcterms:W3CDTF">2026-10-06T21:14:32Z</dcterms:modified>
</cp:coreProperties>
</file>