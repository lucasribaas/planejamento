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 (US$ mi)</c:v>
                </c:pt>
              </c:strCache>
            </c:strRef>
          </c:tx>
          <c:spPr>
            <a:solidFill>
              <a:srgbClr val="145C68"/>
            </a:solidFill>
            <a:effectLst/>
          </c:spPr>
          <c:invertIfNegative val="0"/>
          <c:dLbls>
            <c:numFmt formatCode="#,##0.0&quot;mi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2B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FPSO Forte</c:v>
                  </c:pt>
                  <c:pt idx="1">
                    <c:v>FPSO Frade</c:v>
                  </c:pt>
                  <c:pt idx="2">
                    <c:v>FPSO Peregrino</c:v>
                  </c:pt>
                  <c:pt idx="3">
                    <c:v>FPSO Bravo</c:v>
                  </c:pt>
                  <c:pt idx="4">
                    <c:v>PLAT A</c:v>
                  </c:pt>
                  <c:pt idx="5">
                    <c:v>PLAT B</c:v>
                  </c:pt>
                  <c:pt idx="6">
                    <c:v>Polvo A</c:v>
                  </c:pt>
                  <c:pt idx="7">
                    <c:v>PLAT C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137.8</c:v>
                </c:pt>
                <c:pt idx="1">
                  <c:v>58.7</c:v>
                </c:pt>
                <c:pt idx="2">
                  <c:v>22.2</c:v>
                </c:pt>
                <c:pt idx="3">
                  <c:v>16</c:v>
                </c:pt>
                <c:pt idx="4">
                  <c:v>12.5</c:v>
                </c:pt>
                <c:pt idx="5">
                  <c:v>6.6</c:v>
                </c:pt>
                <c:pt idx="6">
                  <c:v>5.9</c:v>
                </c:pt>
                <c:pt idx="7">
                  <c:v>5.6</c:v>
                </c:pt>
              </c:numCache>
            </c:numRef>
          </c:val>
        </c:ser>
        <c:dLbls>
          <c:numFmt formatCode="#,##0.0&quot;mi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C2B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03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CE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· 2027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4688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CAPEX, Top OPEX &amp;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977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Peregrino, Cluster Sul (FPSO Bravo + Polvo A) &amp; FPSO Frade · Consolidado 7 ativos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 - Uso Interno PRIO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CAPEX por Ativo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CAPEX total (status 'Contar' + 'TA') por ativo · exclui Desenvolvimento de Produção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188720"/>
          <a:ext cx="63093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1188720"/>
          <a:ext cx="4937760" cy="914400"/>
        </p:xfrm>
        <a:graphic>
          <a:graphicData uri="http://schemas.openxmlformats.org/drawingml/2006/table">
            <a:tbl>
              <a:tblPr/>
              <a:tblGrid>
                <a:gridCol w="2271370"/>
                <a:gridCol w="1580083"/>
                <a:gridCol w="1086307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DO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US$ 137,8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US$ 58,7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US$ 22,2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US$ 16,0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US$ 12,5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US$ 6,6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US$ 5,9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US$ 5,6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(8 ativos)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US$ 265,5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5618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FPSO Forte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CAPEX nas áreas priorizadas (Manutenção, Suporte Técnico, Confiabilidade, Integridade, Naval, Construção, Projetos) · total nessas áreas: US$ 73,6 mi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UMS - Time de Construção - Instalações (Fabr, Const e Mont Offshore)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US$ 14,0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TG-B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Contingencia (1 un.)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Troca ML 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Troca ML 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Troca ML 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UMS - Time de Construção - Pintura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das bobinas do transformador do MC-A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Preventiva OverHaul (L3) na TG-C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HAWSER WINCH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Grandes Manutenções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US$ 1,9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 acima, excl. Desenvolvimento de Produção. Soma do top 10: US$ 52,0 mi (70,7% do CAPEX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5618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FPSO Forte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US$ 14,4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198882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61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Forte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0" y="2354580"/>
          <a:ext cx="8503920" cy="914400"/>
        </p:xfrm>
        <a:graphic>
          <a:graphicData uri="http://schemas.openxmlformats.org/drawingml/2006/table">
            <a:tbl>
              <a:tblPr/>
              <a:tblGrid>
                <a:gridCol w="5952744"/>
                <a:gridCol w="255117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Andaime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US$ 1,9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(Fabrc, Const e Mont Offshore)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Tanques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Mangote Offloading - Substituição seções M5 a M13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L1 TG's 4000hrs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US$ 720,0 mil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agrupado por escopo dentro de cada ativo.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CAPEX nas áreas priorizadas (Manutenção, Suporte Técnico, Confiabilidade, Integridade, Naval, Construção, Projetos) · total nessas áreas: US$ 50,8 mi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DOS BOOGIES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Guincho de Pull In + Reforma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L3 - TURBINA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Frade 100K (Fase 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SPARE PARTS RECONDICIONAMENTO DOS BOOGIES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IGG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Gerador de Nitrogênio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Skids de Dilúvio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Sensores de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TROCADOR DE CALOR DO GERADOR - GT4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 acima, excl. Desenvolvimento de Produção. Soma do top 10: US$ 41,4 mi (81,4% do CAPEX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US$ 19,4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198882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Frade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0" y="2354580"/>
          <a:ext cx="8503920" cy="914400"/>
        </p:xfrm>
        <a:graphic>
          <a:graphicData uri="http://schemas.openxmlformats.org/drawingml/2006/table">
            <a:tbl>
              <a:tblPr/>
              <a:tblGrid>
                <a:gridCol w="5952744"/>
                <a:gridCol w="255117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RTI M5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US$ 2,2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- Pintura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Reparos Definitivos - Compósito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de Costado - Pintura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OSs CORRETIVAS - 307 Oss COM PEDIDO E VALOR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US$ 848,4 mil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agrupado por escopo dentro de cada ativo.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TBMT + Polvo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CAPEX nas áreas priorizadas (Manutenção, Suporte Técnico, Confiabilidade, Integridade, Naval, Construção, Projetos) · total nessas áreas: US$ 10,9 mi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GTG B + MANUTENÇÃO GERADOR 25KH GTG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do Motor - Bomba de Incêndio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US$ 863,1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CARGO PUMP - Nº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US$ 687,0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do compressor de Ar de Instrumento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US$ 544,8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Compra de Placas de controle dos VFDs Rockwell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US$ 526,1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MPP - Adequação do sistema de Selagem Multifásica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US$ 519,2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novos Detectores de Gás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US$ 447,3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Manutenção no Swivel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US$ 414,5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Novas Destiladoras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US$ 411,9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Sensores de Hidrogênio nas Salas de Baterias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US$ 281,8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 acima, excl. Desenvolvimento de Produção. Soma do top 10: US$ 9,5 mi (87,2% do CAPEX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TBMT + Polvo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US$ 28,4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460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Bravo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17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OPERAÇÃO USINA AGGREKO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Mergulho - Tamponamento da caixa de mar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Dilúvio (FW e FF) - Troca de Tubulações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de Sistema de Tubulação - 13 Sistemas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US$ 964,4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0" y="24460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Polvo A</a:t>
            </a:r>
            <a:endParaRPr lang="en-US" sz="13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28117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 de material Automação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US$ 628,8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US$ 610,0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Apoio à Manutenção - Time de Construção - Instalações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normatização de DTPs - WHP Polvo-A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US$ 419,8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QUINQUENAL DE GUINDASTE NORTE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US$ 372,5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agrupado por escopo dentro de cada ativo.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2" name="Text 8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CAPEX nas áreas priorizadas (Manutenção, Suporte Técnico, Confiabilidade, Integridade, Naval, Construção, Projetos) · total nessas áreas: US$ 27,6 mi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lança do Guindaste Oeste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das Turbinas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de obsolescência do INSUM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de obsolescência do INSUM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Membrana do Sistema de Geração de Nitrogênio Alpha e Bravo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Grandes Manutenções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Bomba Framo (SWLP) -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Caldeira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Novo Header de Vapor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US$ 882,9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STG-B e Gerador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US$ 698,8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Meteoceanográfico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US$ 634,7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 acima, excl. Desenvolvimento de Produção. Soma do top 10: US$ 16,5 mi (59,8% do CAPEX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US$ 40,3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Peregrino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Pintura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Interna NR-13 FPSO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Tanques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normatização de reparos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A</a:t>
            </a:r>
            <a:endParaRPr lang="en-US" sz="13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Gerenciamento de Corrosão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US$ 976,2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Jackets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Andaime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US$ 312,0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normatização de reparos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US$ 273,0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3931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B</a:t>
            </a:r>
            <a:endParaRPr lang="en-US" sz="1300" dirty="0"/>
          </a:p>
        </p:txBody>
      </p:sp>
      <p:graphicFrame>
        <p:nvGraphicFramePr>
          <p:cNvPr id="3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Constr, Mont e RTI.)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Gerenciamento de Corrosão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Substituição/ Reparo dos Caissons - Abrangência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Inspeção de sistemas de tubulação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US$ 567,0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de Jackets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6217920" y="3931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C</a:t>
            </a:r>
            <a:endParaRPr lang="en-US" sz="1300" dirty="0"/>
          </a:p>
        </p:txBody>
      </p:sp>
      <p:graphicFrame>
        <p:nvGraphicFramePr>
          <p:cNvPr id="4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42976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Preventiva (L1) da GTG-A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US$ 708,5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Preventiva (L1) da GTG-B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US$ 708,5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Inspeção de sistemas de tubulação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US$ 567,0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Pintura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US$ 564,0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8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agrupado por escopo dentro de cada ativo.</a:t>
            </a:r>
            <a:endParaRPr lang="en-US" sz="850" dirty="0"/>
          </a:p>
        </p:txBody>
      </p:sp>
      <p:sp>
        <p:nvSpPr>
          <p:cNvPr id="15" name="Text 9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6" name="Text 10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OPEX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(status 'Contar' + 'TA') nas áreas priorizadas: Manutenção, Suporte Técnico, Confiabilidade, Integridade, Naval, Construção e Projetos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687068"/>
                <a:gridCol w="2136953"/>
                <a:gridCol w="1912010"/>
                <a:gridCol w="1574597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Pintura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US$ 3,3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RTI M5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US$ 2,2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Constr, Mont e RTI.)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OPERAÇÃO USINA AGGREKO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Andaime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US$ 1,9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(Fabrc, Const e Mont Offshore)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- Pintura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'Geral - Em análise' · OPEX, status 'Contar'/'TA', restrito às áreas priorizadas acima. Soma do top 10: US$ 24,4 mi.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recusados (aba 'Recusadas') · 239 escopos no total · CAPEX + OPEX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498848"/>
                <a:gridCol w="1124712"/>
                <a:gridCol w="1912010"/>
                <a:gridCol w="1687068"/>
                <a:gridCol w="674827"/>
                <a:gridCol w="1349654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Descarte de Água - Nova Flotadora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US$ 7,8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[LOGISTICA] - Barco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Integração de 2ª bomba Sulzer de injeção em Peregrino WHP-A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US$ 4,5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VSDs - Sistema de Compressão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US$ 3,7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de controle das TGs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 - Troca da IHM das Turbinas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US$ 3,2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TG-C (WORKPACK INSTALAÇÃO HSPT + ALINHAMENTO + COMISSIONAMENTO)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US$ 2,8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da TG-B (WORKPACK Turbina HSPT + Alinhamento + Ajustes)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US$ 2,8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Centrífuga Diesel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US$ 2,7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da TG-B (WORKPACK Instalação da Turbina GG)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US$ 2,7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[LOGISTICA] - Aeronaves e Deslocamento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US$ 2,5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 - Subsea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VXL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US$ 2,3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Mão de obra para execução de atividade  - Caldeiraria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Metering Diesel da TG's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224 escopos despriorizados (itens de menor valor individual)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US$ 51,8 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'Recusadas' de cada arquivo · itens não aprovados para o plano 2027, agrupados por escopo. Total despriorizado (CAPEX+OPEX): US$ 103,3 mi. Não compõe o CAPEX/OPEX do plano.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· próximos escopos por valor (parte 2)</a:t>
            </a:r>
            <a:endParaRPr lang="en-US" sz="12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498848"/>
                <a:gridCol w="1124712"/>
                <a:gridCol w="1912010"/>
                <a:gridCol w="1687068"/>
                <a:gridCol w="674827"/>
                <a:gridCol w="1349654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CRD Araruama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Meio Ambiente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Mão de obra para execução de atividade  - Andaime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da Eletrocloradora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metering de gás e Diesel- GTGs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US$ 1,7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PA/GA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Novos Detectores de Gás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Substituir filtros grossos e finos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Mão de obra para execução de atividade  - Mecânica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Mão de obra para execução de atividade  - Pintura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Revisar filosofia de dosagem do DSS no riser balcony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linha offloading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- Integridade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US$ 945,2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Filtros grossos - água injetada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US$ 906,0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da TG-B (WORKPACK RECOMPOSIÇÃO DO SISTEMA DE AR DE INST., COOLING MEDIUM, ÓLEO MINERAL E SINTÉTICO)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US$ 873,6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novos detectores de Chama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US$ 838,3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209 escopos despriorizados (itens de menor valor individual)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US$ 31,6 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'Recusadas' de cada arquivo · itens não aprovados para o plano 2027, agrupados por escopo. Total despriorizado (CAPEX+OPEX): US$ 103,3 mi. Não compõe o CAPEX/OPEX do plano.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2026-10-06T20:50:26Z</dcterms:created>
  <dcterms:modified xsi:type="dcterms:W3CDTF">2026-10-06T20:50:26Z</dcterms:modified>
</cp:coreProperties>
</file>