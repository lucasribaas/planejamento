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C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· 2027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CAPEX, Top OPEX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Despriorizados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Peregrino, Cluster Sul (FPSO Bravo + Polvo A), FPSO Frade &amp; FPSO Forte · Consolidado 8 ativos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- Uso Interno PRIO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B2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CAPEX por Ativo e por Departamento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CAPEX total (status 'Contar' + 'TA') · exclui Desenvolvimento de Produção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4476" y="1207008"/>
            <a:ext cx="0" cy="4965192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0700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ATIVO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070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ativos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27632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FPSO Forte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51353" y="1787401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3051353" y="1787401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145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505" y="1627632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US$ 106,8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59,6%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178558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FPSO Frade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51353" y="2338327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051353" y="2338327"/>
            <a:ext cx="640998" cy="231389"/>
          </a:xfrm>
          <a:prstGeom prst="roundRect">
            <a:avLst>
              <a:gd name="adj" fmla="val 15807"/>
            </a:avLst>
          </a:prstGeom>
          <a:solidFill>
            <a:srgbClr val="145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56505" y="2178558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US$ 38,1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21,3%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729484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FPSO Peregrino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51353" y="2889253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051353" y="2889253"/>
            <a:ext cx="212649" cy="231389"/>
          </a:xfrm>
          <a:prstGeom prst="roundRect">
            <a:avLst>
              <a:gd name="adj" fmla="val 17200"/>
            </a:avLst>
          </a:prstGeom>
          <a:solidFill>
            <a:srgbClr val="145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56505" y="2729484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US$ 12,7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7,1%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80410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FPSO Bravo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51353" y="3440179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23" name="Shape 21"/>
          <p:cNvSpPr/>
          <p:nvPr/>
        </p:nvSpPr>
        <p:spPr>
          <a:xfrm>
            <a:off x="3051353" y="3440179"/>
            <a:ext cx="124689" cy="231389"/>
          </a:xfrm>
          <a:prstGeom prst="roundRect">
            <a:avLst>
              <a:gd name="adj" fmla="val 29334"/>
            </a:avLst>
          </a:prstGeom>
          <a:solidFill>
            <a:srgbClr val="145C6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505" y="3280410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US$ 7,4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4,1%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831336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 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51353" y="3991105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27" name="Shape 25"/>
          <p:cNvSpPr/>
          <p:nvPr/>
        </p:nvSpPr>
        <p:spPr>
          <a:xfrm>
            <a:off x="3051353" y="3991105"/>
            <a:ext cx="123296" cy="231389"/>
          </a:xfrm>
          <a:prstGeom prst="roundRect">
            <a:avLst>
              <a:gd name="adj" fmla="val 29665"/>
            </a:avLst>
          </a:prstGeom>
          <a:solidFill>
            <a:srgbClr val="145C6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56505" y="3831336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US$ 7,3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4,1%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382262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 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51353" y="4542031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31" name="Shape 29"/>
          <p:cNvSpPr/>
          <p:nvPr/>
        </p:nvSpPr>
        <p:spPr>
          <a:xfrm>
            <a:off x="3051353" y="4542031"/>
            <a:ext cx="55959" cy="231389"/>
          </a:xfrm>
          <a:prstGeom prst="roundRect">
            <a:avLst>
              <a:gd name="adj" fmla="val 65362"/>
            </a:avLst>
          </a:prstGeom>
          <a:solidFill>
            <a:srgbClr val="145C6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956505" y="4382262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US$ 3,3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1,9%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933188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 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51353" y="5092957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35" name="Shape 33"/>
          <p:cNvSpPr/>
          <p:nvPr/>
        </p:nvSpPr>
        <p:spPr>
          <a:xfrm>
            <a:off x="3051353" y="5092957"/>
            <a:ext cx="54864" cy="231389"/>
          </a:xfrm>
          <a:prstGeom prst="roundRect">
            <a:avLst>
              <a:gd name="adj" fmla="val 66667"/>
            </a:avLst>
          </a:prstGeom>
          <a:solidFill>
            <a:srgbClr val="145C6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956505" y="4933188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US$ 1,9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1,1%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5484114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Polvo 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51353" y="5643883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39" name="Shape 37"/>
          <p:cNvSpPr/>
          <p:nvPr/>
        </p:nvSpPr>
        <p:spPr>
          <a:xfrm>
            <a:off x="3051353" y="5643883"/>
            <a:ext cx="54864" cy="231389"/>
          </a:xfrm>
          <a:prstGeom prst="roundRect">
            <a:avLst>
              <a:gd name="adj" fmla="val 66667"/>
            </a:avLst>
          </a:prstGeom>
          <a:solidFill>
            <a:srgbClr val="145C6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956505" y="5484114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US$ 1,7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0,9%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0899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FROTA   </a:t>
            </a:r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US$ 179,2 mi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291072" y="1207008"/>
            <a:ext cx="4080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DEPARTAMENTO (PRINCIPAIS)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291072" y="12070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deptos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291072" y="1627632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- Parada Programada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885225" y="1823575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46" name="Shape 44"/>
          <p:cNvSpPr/>
          <p:nvPr/>
        </p:nvSpPr>
        <p:spPr>
          <a:xfrm>
            <a:off x="8885225" y="1823575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0B2A3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790377" y="1627632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US$ 50,6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28,2%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291072" y="2257262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85225" y="2453205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50" name="Shape 48"/>
          <p:cNvSpPr/>
          <p:nvPr/>
        </p:nvSpPr>
        <p:spPr>
          <a:xfrm>
            <a:off x="8885225" y="2453205"/>
            <a:ext cx="1237196" cy="237744"/>
          </a:xfrm>
          <a:prstGeom prst="roundRect">
            <a:avLst>
              <a:gd name="adj" fmla="val 15385"/>
            </a:avLst>
          </a:prstGeom>
          <a:solidFill>
            <a:srgbClr val="0B2A3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790377" y="2257262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US$ 34,8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19,4%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291072" y="2886891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 – Manutenção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85225" y="3082834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54" name="Shape 52"/>
          <p:cNvSpPr/>
          <p:nvPr/>
        </p:nvSpPr>
        <p:spPr>
          <a:xfrm>
            <a:off x="8885225" y="3082834"/>
            <a:ext cx="998176" cy="237744"/>
          </a:xfrm>
          <a:prstGeom prst="roundRect">
            <a:avLst>
              <a:gd name="adj" fmla="val 15385"/>
            </a:avLst>
          </a:prstGeom>
          <a:solidFill>
            <a:srgbClr val="0B2A3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790377" y="2886891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US$ 28,1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15,7%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291072" y="3516521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- Construção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85225" y="3712464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58" name="Shape 56"/>
          <p:cNvSpPr/>
          <p:nvPr/>
        </p:nvSpPr>
        <p:spPr>
          <a:xfrm>
            <a:off x="8885225" y="3712464"/>
            <a:ext cx="835408" cy="237744"/>
          </a:xfrm>
          <a:prstGeom prst="roundRect">
            <a:avLst>
              <a:gd name="adj" fmla="val 15385"/>
            </a:avLst>
          </a:prstGeom>
          <a:solidFill>
            <a:srgbClr val="0B2A3D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790377" y="3516521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US$ 23,5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13,1%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291072" y="4146151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- Naval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85225" y="4342094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62" name="Shape 60"/>
          <p:cNvSpPr/>
          <p:nvPr/>
        </p:nvSpPr>
        <p:spPr>
          <a:xfrm>
            <a:off x="8885225" y="4342094"/>
            <a:ext cx="662921" cy="237744"/>
          </a:xfrm>
          <a:prstGeom prst="roundRect">
            <a:avLst>
              <a:gd name="adj" fmla="val 15385"/>
            </a:avLst>
          </a:prstGeom>
          <a:solidFill>
            <a:srgbClr val="0B2A3D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790377" y="4146151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US$ 18,7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10,4%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6291072" y="4775781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85225" y="4971723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66" name="Shape 64"/>
          <p:cNvSpPr/>
          <p:nvPr/>
        </p:nvSpPr>
        <p:spPr>
          <a:xfrm>
            <a:off x="8885225" y="4971723"/>
            <a:ext cx="142034" cy="237744"/>
          </a:xfrm>
          <a:prstGeom prst="roundRect">
            <a:avLst>
              <a:gd name="adj" fmla="val 25752"/>
            </a:avLst>
          </a:prstGeom>
          <a:solidFill>
            <a:srgbClr val="0B2A3D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0790377" y="4775781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US$ 4,0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2,2%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6291072" y="5405410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Manutenções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885225" y="5601353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70" name="Shape 68"/>
          <p:cNvSpPr/>
          <p:nvPr/>
        </p:nvSpPr>
        <p:spPr>
          <a:xfrm>
            <a:off x="8885225" y="5601353"/>
            <a:ext cx="67821" cy="237744"/>
          </a:xfrm>
          <a:prstGeom prst="roundRect">
            <a:avLst>
              <a:gd name="adj" fmla="val 53930"/>
            </a:avLst>
          </a:prstGeom>
          <a:solidFill>
            <a:srgbClr val="0B2A3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10790377" y="5405410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US$ 1,9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1,1%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6291072" y="60899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  </a:t>
            </a:r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US$ 161,6 mi</a:t>
            </a:r>
            <a:pPr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(90,2% do total)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 considerados: TA - Parada Programada, Projetos, NAV - Naval, MNT - Manutenção, CON - Construção, EIM - Manutenção e Integridade, Suporte Técnico, Grandes Manutenções, INT - Integridade.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B2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CAPEX por Departamento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CAPEX total (status 'Contar' + 'TA') por área requisitante · somatório de toda a frota (8 ativos) · exclui Desenvolvimento de Produção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4476" y="1188720"/>
            <a:ext cx="0" cy="498348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5027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- Parada Programada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51353" y="150418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9" name="Shape 7"/>
          <p:cNvSpPr/>
          <p:nvPr/>
        </p:nvSpPr>
        <p:spPr>
          <a:xfrm>
            <a:off x="3051353" y="150418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145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56505" y="1280160"/>
            <a:ext cx="94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US$ 50,6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28,2%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965960"/>
            <a:ext cx="25027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51353" y="218998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051353" y="2189988"/>
            <a:ext cx="1237196" cy="237744"/>
          </a:xfrm>
          <a:prstGeom prst="roundRect">
            <a:avLst>
              <a:gd name="adj" fmla="val 15385"/>
            </a:avLst>
          </a:prstGeom>
          <a:solidFill>
            <a:srgbClr val="145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56505" y="1965960"/>
            <a:ext cx="94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US$ 34,8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19,4%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51760"/>
            <a:ext cx="25027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 – Manutenção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51353" y="287578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17" name="Shape 15"/>
          <p:cNvSpPr/>
          <p:nvPr/>
        </p:nvSpPr>
        <p:spPr>
          <a:xfrm>
            <a:off x="3051353" y="2875788"/>
            <a:ext cx="998176" cy="237744"/>
          </a:xfrm>
          <a:prstGeom prst="roundRect">
            <a:avLst>
              <a:gd name="adj" fmla="val 15385"/>
            </a:avLst>
          </a:prstGeom>
          <a:solidFill>
            <a:srgbClr val="145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56505" y="2651760"/>
            <a:ext cx="94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US$ 28,1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15,7%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337560"/>
            <a:ext cx="25027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- Construção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51353" y="356158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051353" y="3561588"/>
            <a:ext cx="835408" cy="237744"/>
          </a:xfrm>
          <a:prstGeom prst="roundRect">
            <a:avLst>
              <a:gd name="adj" fmla="val 15385"/>
            </a:avLst>
          </a:prstGeom>
          <a:solidFill>
            <a:srgbClr val="145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56505" y="3337560"/>
            <a:ext cx="94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US$ 23,5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13,1%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23360"/>
            <a:ext cx="25027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- Naval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51353" y="424738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25" name="Shape 23"/>
          <p:cNvSpPr/>
          <p:nvPr/>
        </p:nvSpPr>
        <p:spPr>
          <a:xfrm>
            <a:off x="3051353" y="4247388"/>
            <a:ext cx="662921" cy="237744"/>
          </a:xfrm>
          <a:prstGeom prst="roundRect">
            <a:avLst>
              <a:gd name="adj" fmla="val 15385"/>
            </a:avLst>
          </a:prstGeom>
          <a:solidFill>
            <a:srgbClr val="145C6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56505" y="4023360"/>
            <a:ext cx="94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US$ 18,7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10,4%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709160"/>
            <a:ext cx="25027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Processos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51353" y="493318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29" name="Shape 27"/>
          <p:cNvSpPr/>
          <p:nvPr/>
        </p:nvSpPr>
        <p:spPr>
          <a:xfrm>
            <a:off x="3051353" y="4933188"/>
            <a:ext cx="213811" cy="237744"/>
          </a:xfrm>
          <a:prstGeom prst="roundRect">
            <a:avLst>
              <a:gd name="adj" fmla="val 17107"/>
            </a:avLst>
          </a:prstGeom>
          <a:solidFill>
            <a:srgbClr val="145C6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56505" y="4709160"/>
            <a:ext cx="94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US$ 6,0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3,4%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394960"/>
            <a:ext cx="25027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Segurança Ocupacional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51353" y="561898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33" name="Shape 31"/>
          <p:cNvSpPr/>
          <p:nvPr/>
        </p:nvSpPr>
        <p:spPr>
          <a:xfrm>
            <a:off x="3051353" y="5618988"/>
            <a:ext cx="146366" cy="237744"/>
          </a:xfrm>
          <a:prstGeom prst="roundRect">
            <a:avLst>
              <a:gd name="adj" fmla="val 24989"/>
            </a:avLst>
          </a:prstGeom>
          <a:solidFill>
            <a:srgbClr val="145C6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956505" y="5394960"/>
            <a:ext cx="94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US$ 4,1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2,3%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291072" y="1280160"/>
            <a:ext cx="250271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885225" y="156133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37" name="Shape 35"/>
          <p:cNvSpPr/>
          <p:nvPr/>
        </p:nvSpPr>
        <p:spPr>
          <a:xfrm>
            <a:off x="8885225" y="156133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145C6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790377" y="1280160"/>
            <a:ext cx="9413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US$ 4,0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2,2%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291072" y="2080260"/>
            <a:ext cx="250271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Químicos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885225" y="236143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41" name="Shape 39"/>
          <p:cNvSpPr/>
          <p:nvPr/>
        </p:nvSpPr>
        <p:spPr>
          <a:xfrm>
            <a:off x="8885225" y="2361438"/>
            <a:ext cx="1105464" cy="237744"/>
          </a:xfrm>
          <a:prstGeom prst="roundRect">
            <a:avLst>
              <a:gd name="adj" fmla="val 15385"/>
            </a:avLst>
          </a:prstGeom>
          <a:solidFill>
            <a:srgbClr val="145C6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790377" y="2080260"/>
            <a:ext cx="9413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US$ 2,5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1,4%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291072" y="2880360"/>
            <a:ext cx="250271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– Medição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85225" y="316153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45" name="Shape 43"/>
          <p:cNvSpPr/>
          <p:nvPr/>
        </p:nvSpPr>
        <p:spPr>
          <a:xfrm>
            <a:off x="8885225" y="3161538"/>
            <a:ext cx="1086473" cy="237744"/>
          </a:xfrm>
          <a:prstGeom prst="roundRect">
            <a:avLst>
              <a:gd name="adj" fmla="val 15385"/>
            </a:avLst>
          </a:prstGeom>
          <a:solidFill>
            <a:srgbClr val="145C6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790377" y="2880360"/>
            <a:ext cx="9413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US$ 2,4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1,4%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291072" y="3680460"/>
            <a:ext cx="250271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- Administrativo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885225" y="396163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49" name="Shape 47"/>
          <p:cNvSpPr/>
          <p:nvPr/>
        </p:nvSpPr>
        <p:spPr>
          <a:xfrm>
            <a:off x="8885225" y="3961638"/>
            <a:ext cx="924460" cy="237744"/>
          </a:xfrm>
          <a:prstGeom prst="roundRect">
            <a:avLst>
              <a:gd name="adj" fmla="val 15385"/>
            </a:avLst>
          </a:prstGeom>
          <a:solidFill>
            <a:srgbClr val="145C6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790377" y="3680460"/>
            <a:ext cx="9413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US$ 2,1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1,1%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291072" y="4480560"/>
            <a:ext cx="250271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Manutenções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885225" y="476173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53" name="Shape 51"/>
          <p:cNvSpPr/>
          <p:nvPr/>
        </p:nvSpPr>
        <p:spPr>
          <a:xfrm>
            <a:off x="8885225" y="4761738"/>
            <a:ext cx="857315" cy="237744"/>
          </a:xfrm>
          <a:prstGeom prst="roundRect">
            <a:avLst>
              <a:gd name="adj" fmla="val 15385"/>
            </a:avLst>
          </a:prstGeom>
          <a:solidFill>
            <a:srgbClr val="145C68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790377" y="4480560"/>
            <a:ext cx="9413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US$ 1,9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1,1%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291072" y="5280660"/>
            <a:ext cx="250271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Processos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885225" y="5561838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57" name="Shape 55"/>
          <p:cNvSpPr/>
          <p:nvPr/>
        </p:nvSpPr>
        <p:spPr>
          <a:xfrm>
            <a:off x="8885225" y="5561838"/>
            <a:ext cx="237174" cy="237744"/>
          </a:xfrm>
          <a:prstGeom prst="roundRect">
            <a:avLst>
              <a:gd name="adj" fmla="val 15422"/>
            </a:avLst>
          </a:prstGeom>
          <a:solidFill>
            <a:srgbClr val="145C6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790377" y="5280660"/>
            <a:ext cx="9413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US$ 528,4 mil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0,3%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615391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(13 departamentos)   </a:t>
            </a:r>
            <a:pPr algn="ct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US$ 179,2 mi</a:t>
            </a:r>
            <a:pPr algn="ctr"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100,0%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5C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OPEX por Ativo e por Departamento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total (status 'Contar' + 'TA') · exclui Desenvolvimento de Produção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4476" y="1207008"/>
            <a:ext cx="0" cy="4965192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0700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ATIVO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070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ativos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27632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FPSO Peregrino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51353" y="1787401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3051353" y="1787401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145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505" y="1627632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US$ 38,9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25,0%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178558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FPSO Frade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51353" y="2338327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051353" y="2338327"/>
            <a:ext cx="1231748" cy="231389"/>
          </a:xfrm>
          <a:prstGeom prst="roundRect">
            <a:avLst>
              <a:gd name="adj" fmla="val 15807"/>
            </a:avLst>
          </a:prstGeom>
          <a:solidFill>
            <a:srgbClr val="145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56505" y="2178558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US$ 26,7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17,1%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729484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FPSO Bravo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51353" y="2889253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051353" y="2889253"/>
            <a:ext cx="1000314" cy="231389"/>
          </a:xfrm>
          <a:prstGeom prst="roundRect">
            <a:avLst>
              <a:gd name="adj" fmla="val 15807"/>
            </a:avLst>
          </a:prstGeom>
          <a:solidFill>
            <a:srgbClr val="145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56505" y="2729484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US$ 21,7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13,9%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80410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 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51353" y="3440179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23" name="Shape 21"/>
          <p:cNvSpPr/>
          <p:nvPr/>
        </p:nvSpPr>
        <p:spPr>
          <a:xfrm>
            <a:off x="3051353" y="3440179"/>
            <a:ext cx="754272" cy="231389"/>
          </a:xfrm>
          <a:prstGeom prst="roundRect">
            <a:avLst>
              <a:gd name="adj" fmla="val 15807"/>
            </a:avLst>
          </a:prstGeom>
          <a:solidFill>
            <a:srgbClr val="145C6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505" y="3280410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US$ 16,3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10,5%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831336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 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51353" y="3991105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27" name="Shape 25"/>
          <p:cNvSpPr/>
          <p:nvPr/>
        </p:nvSpPr>
        <p:spPr>
          <a:xfrm>
            <a:off x="3051353" y="3991105"/>
            <a:ext cx="703611" cy="231389"/>
          </a:xfrm>
          <a:prstGeom prst="roundRect">
            <a:avLst>
              <a:gd name="adj" fmla="val 15807"/>
            </a:avLst>
          </a:prstGeom>
          <a:solidFill>
            <a:srgbClr val="145C6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56505" y="3831336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US$ 15,2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9,8%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382262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FPSO Forte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51353" y="4542031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31" name="Shape 29"/>
          <p:cNvSpPr/>
          <p:nvPr/>
        </p:nvSpPr>
        <p:spPr>
          <a:xfrm>
            <a:off x="3051353" y="4542031"/>
            <a:ext cx="686602" cy="231389"/>
          </a:xfrm>
          <a:prstGeom prst="roundRect">
            <a:avLst>
              <a:gd name="adj" fmla="val 15807"/>
            </a:avLst>
          </a:prstGeom>
          <a:solidFill>
            <a:srgbClr val="145C6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956505" y="4382262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US$ 14,9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9,6%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933188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 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51353" y="5092957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35" name="Shape 33"/>
          <p:cNvSpPr/>
          <p:nvPr/>
        </p:nvSpPr>
        <p:spPr>
          <a:xfrm>
            <a:off x="3051353" y="5092957"/>
            <a:ext cx="653500" cy="231389"/>
          </a:xfrm>
          <a:prstGeom prst="roundRect">
            <a:avLst>
              <a:gd name="adj" fmla="val 15807"/>
            </a:avLst>
          </a:prstGeom>
          <a:solidFill>
            <a:srgbClr val="145C6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956505" y="4933188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US$ 14,1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9,1%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5484114"/>
            <a:ext cx="2502713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Polvo 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51353" y="5643883"/>
            <a:ext cx="1795424" cy="231389"/>
          </a:xfrm>
          <a:prstGeom prst="roundRect">
            <a:avLst>
              <a:gd name="adj" fmla="val 15807"/>
            </a:avLst>
          </a:prstGeom>
          <a:solidFill>
            <a:srgbClr val="F0F4F5"/>
          </a:solidFill>
          <a:ln/>
        </p:spPr>
      </p:sp>
      <p:sp>
        <p:nvSpPr>
          <p:cNvPr id="39" name="Shape 37"/>
          <p:cNvSpPr/>
          <p:nvPr/>
        </p:nvSpPr>
        <p:spPr>
          <a:xfrm>
            <a:off x="3051353" y="5643883"/>
            <a:ext cx="357575" cy="231389"/>
          </a:xfrm>
          <a:prstGeom prst="roundRect">
            <a:avLst>
              <a:gd name="adj" fmla="val 15807"/>
            </a:avLst>
          </a:prstGeom>
          <a:solidFill>
            <a:srgbClr val="145C6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956505" y="5484114"/>
            <a:ext cx="941375" cy="55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US$ 7,7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5,0%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0899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FROTA   </a:t>
            </a:r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US$ 155,5 mi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291072" y="1207008"/>
            <a:ext cx="4080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DEPARTAMENTO (PRINCIPAIS)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291072" y="12070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deptos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291072" y="1627632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- Construção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885225" y="1823575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46" name="Shape 44"/>
          <p:cNvSpPr/>
          <p:nvPr/>
        </p:nvSpPr>
        <p:spPr>
          <a:xfrm>
            <a:off x="8885225" y="1823575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0B2A3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790377" y="1627632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US$ 28,9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18,6%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291072" y="2257262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 – Manutenção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885225" y="2453205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50" name="Shape 48"/>
          <p:cNvSpPr/>
          <p:nvPr/>
        </p:nvSpPr>
        <p:spPr>
          <a:xfrm>
            <a:off x="8885225" y="2453205"/>
            <a:ext cx="1563418" cy="237744"/>
          </a:xfrm>
          <a:prstGeom prst="roundRect">
            <a:avLst>
              <a:gd name="adj" fmla="val 15385"/>
            </a:avLst>
          </a:prstGeom>
          <a:solidFill>
            <a:srgbClr val="0B2A3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790377" y="2257262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US$ 25,1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16,2%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291072" y="2886891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- Integridade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85225" y="3082834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54" name="Shape 52"/>
          <p:cNvSpPr/>
          <p:nvPr/>
        </p:nvSpPr>
        <p:spPr>
          <a:xfrm>
            <a:off x="8885225" y="3082834"/>
            <a:ext cx="738442" cy="237744"/>
          </a:xfrm>
          <a:prstGeom prst="roundRect">
            <a:avLst>
              <a:gd name="adj" fmla="val 15385"/>
            </a:avLst>
          </a:prstGeom>
          <a:solidFill>
            <a:srgbClr val="0B2A3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790377" y="2886891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US$ 11,9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7,6%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291072" y="3516521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- Naval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85225" y="3712464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58" name="Shape 56"/>
          <p:cNvSpPr/>
          <p:nvPr/>
        </p:nvSpPr>
        <p:spPr>
          <a:xfrm>
            <a:off x="8885225" y="3712464"/>
            <a:ext cx="714627" cy="237744"/>
          </a:xfrm>
          <a:prstGeom prst="roundRect">
            <a:avLst>
              <a:gd name="adj" fmla="val 15385"/>
            </a:avLst>
          </a:prstGeom>
          <a:solidFill>
            <a:srgbClr val="0B2A3D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790377" y="3516521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US$ 11,5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7,4%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291072" y="4146151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 - Manutenção &amp; Integridade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885225" y="4342094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62" name="Shape 60"/>
          <p:cNvSpPr/>
          <p:nvPr/>
        </p:nvSpPr>
        <p:spPr>
          <a:xfrm>
            <a:off x="8885225" y="4342094"/>
            <a:ext cx="95435" cy="237744"/>
          </a:xfrm>
          <a:prstGeom prst="roundRect">
            <a:avLst>
              <a:gd name="adj" fmla="val 38326"/>
            </a:avLst>
          </a:prstGeom>
          <a:solidFill>
            <a:srgbClr val="0B2A3D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790377" y="4146151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US$ 1,5 mi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1,0%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6291072" y="4775781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85225" y="4971723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66" name="Shape 64"/>
          <p:cNvSpPr/>
          <p:nvPr/>
        </p:nvSpPr>
        <p:spPr>
          <a:xfrm>
            <a:off x="8885225" y="4971723"/>
            <a:ext cx="54864" cy="237744"/>
          </a:xfrm>
          <a:prstGeom prst="roundRect">
            <a:avLst>
              <a:gd name="adj" fmla="val 66667"/>
            </a:avLst>
          </a:prstGeom>
          <a:solidFill>
            <a:srgbClr val="0B2A3D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0790377" y="4775781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US$ 458,0 mil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0,3%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6291072" y="5405410"/>
            <a:ext cx="2502713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885225" y="5601353"/>
            <a:ext cx="1795424" cy="237744"/>
          </a:xfrm>
          <a:prstGeom prst="roundRect">
            <a:avLst>
              <a:gd name="adj" fmla="val 15385"/>
            </a:avLst>
          </a:prstGeom>
          <a:solidFill>
            <a:srgbClr val="F0F4F5"/>
          </a:solidFill>
          <a:ln/>
        </p:spPr>
      </p:sp>
      <p:sp>
        <p:nvSpPr>
          <p:cNvPr id="70" name="Shape 68"/>
          <p:cNvSpPr/>
          <p:nvPr/>
        </p:nvSpPr>
        <p:spPr>
          <a:xfrm>
            <a:off x="8885225" y="5601353"/>
            <a:ext cx="54864" cy="237744"/>
          </a:xfrm>
          <a:prstGeom prst="roundRect">
            <a:avLst>
              <a:gd name="adj" fmla="val 66667"/>
            </a:avLst>
          </a:prstGeom>
          <a:solidFill>
            <a:srgbClr val="0B2A3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10790377" y="5405410"/>
            <a:ext cx="941375" cy="62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US$ 110,0 mil</a:t>
            </a:r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0,1%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6291072" y="60899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  </a:t>
            </a:r>
            <a:pPr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US$ 79,4 mi</a:t>
            </a:r>
            <a:pPr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(51,1% do total)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45C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OPEX por Departamento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total (status 'Contar' + 'TA') por área requisitante · somatório de toda a frota · exclui Desenvolvimento de Produção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4476" y="1188720"/>
            <a:ext cx="0" cy="4983480"/>
          </a:xfrm>
          <a:prstGeom prst="line">
            <a:avLst/>
          </a:prstGeom>
          <a:noFill/>
          <a:ln w="12700">
            <a:solidFill>
              <a:srgbClr val="E3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- Planejamento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51353" y="139617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9" name="Shape 7"/>
          <p:cNvSpPr/>
          <p:nvPr/>
        </p:nvSpPr>
        <p:spPr>
          <a:xfrm>
            <a:off x="3051353" y="139617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145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56505" y="128016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US$ 32,8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21,1%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68021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- Construção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51353" y="179622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051353" y="1796225"/>
            <a:ext cx="1579661" cy="168021"/>
          </a:xfrm>
          <a:prstGeom prst="roundRect">
            <a:avLst>
              <a:gd name="adj" fmla="val 21769"/>
            </a:avLst>
          </a:prstGeom>
          <a:solidFill>
            <a:srgbClr val="145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56505" y="168021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US$ 28,9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18,6%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08026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 – Manutenção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51353" y="219627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17" name="Shape 15"/>
          <p:cNvSpPr/>
          <p:nvPr/>
        </p:nvSpPr>
        <p:spPr>
          <a:xfrm>
            <a:off x="3051353" y="2196275"/>
            <a:ext cx="1375536" cy="168021"/>
          </a:xfrm>
          <a:prstGeom prst="roundRect">
            <a:avLst>
              <a:gd name="adj" fmla="val 21769"/>
            </a:avLst>
          </a:prstGeom>
          <a:solidFill>
            <a:srgbClr val="145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56505" y="208026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US$ 25,1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16,2%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8031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51353" y="259632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051353" y="2596325"/>
            <a:ext cx="791143" cy="168021"/>
          </a:xfrm>
          <a:prstGeom prst="roundRect">
            <a:avLst>
              <a:gd name="adj" fmla="val 21769"/>
            </a:avLst>
          </a:prstGeom>
          <a:solidFill>
            <a:srgbClr val="145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56505" y="248031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US$ 14,5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9,3%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88036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- Integridade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51353" y="299637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25" name="Shape 23"/>
          <p:cNvSpPr/>
          <p:nvPr/>
        </p:nvSpPr>
        <p:spPr>
          <a:xfrm>
            <a:off x="3051353" y="2996375"/>
            <a:ext cx="649700" cy="168021"/>
          </a:xfrm>
          <a:prstGeom prst="roundRect">
            <a:avLst>
              <a:gd name="adj" fmla="val 21769"/>
            </a:avLst>
          </a:prstGeom>
          <a:solidFill>
            <a:srgbClr val="145C6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56505" y="288036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US$ 11,9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7,6%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28041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- Naval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51353" y="339642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29" name="Shape 27"/>
          <p:cNvSpPr/>
          <p:nvPr/>
        </p:nvSpPr>
        <p:spPr>
          <a:xfrm>
            <a:off x="3051353" y="3396425"/>
            <a:ext cx="628747" cy="168021"/>
          </a:xfrm>
          <a:prstGeom prst="roundRect">
            <a:avLst>
              <a:gd name="adj" fmla="val 21769"/>
            </a:avLst>
          </a:prstGeom>
          <a:solidFill>
            <a:srgbClr val="145C6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56505" y="328041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US$ 11,5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7,4%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8046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- Administrativo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51353" y="379647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33" name="Shape 31"/>
          <p:cNvSpPr/>
          <p:nvPr/>
        </p:nvSpPr>
        <p:spPr>
          <a:xfrm>
            <a:off x="3051353" y="3796475"/>
            <a:ext cx="415679" cy="168021"/>
          </a:xfrm>
          <a:prstGeom prst="roundRect">
            <a:avLst>
              <a:gd name="adj" fmla="val 21769"/>
            </a:avLst>
          </a:prstGeom>
          <a:solidFill>
            <a:srgbClr val="145C6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956505" y="368046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US$ 7,6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4,9%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08051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– Medição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51353" y="419652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37" name="Shape 35"/>
          <p:cNvSpPr/>
          <p:nvPr/>
        </p:nvSpPr>
        <p:spPr>
          <a:xfrm>
            <a:off x="3051353" y="4196525"/>
            <a:ext cx="286050" cy="168021"/>
          </a:xfrm>
          <a:prstGeom prst="roundRect">
            <a:avLst>
              <a:gd name="adj" fmla="val 21769"/>
            </a:avLst>
          </a:prstGeom>
          <a:solidFill>
            <a:srgbClr val="145C6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956505" y="408051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US$ 5,2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3,4%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48056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Segurança Ocupacional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051353" y="459657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41" name="Shape 39"/>
          <p:cNvSpPr/>
          <p:nvPr/>
        </p:nvSpPr>
        <p:spPr>
          <a:xfrm>
            <a:off x="3051353" y="4596575"/>
            <a:ext cx="238068" cy="168021"/>
          </a:xfrm>
          <a:prstGeom prst="roundRect">
            <a:avLst>
              <a:gd name="adj" fmla="val 21769"/>
            </a:avLst>
          </a:prstGeom>
          <a:solidFill>
            <a:srgbClr val="145C6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956505" y="448056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US$ 4,3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2,8%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88061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Processos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51353" y="499662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45" name="Shape 43"/>
          <p:cNvSpPr/>
          <p:nvPr/>
        </p:nvSpPr>
        <p:spPr>
          <a:xfrm>
            <a:off x="3051353" y="4996625"/>
            <a:ext cx="210397" cy="168021"/>
          </a:xfrm>
          <a:prstGeom prst="roundRect">
            <a:avLst>
              <a:gd name="adj" fmla="val 21769"/>
            </a:avLst>
          </a:prstGeom>
          <a:solidFill>
            <a:srgbClr val="145C6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956505" y="488061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US$ 3,8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2,5%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528066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51353" y="539667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49" name="Shape 47"/>
          <p:cNvSpPr/>
          <p:nvPr/>
        </p:nvSpPr>
        <p:spPr>
          <a:xfrm>
            <a:off x="3051353" y="5396675"/>
            <a:ext cx="192139" cy="168021"/>
          </a:xfrm>
          <a:prstGeom prst="roundRect">
            <a:avLst>
              <a:gd name="adj" fmla="val 21769"/>
            </a:avLst>
          </a:prstGeom>
          <a:solidFill>
            <a:srgbClr val="145C6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956505" y="528066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US$ 3,5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2,3%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5680710"/>
            <a:ext cx="2502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EIM - Manutenção &amp; Integridade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051353" y="5796725"/>
            <a:ext cx="1795424" cy="168021"/>
          </a:xfrm>
          <a:prstGeom prst="roundRect">
            <a:avLst>
              <a:gd name="adj" fmla="val 21769"/>
            </a:avLst>
          </a:prstGeom>
          <a:solidFill>
            <a:srgbClr val="F0F4F5"/>
          </a:solidFill>
          <a:ln/>
        </p:spPr>
      </p:sp>
      <p:sp>
        <p:nvSpPr>
          <p:cNvPr id="53" name="Shape 51"/>
          <p:cNvSpPr/>
          <p:nvPr/>
        </p:nvSpPr>
        <p:spPr>
          <a:xfrm>
            <a:off x="3051353" y="5796725"/>
            <a:ext cx="83967" cy="168021"/>
          </a:xfrm>
          <a:prstGeom prst="roundRect">
            <a:avLst>
              <a:gd name="adj" fmla="val 43560"/>
            </a:avLst>
          </a:prstGeom>
          <a:solidFill>
            <a:srgbClr val="145C68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956505" y="5680710"/>
            <a:ext cx="9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US$ 1,5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1,0%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291072" y="1280160"/>
            <a:ext cx="2502713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Processos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885225" y="1406721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F0F4F5"/>
          </a:solidFill>
          <a:ln/>
        </p:spPr>
      </p:sp>
      <p:sp>
        <p:nvSpPr>
          <p:cNvPr id="57" name="Shape 55"/>
          <p:cNvSpPr/>
          <p:nvPr/>
        </p:nvSpPr>
        <p:spPr>
          <a:xfrm>
            <a:off x="8885225" y="1406721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145C6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790377" y="1280160"/>
            <a:ext cx="941375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US$ 1,5 mi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1,0%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6291072" y="1716578"/>
            <a:ext cx="2502713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P&amp;Q - Químicos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885225" y="1843139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F0F4F5"/>
          </a:solidFill>
          <a:ln/>
        </p:spPr>
      </p:sp>
      <p:sp>
        <p:nvSpPr>
          <p:cNvPr id="61" name="Shape 59"/>
          <p:cNvSpPr/>
          <p:nvPr/>
        </p:nvSpPr>
        <p:spPr>
          <a:xfrm>
            <a:off x="8885225" y="1843139"/>
            <a:ext cx="1098396" cy="183296"/>
          </a:xfrm>
          <a:prstGeom prst="roundRect">
            <a:avLst>
              <a:gd name="adj" fmla="val 19955"/>
            </a:avLst>
          </a:prstGeom>
          <a:solidFill>
            <a:srgbClr val="145C68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0790377" y="1716578"/>
            <a:ext cx="941375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US$ 934,6 mil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0,6%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291072" y="2152996"/>
            <a:ext cx="2502713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- Subsea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885225" y="2279558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F0F4F5"/>
          </a:solidFill>
          <a:ln/>
        </p:spPr>
      </p:sp>
      <p:sp>
        <p:nvSpPr>
          <p:cNvPr id="65" name="Shape 63"/>
          <p:cNvSpPr/>
          <p:nvPr/>
        </p:nvSpPr>
        <p:spPr>
          <a:xfrm>
            <a:off x="8885225" y="2279558"/>
            <a:ext cx="881466" cy="183296"/>
          </a:xfrm>
          <a:prstGeom prst="roundRect">
            <a:avLst>
              <a:gd name="adj" fmla="val 19955"/>
            </a:avLst>
          </a:prstGeom>
          <a:solidFill>
            <a:srgbClr val="145C68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790377" y="2152996"/>
            <a:ext cx="941375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US$ 750,0 mil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0,5%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6291072" y="2589415"/>
            <a:ext cx="2502713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885225" y="2715976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F0F4F5"/>
          </a:solidFill>
          <a:ln/>
        </p:spPr>
      </p:sp>
      <p:sp>
        <p:nvSpPr>
          <p:cNvPr id="69" name="Shape 67"/>
          <p:cNvSpPr/>
          <p:nvPr/>
        </p:nvSpPr>
        <p:spPr>
          <a:xfrm>
            <a:off x="8885225" y="2715976"/>
            <a:ext cx="538301" cy="183296"/>
          </a:xfrm>
          <a:prstGeom prst="roundRect">
            <a:avLst>
              <a:gd name="adj" fmla="val 19955"/>
            </a:avLst>
          </a:prstGeom>
          <a:solidFill>
            <a:srgbClr val="145C68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0790377" y="2589415"/>
            <a:ext cx="941375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US$ 458,0 mil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0,3%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6291072" y="3025833"/>
            <a:ext cx="2502713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ITT - Tecnologia da informação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885225" y="3152394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F0F4F5"/>
          </a:solidFill>
          <a:ln/>
        </p:spPr>
      </p:sp>
      <p:sp>
        <p:nvSpPr>
          <p:cNvPr id="73" name="Shape 71"/>
          <p:cNvSpPr/>
          <p:nvPr/>
        </p:nvSpPr>
        <p:spPr>
          <a:xfrm>
            <a:off x="8885225" y="3152394"/>
            <a:ext cx="352587" cy="183296"/>
          </a:xfrm>
          <a:prstGeom prst="roundRect">
            <a:avLst>
              <a:gd name="adj" fmla="val 19955"/>
            </a:avLst>
          </a:prstGeom>
          <a:solidFill>
            <a:srgbClr val="145C68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10790377" y="3025833"/>
            <a:ext cx="941375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US$ 300,0 mil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0,2%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6291072" y="3462251"/>
            <a:ext cx="2502713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- SMS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885225" y="3588812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F0F4F5"/>
          </a:solidFill>
          <a:ln/>
        </p:spPr>
      </p:sp>
      <p:sp>
        <p:nvSpPr>
          <p:cNvPr id="77" name="Shape 75"/>
          <p:cNvSpPr/>
          <p:nvPr/>
        </p:nvSpPr>
        <p:spPr>
          <a:xfrm>
            <a:off x="8885225" y="3588812"/>
            <a:ext cx="287877" cy="183296"/>
          </a:xfrm>
          <a:prstGeom prst="roundRect">
            <a:avLst>
              <a:gd name="adj" fmla="val 19955"/>
            </a:avLst>
          </a:prstGeom>
          <a:solidFill>
            <a:srgbClr val="145C68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0790377" y="3462251"/>
            <a:ext cx="941375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US$ 244,9 mil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0,2%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6291072" y="3898669"/>
            <a:ext cx="2502713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885225" y="4025230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F0F4F5"/>
          </a:solidFill>
          <a:ln/>
        </p:spPr>
      </p:sp>
      <p:sp>
        <p:nvSpPr>
          <p:cNvPr id="81" name="Shape 79"/>
          <p:cNvSpPr/>
          <p:nvPr/>
        </p:nvSpPr>
        <p:spPr>
          <a:xfrm>
            <a:off x="8885225" y="4025230"/>
            <a:ext cx="202150" cy="183296"/>
          </a:xfrm>
          <a:prstGeom prst="roundRect">
            <a:avLst>
              <a:gd name="adj" fmla="val 19955"/>
            </a:avLst>
          </a:prstGeom>
          <a:solidFill>
            <a:srgbClr val="145C68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790377" y="3898669"/>
            <a:ext cx="941375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US$ 172,0 mil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0,1%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6291072" y="4335087"/>
            <a:ext cx="2502713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 - Logistica terrestre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885225" y="4461649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F0F4F5"/>
          </a:solidFill>
          <a:ln/>
        </p:spPr>
      </p:sp>
      <p:sp>
        <p:nvSpPr>
          <p:cNvPr id="85" name="Shape 83"/>
          <p:cNvSpPr/>
          <p:nvPr/>
        </p:nvSpPr>
        <p:spPr>
          <a:xfrm>
            <a:off x="8885225" y="4461649"/>
            <a:ext cx="184725" cy="183296"/>
          </a:xfrm>
          <a:prstGeom prst="roundRect">
            <a:avLst>
              <a:gd name="adj" fmla="val 19955"/>
            </a:avLst>
          </a:prstGeom>
          <a:solidFill>
            <a:srgbClr val="145C68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790377" y="4335087"/>
            <a:ext cx="941375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US$ 157,2 mil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0,1%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6291072" y="4771505"/>
            <a:ext cx="2502713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Ambiente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885225" y="4898067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F0F4F5"/>
          </a:solidFill>
          <a:ln/>
        </p:spPr>
      </p:sp>
      <p:sp>
        <p:nvSpPr>
          <p:cNvPr id="89" name="Shape 87"/>
          <p:cNvSpPr/>
          <p:nvPr/>
        </p:nvSpPr>
        <p:spPr>
          <a:xfrm>
            <a:off x="8885225" y="4898067"/>
            <a:ext cx="144753" cy="183296"/>
          </a:xfrm>
          <a:prstGeom prst="roundRect">
            <a:avLst>
              <a:gd name="adj" fmla="val 25268"/>
            </a:avLst>
          </a:prstGeom>
          <a:solidFill>
            <a:srgbClr val="145C68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790377" y="4771505"/>
            <a:ext cx="941375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US$ 123,2 mil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0,1%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6291072" y="5207924"/>
            <a:ext cx="2502713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8885225" y="5334485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F0F4F5"/>
          </a:solidFill>
          <a:ln/>
        </p:spPr>
      </p:sp>
      <p:sp>
        <p:nvSpPr>
          <p:cNvPr id="93" name="Shape 91"/>
          <p:cNvSpPr/>
          <p:nvPr/>
        </p:nvSpPr>
        <p:spPr>
          <a:xfrm>
            <a:off x="8885225" y="5334485"/>
            <a:ext cx="129282" cy="183296"/>
          </a:xfrm>
          <a:prstGeom prst="roundRect">
            <a:avLst>
              <a:gd name="adj" fmla="val 28292"/>
            </a:avLst>
          </a:prstGeom>
          <a:solidFill>
            <a:srgbClr val="145C68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790377" y="5207924"/>
            <a:ext cx="941375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US$ 110,0 mil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0,1%</a:t>
            </a:r>
            <a:endParaRPr lang="en-US" sz="1000" dirty="0"/>
          </a:p>
        </p:txBody>
      </p:sp>
      <p:sp>
        <p:nvSpPr>
          <p:cNvPr id="95" name="Text 93"/>
          <p:cNvSpPr txBox="1"/>
          <p:nvPr/>
        </p:nvSpPr>
        <p:spPr>
          <a:xfrm>
            <a:off x="6291072" y="5644342"/>
            <a:ext cx="2502713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- Produção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8885225" y="5770903"/>
            <a:ext cx="1795424" cy="183296"/>
          </a:xfrm>
          <a:prstGeom prst="roundRect">
            <a:avLst>
              <a:gd name="adj" fmla="val 19955"/>
            </a:avLst>
          </a:prstGeom>
          <a:solidFill>
            <a:srgbClr val="F0F4F5"/>
          </a:solidFill>
          <a:ln/>
        </p:spPr>
      </p:sp>
      <p:sp>
        <p:nvSpPr>
          <p:cNvPr id="97" name="Shape 95"/>
          <p:cNvSpPr/>
          <p:nvPr/>
        </p:nvSpPr>
        <p:spPr>
          <a:xfrm>
            <a:off x="8885225" y="5770903"/>
            <a:ext cx="105776" cy="183296"/>
          </a:xfrm>
          <a:prstGeom prst="roundRect">
            <a:avLst>
              <a:gd name="adj" fmla="val 34579"/>
            </a:avLst>
          </a:prstGeom>
          <a:solidFill>
            <a:srgbClr val="145C68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790377" y="5644342"/>
            <a:ext cx="941375" cy="43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US$ 90,0 mil</a:t>
            </a:r>
            <a:pPr indent="0" marL="0">
              <a:buNone/>
            </a:pPr>
            <a:r>
              <a:rPr lang="en-US" sz="9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0,1%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457200" y="615391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(23 departamentos)   </a:t>
            </a:r>
            <a:pPr algn="ctr" indent="0" marL="0">
              <a:buNone/>
            </a:pPr>
            <a:r>
              <a:rPr lang="en-US" sz="11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US$ 155,5 mi</a:t>
            </a:r>
            <a:pPr algn="ctr"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100,0%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101" name="Text 99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561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CAPEX · FPSO Forte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maiores escopos de CAPEX nas áreas priorizadas (Manutenção, Suporte Técnico, Confiabilidade, Integridade, Naval, Construção, Projetos) · total nessas áreas: US$ 49,5 mi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UMS - Time de Construção - Instalações (Fabr, Const e Mont Offshore)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US$ 14,0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REVITALIZAÇÃO TG-B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US$ 5,7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UMS - Time de Construção - Pintura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US$ 4,6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Manutenção Preventiva OverHaul (L3) na TG-C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OVERHAUL HAWSER WINCH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 Manutenções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US$ 1,9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UMS - Time de Construção - Andaime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US$ 1,8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Tanques UMS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US$ 1,8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bundle HP e LP/IP do MC-C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Reparo e Instalação da bomba de Injeção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US$ 1,2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Recomposição do Dilúvio + Troca de Bicos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CAPEX, status 'Contar'/'TA', restrito às áreas priorizadas acima, excl. Desenvolvimento de Produção. Soma do top 10: US$ 35,6 mi (71,9% do CAPEX nessas áreas).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561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· FPSO Forte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· próximos escopos por valor (parte 2) · nas áreas priorizadas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Câmara Frigorífica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Mangote Offloading - Substituição seções M5 a M13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Retrofit sistema de ventilação trafos dos MCs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US$ 908,4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 novos detectores de Chama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US$ 838,3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Revitalização do Riser Balcony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US$ 791,7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Recuperar sistema de tratamento de efluentes (ETE)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US$ 650,0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das Caixas de Proteção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US$ 590,2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Remoção da Torre de Telecom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US$ 562,4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Retrofit de Automação dos pacotes com PLCs GE-Fanuc (90-70 e 90-30)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US$ 528,4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Overhaul do GGI-B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3561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50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CAPEX, status 'Contar'/'TA', restrito às áreas priorizadas, excl. Desenvolvimento de Produção. Total nessas áreas: US$ 49,5 mi.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561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OPEX · FPSO Forte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maiores escopos de OPEX nas áreas priorizadas (Manutenção, Suporte Técnico, Confiabilidade, Integridade, Naval, Construção, Projetos) · total nessas áreas: US$ 11,5 mi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Andaime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US$ 1,9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Instalações (Fabrc, Const e Mont Offshore)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US$ 1,5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Tanques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TG's 4000hrs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US$ 720,0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Uwild (ROV)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Pintura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US$ 497,0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abertura, inspeção e fechamento dos equipamentos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US$ 400,8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Lighthouse - SaaS + suporte técnico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Confiabilidade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US$ 337,1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 GUINDASTES INS-1508 MEC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US$ 330,0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Apoio à Manutenção - Time de Construção - Instalações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US$ 315,0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OPEX, status 'Contar'/'TA', restrito às áreas priorizadas acima, excl. Desenvolvimento de Produção. Soma do top 10: US$ 7,9 mi (68,7% do OPEX nessas áreas).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3561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· FPSO Forte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· próximos escopos por valor (parte 2) · nas áreas priorizadas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18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Calibração PSVs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US$ 310,0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do banco de Baterias da UPS-A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US$ 280,0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DE DROPS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US$ 275,0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 de Motor à Diesel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US$ 180,0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Fragilidades - Recuperar sensor de calado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US$ 150,0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Abertura e limpeza de trocador de calor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US$ 147,0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Auditorias ABS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US$ 144,0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Apoio à Manutenção - Time de Construção - Andaime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US$ 132,0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TG-C - Sistema de óleo Mineral - troca de óleo e flushing do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Delineador RTIs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US$ 126,3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3561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40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US$ 1,7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OPEX, status 'Contar'/'TA', restrito às áreas priorizadas, excl. Desenvolvimento de Produção. Total nessas áreas: US$ 11,5 mi.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CON - Construção · FPSO Forte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5 escopos · total US$ 4,5 mi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Andaime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Instalações (Fabrc, Const e Mont Offshore)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Pintura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US$ 497,0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abertura, inspeção e fechamento dos equipamentos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US$ 400,8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Delineador RTIs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US$ 126,3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'CON - Construção', ativo = 'FPSO Forte',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INT - Integridade · FPSO Forte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8 escopos · total US$ 992,7 mil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Calibração PSVs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US$ 310,0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DE DROPS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US$ 275,0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Abertura e limpeza de trocador de calor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US$ 147,0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CUI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US$ 81,0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cupons de corrosão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Ensaios em Trocadores de Calor - Iris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US$ 78,0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IBP - SPIE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US$ 12,2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Auditora Interna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'INT - Integridade', ativo = 'FPSO Forte',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CAPEX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maiores escopos de CAPEX nas áreas priorizadas (Manutenção, Suporte Técnico, Confiabilidade, Integridade, Naval, Construção, Projetos) · total nessas áreas: US$ 33,9 mi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DOS BOOGIES DO TURRET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US$ 11,4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Guincho de Pull In + Reforma do Turret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US$ 8,7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SPARE PARTS RECONDICIONAMENTO DOS BOOGIES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US$ 3,2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Preservação de Costado - Pintura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Gerador de Nitrogênio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Sensores de H2S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US$ 1,2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TROCADOR DE CALOR DO GERADOR - GT4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Skids de Dilúvio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BOMBA DE AMINA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Mist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US$ 508,2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CAPEX, status 'Contar'/'TA', restrito às áreas priorizadas acima, excl. Desenvolvimento de Produção. Soma do top 10: US$ 31,1 mi (91,8% do CAPEX nessas áreas).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· próximos escopos por valor (parte 2) · nas áreas priorizadas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TBM - Junta de expansão exhaust - TURBINAS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US$ 500,7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ESTUDOS DE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US$ 430,5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Detectores de Chama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e Comissionamento OSPREY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US$ 380,0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DOS MANGOTES - SEÇÕES 32 E 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US$ 331,8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MOTORES SEA WATER HIGH PRESSURE PUMP - RO - 2 UNIDADES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US$ 303,4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TURRET - DRIVING SYSTEM CHANGE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US$ 283,1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Avifauna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US$ 136,9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CAPEX, status 'Contar'/'TA', restrito às áreas priorizadas, excl. Desenvolvimento de Produção. Total nessas áreas: US$ 33,9 mi.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OPEX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maiores escopos de OPEX nas áreas priorizadas (Manutenção, Suporte Técnico, Confiabilidade, Integridade, Naval, Construção, Projetos) · total nessas áreas: US$ 17,4 mi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US$ 2,2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Reparos Definitivos - Compósito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US$ 960,0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CORRETIVAS - 307 Oss COM PEDIDO E VALOR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US$ 848,4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NR-10 INSPEÇÃO - PREVENTIVA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US$ 547,8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CUI - Remoção, inspeção e Reinstalação do Isolamento térmico de 26 vasos.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US$ 516,0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Andaime + Habitat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US$ 505,5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ESTUDOS DE REASSESSMENT - TANQUES E LIFTING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US$ 375,0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Lighthouse - SaaS + suporte técnico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Confiabilidade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US$ 337,1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 TURBINA GE 4.000 HORAS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US$ 332,3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OPEX, status 'Contar'/'TA', restrito às áreas priorizadas acima, excl. Desenvolvimento de Produção. Soma do top 10: US$ 8,0 mi (46,0% do OPEX nessas áreas).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· próximos escopos por valor (parte 2) · nas áreas priorizadas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E FABRICAÇÃO DE FIRE DAMPERS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US$ 290,2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EMBARQUE INSTALAÇÃO E FABRICAÇÃO DAS MANGUEIRAS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US$ 286,3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Ensaios Avançados para inspeção interna em atendimento ao plano de inspeção RBI / 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US$ 280,0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DROPS FPSO FRADE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US$ 275,0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DE MATERIAIS PA/GA (AMPLIFICADOR, ESTROBO E SIRENE)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US$ 273,9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Alinhamento Gearbox e Reparo Vazamento Mancal do GeradorGTG4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US$ 250,0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 END/TESTE FUNCIONAL GUINDASTES ABS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US$ 248,4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 PERIODICA TURRET &amp; SUBSTITUIÇÃO DOS ESTOJOS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US$ 236,1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Trimestral de Análise de Cupons de Corrosão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US$ 220,0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p/ substituir pecas UPS A/B/Tcom (MATERIAL)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US$ 211,1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88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US$ 6,9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OPEX, status 'Contar'/'TA', restrito às áreas priorizadas, excl. Desenvolvimento de Produção. Total nessas áreas: US$ 17,4 mi.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CON - Construção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4 escopos · total US$ 4,1 mi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US$ 2,2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Andaime + Habitat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US$ 505,5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Macgyver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US$ 26,3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'CON - Construção', ativo = 'FPSO Frade',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INT - Integridade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17 escopos · total US$ 3,0 mi · parte 1 de 2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Reparos Definitivos - Compósito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US$ 960,0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CUI - Remoção, inspeção e Reinstalação do Isolamento térmico de 26 vasos.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US$ 516,0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Ensaios Avançados para inspeção interna em atendimento ao plano de inspeção RBI / INI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US$ 280,0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DROPS FPSO FRADE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US$ 275,0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Trimestral de Análise de Cupons de Corrosão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US$ 220,0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Calibração de PSV's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US$ 180,0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 de Dureza - Juntas Soldadas Sujeitas a H2S - Wahoo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US$ 140,0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INSPEÇÕES END ESTRUTURAS TOPSIDE FPSO FRADE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US$ 87,5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LGI FPSO FRADE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US$ 87,5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'INT - Integridade', ativo = 'FPSO Frade',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INT - Integridade · FPSO Frade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17 escopos · total US$ 3,0 mi · parte 2 de 2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PFP ESTRUTURAS TOPSIDE FPSO FRADE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US$ 62,5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 Termográfica - Emissão Fugitiva - Convencional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US$ 55,0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NR12 FPSO FRADE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Apoio Auditoria IBP para Calibração de PSV/PIs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Periódica no Sistema de Tubulação ST-109 - Nitrogênio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US$ 35,0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Interna para Recertificação SPIE Frade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de Recertificação SPIE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Anual PFP - Proteção Passiva Contra Fogo - FPSO Frade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'INT - Integridade', ativo = 'FPSO Frade',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CAPEX · TBMT + Polvo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maiores escopos de CAPEX nas áreas priorizadas (Manutenção, Suporte Técnico, Confiabilidade, Integridade, Naval, Construção, Projetos) · total nessas áreas: US$ 8,1 mi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GTG B + MANUTENÇÃO GERADOR 25KH GTG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US$ 4,8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Retrofit do Motor - Bomba de Incêndio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Polvo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US$ 609,0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Revitalização do compressor de Ar de Instrumento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Polvo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US$ 544,8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 novos Detectores de Gás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Polvo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US$ 447,3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Novas Destiladoras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US$ 411,9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NR13 - MBK-1130 (DEHYDRATOR) - IKM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 Sensores de Hidrogênio nas Salas de Baterias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US$ 258,6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NR13 - MBK-1130 (DEHYDRATOR) - AASJ &amp; INTERNOS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US$ 210,0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 DE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da 2ª bomba 30K para caldeira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US$ 196,6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CAPEX, status 'Contar'/'TA', restrito às áreas priorizadas acima, excl. Desenvolvimento de Produção. Soma do top 10: US$ 8,0 mi (98,8% do CAPEX nessas áreas).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· TBMT + Polvo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· próximos escopos por valor (parte 2) · nas áreas priorizadas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NR13 - MBK-1130 (DEHYDRATOR) - VENDOR PINTURA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Mangotinhos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Bomba de Skimming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US$ 12,7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CAPEX, status 'Contar'/'TA', restrito às áreas priorizadas, excl. Desenvolvimento de Produção. Total nessas áreas: US$ 8,1 mi.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OPEX · TBMT + Polvo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maiores escopos de OPEX nas áreas priorizadas (Manutenção, Suporte Técnico, Confiabilidade, Integridade, Naval, Construção, Projetos) · total nessas áreas: US$ 22,8 mi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 USINA AGGREKO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M5 - Time de Construção - Instalações (Fabric, Constr e Mont.)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Dilúvio (FW e FF) - Troca de Tubulações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Mergulho - Tamponamento da caixa de 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US$ 950,0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UWILD - Casco e Amarra rasa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M5 - Time de Construção - Pintura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US$ 651,6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de material Automação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Polvo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US$ 628,8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Fabricação e Elaboração de isométrico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US$ 624,0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UWILD - Amarra profunda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US$ 620,0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Reparo e Retorno de Itens de Mecânica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US$ 610,5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OPEX, status 'Contar'/'TA', restrito às áreas priorizadas acima, excl. Desenvolvimento de Produção. Soma do top 10: US$ 9,5 mi (41,5% do OPEX nessas áreas).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· TBMT + Polvo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· próximos escopos por valor (parte 2) · nas áreas priorizadas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Apoio à Manutenção - Time de Construção - Instalações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Polvo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Apoio à Manutenção - Time de Construção - Instalações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M5 - Time de Construção - Instalações (Fabric, Constr e Mont.)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Polvo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US$ 553,4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de Sistema de Tubulação - 13 Sistemas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US$ 550,0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de material Automação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US$ 480,0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M5 - Time de Construção - Pintura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Polvo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US$ 456,0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QUINQUENAL DE GUINDASTE NORTE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Polvo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US$ 372,5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QUINQUENAL DE GUINDASTE SUL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Polvo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US$ 372,5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QUINQUENAL DE GUINDASTE BOMBORDO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US$ 344,2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normatização de DTPs - FPSO Bravo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US$ 285,0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8A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154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US$ 8,7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OPEX, status 'Contar'/'TA', restrito às áreas priorizadas, excl. Desenvolvimento de Produção. Total nessas áreas: US$ 22,8 mi.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CON - Construção · FPSO Bravo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12 escopos · total US$ 5,1 mi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M5 - Time de Construção - Instalações (Fabric, Constr e Mont.)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Dilúvio (FW e FF) - Troca de Tubulações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M5 - Time de Construção - Pintura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US$ 651,6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Fabricação e Elaboração de isométrico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US$ 624,0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M5 - Time de Construção - Andaime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US$ 252,0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NR13 HBG-1110B1 (CRUDE/CRUDE B1) - AASJ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US$ 238,0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NR13 HBG-1020B (CRUDE HEATER)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US$ 184,4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M5 - Time de Construção - Isolamento Térmico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US$ 180,0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NR13 HBG-1110B2 (CRUDE/CRUDE B2)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US$ 152,0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NR13 MBD-1025 (SEPARADOR DE TESTE)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US$ 138,0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NR13 HBG-1110B1 (CRUDE/CRUDE B1) - IKM OU SIMILAR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US$ 133,9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Onshore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US$ 77,0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'CON - Construção', ativo = 'FPSO Bravo',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INT - Integridade · FPSO Bravo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12 escopos · total US$ 1,5 mi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de Sistema de Tubulação - 13 Sistemas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US$ 550,0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normatização de DTPs - FPSO Bravo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US$ 285,0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Inspeção / Calibração de PSVs - FPSO Bravo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US$ 119,9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Ensaios Avançados para inspeção interna em atendimento plano de inspeção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US$ 100,0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NR12 FPSO BRAVO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US$ 100,0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LGI FPSO BRAVO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US$ 87,5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Revalidação de RIs Críticas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US$ 70,9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US$ 56,2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Cupom de Corrosão - FPSO Bravo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US$ 53,3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Apoio a Auditoria IBP para Calibração de PSV/PIs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interna para recertificação SPIE Bravo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US$ 12,2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de Recertificação SPIE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'INT - Integridade', ativo = 'FPSO Bravo',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CON - Construção · Polvo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6 escopos · total US$ 1,7 mi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M5 - Time de Construção - Instalações (Fabric, Constr e Mont.)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US$ 553,4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M5 - Time de Construção - Pintura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US$ 456,0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Fabricação e Elaboração de isométrico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US$ 273,2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M5 - Time de Construção - Andaime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US$ 156,0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Reparo do Helideck (Cald. e Pintura)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US$ 138,0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Onshore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US$ 77,0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'CON - Construção', ativo = 'Polvo A',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INT - Integridade · Polvo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6 escopos · total US$ 294,0 mil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de Sistema de Tubulação - 8 Sistemas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US$ 135,6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Cupom de Corrosão - WHP Polvo-A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US$ 78,0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Inspeção / Calibração de PSVs - WHP Polvo-A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normatização de DTPs - WHP Polvo-A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US$ 28,4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Anual PFP - Proteção Passiva Contra Fogo - WHP Polvo-A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'INT - Integridade', ativo = 'Polvo A',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B2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CAPEX · Peregrino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maiores escopos de CAPEX nas áreas priorizadas (Manutenção, Suporte Técnico, Confiabilidade, Integridade, Naval, Construção, Projetos) · total nessas áreas: US$ 19,6 mi</a:t>
            </a:r>
            <a:endParaRPr lang="en-US" sz="1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da lança do Guindaste Oeste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US$ 3,5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PLC das Turbinas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de obsolescência do INSUM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Suporte Técnico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de obsolescência do INSUM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Suporte Técnico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Overhaul da Bomba Framo (SWLP) -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US$ 1,3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Overhaul da STG-B e Gerador Elétrico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US$ 698,8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de Seções do Mangote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US$ 620,0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dos Transformadores dos Coalescers — DF3 para DF4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US$ 590,2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do PAGA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US$ 564,1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PLC Caldeiras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US$ 520,4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CAPEX, status 'Contar'/'TA', restrito às áreas priorizadas acima, excl. Desenvolvimento de Produção. Soma do top 10: US$ 15,0 mi (76,4% do CAPEX nessas áreas).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B2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· Peregrino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· próximos escopos por valor (parte 2) · nas áreas priorizadas</a:t>
            </a:r>
            <a:endParaRPr lang="en-US" sz="12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Retrofit da Produced Water Transfer Pumps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US$ 376,4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detectores H2S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US$ 367,4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 do ACS-1000 em drive produtor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US$ 350,0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800XA - Fase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US$ 328,2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800XA - Fase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US$ 328,2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 nova unidade de Osmose Reversa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US$ 328,2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Caldeira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US$ 324,4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800XA - Fase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US$ 305,7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800XA - Fase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US$ 305,7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800XA - Fase 3 Firmware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US$ 268,3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7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US$ 1,3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CAPEX, status 'Contar'/'TA', restrito às áreas priorizadas, excl. Desenvolvimento de Produção. Total nessas áreas: US$ 19,6 mi.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B2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OPEX · Peregrino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maiores escopos de OPEX nas áreas priorizadas (Manutenção, Suporte Técnico, Confiabilidade, Integridade, Naval, Construção, Projetos) · total nessas áreas: US$ 28,1 mi</a:t>
            </a:r>
            <a:endParaRPr lang="en-US" sz="1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TA: Substituição/ Reparo da linha de Offloading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US$ 2,6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Instalações (Fabric, Constr e Mont.)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Interna NR-13 FPSO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US$ 1,2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Tanques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US$ 1,2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normatização de reparos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Gerenciamento de Corrosão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US$ 945,6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Instalações (Fabric, Constr e Mont.)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US$ 833,0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Instalações (Fabric, Constr, Mont e RTI.)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US$ 795,4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Gerenciamento de Corrosão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US$ 709,2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Pintura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US$ 694,9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OPEX, status 'Contar'/'TA', restrito às áreas priorizadas acima, excl. Desenvolvimento de Produção. Soma do top 10: US$ 12,0 mi (42,7% do OPEX nessas áreas).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B2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· Peregrino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· próximos escopos por valor (parte 2) · nas áreas priorizadas</a:t>
            </a:r>
            <a:endParaRPr lang="en-US" sz="12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3374136"/>
                <a:gridCol w="1574597"/>
                <a:gridCol w="2136953"/>
                <a:gridCol w="2024482"/>
                <a:gridCol w="1574597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D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Instalações (Fabric, Constr e Mont.)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US$ 616,2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Inspeção de sistemas de tubulação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US$ 567,0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Inspeção de sistemas de tubulação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US$ 567,0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UWILD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NR-13 PLAT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US$ 480,6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Andaime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US$ 408,0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Substituição/ Reparo dos Caissons de FWP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US$ 401,1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de Jackets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de Jackets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Jackets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US$ 400,0 mil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8803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192 escopos (itens de menor valor individual)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US$ 11,3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Cost Allocation = OPEX, status 'Contar'/'TA', restrito às áreas priorizadas, excl. Desenvolvimento de Produção. Total nessas áreas: US$ 28,1 mi.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CON - Construção · FPSO Peregrino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5 escopos · total US$ 6,8 mi</a:t>
            </a:r>
            <a:endParaRPr lang="en-US" sz="12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TA: Substituição/ Reparo da linha de Offloading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US$ 2,6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Instalações (Fabric, Constr e Mont.)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Interna NR-13 FPSO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US$ 1,2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Pintura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US$ 694,9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Andaime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US$ 408,0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'CON - Construção', ativo = 'FPSO Peregrino',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INT - Integridade · FPSO Peregrino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14 escopos · total US$ 2,8 mi</a:t>
            </a:r>
            <a:endParaRPr lang="en-US" sz="12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normatização de reparos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Inspeção Sistemas de Tubulações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US$ 373,8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RBI, ENDs complementares + Especiais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US$ 206,8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DROPS FPSO PRG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US$ 200,0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calibração de PSV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US$ 189,1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Verificação de RTI's + Inspeção de Reparos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US$ 166,4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NR12 FPSO PRG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US$ 162,5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Inspeção e Manutenção de PFP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US$ 99,4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INSPEÇÕES END ESTRUTURAS TOPSIDE FPSO PRG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US$ 87,5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LGI FPSO PRG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US$ 87,5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Inspeção Caldeira Marinha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cupom de corrosão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US$ 33,4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ISQ - Interna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US$ 12,2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IBP - Externa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'INT - Integridade', ativo = 'FPSO Peregrino',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CON - Construção · PLAT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5 escopos · total US$ 2,1 mi</a:t>
            </a:r>
            <a:endParaRPr lang="en-US" sz="12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Instalações (Fabric, Constr e Mont.)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US$ 833,0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Gerenciamento de Corrosão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US$ 709,2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Andaime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US$ 312,0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NR-13 PLAT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US$ 250,0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RTI - Laser Scan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US$ 32,2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'CON - Construção', ativo = 'PLAT A',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INT - Integridade · PLAT 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13 escopos · total US$ 922,8 mil</a:t>
            </a:r>
            <a:endParaRPr lang="en-US" sz="12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do Caisson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US$ 200,0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normatização de reparos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US$ 182,0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PFP ESTRUTURAS TOPSIDE WHPA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US$ 93,7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INSPEÇÕES END ESTRUTURAS TOPSIDE WHPA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US$ 87,5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LGI WHPA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US$ 65,6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US$ 65,4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ENDs especiais e complementares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US$ 55,0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calibração de PSV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US$ 52,9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NR12 WHPA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cupom de corrosão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US$ 43,6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interna SPIE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US$ 12,2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externa SPIE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690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Inspeção de PFP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'INT - Integridade', ativo = 'PLAT A',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CON - Construção · PLAT 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6 escopos · total US$ 2,8 mi</a:t>
            </a:r>
            <a:endParaRPr lang="en-US" sz="12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Gerenciamento de Corrosão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US$ 945,6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Instalações (Fabric, Constr, Mont e RTI.)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US$ 795,4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Substituição/ Reparo dos Caissons de FWP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US$ 401,1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NR-13 PLAT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US$ 358,9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Andaime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US$ 312,0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RTI - Laser Scan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US$ 32,2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'CON - Construção', ativo = 'PLAT B',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INT - Integridade · PLAT 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10 escopos · total US$ 1,2 mi</a:t>
            </a:r>
            <a:endParaRPr lang="en-US" sz="12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Inspeção de sistemas de tubulação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US$ 567,0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Caisson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US$ 200,0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normatização de reparos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US$ 182,0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US$ 65,4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ENDs especiais e complementares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US$ 55,0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calibração de PSV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US$ 52,9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cupom de corrosão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US$ 43,6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interna SPIE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US$ 12,2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externa SPIE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Inspeção de PFP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'INT - Integridade', ativo = 'PLAT B',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CON - Construção · PLAT C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4 escopos · total US$ 1,6 mi</a:t>
            </a:r>
            <a:endParaRPr lang="en-US" sz="12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Instalações (Fabric, Constr e Mont.)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US$ 616,2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NR-13 PLAT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US$ 480,6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Andaime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US$ 312,0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Gerenciamento de Corrosão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US$ 221,4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'CON - Construção', ativo = 'PLAT C',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INT - Integridade · PLAT C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2027 · OPEX 'Em análise' (status 'Contar'/'TA') · 10 escopos · total US$ 1,2 mi</a:t>
            </a:r>
            <a:endParaRPr lang="en-US" sz="12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"/>
                <a:gridCol w="6298387"/>
                <a:gridCol w="2474366"/>
                <a:gridCol w="191201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Inspeção de sistemas de tubulação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US$ 567,0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Caisson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US$ 200,0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normatização de reparos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US$ 182,0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US$ 65,4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calibração de PSV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US$ 52,9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cupom de corrosão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US$ 43,6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de ENDs especiais e complementares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US$ 36,4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interna SPIE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US$ 12,2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externa SPIE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US$ 9,5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Inspeção de PFP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US$ 5,4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'Geral - Em análise' · Alocação de Custo = OPEX, status 'Contar'/'TA', área requisitante = 'INT - Integridade', ativo = 'PLAT C', excl. Desenvolvimento de Produção.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Despriorizados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recusados (aba 'Recusadas') · 455 escopos no total · CAPEX + OPEX</a:t>
            </a:r>
            <a:endParaRPr lang="en-US" sz="12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498848"/>
                <a:gridCol w="1124712"/>
                <a:gridCol w="1912010"/>
                <a:gridCol w="1687068"/>
                <a:gridCol w="674827"/>
                <a:gridCol w="134965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Descarte de Água - Nova Flotadora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US$ 7,8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Frade 100K (Fase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US$ 5,4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de 2ª bomba Sulzer de injeção em Peregrino WHP-A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US$ 4,5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Tecnológica das GTGs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US$ 3,6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do sistema de controle das TGs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US$ 3,4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 - Troca da IHM das Turbinas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US$ 3,2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das bobinas do transformador do MC-A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US$ 3,0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- Subsea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Desenvolvimento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US$ 3,0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OVERHAUL DA TG-C (WORKPACK INSTALAÇÃO HSPT + ALINHAMENTO + COMISSIONAMENTO)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US$ 2,8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Revitalização da TG-B (WORKPACK Turbina HSPT + Alinhamento + Ajustes)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US$ 2,8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DA AMARRA 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US$ 2,8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Centrífuga Diesel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US$ 2,7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Revitalização da TG-B (WORKPACK Instalação da Turbina GG)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US$ 2,7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[LOGISTICA] - Aeronaves e Deslocamento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US$ 2,5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Fornecimento de Diesel Poços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US$ 2,5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440 escopos despriorizados (itens de menor valor individual)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US$ 105,9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'Recusadas' de cada arquivo · itens não aprovados para o plano 2027, agrupados por escopo. Total despriorizado (CAPEX+OPEX): US$ 158,8 mi. Não compõe o CAPEX/OPEX do plano.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Despriorizados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· próximos escopos por valor (parte 2)</a:t>
            </a:r>
            <a:endParaRPr lang="en-US" sz="12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498848"/>
                <a:gridCol w="1124712"/>
                <a:gridCol w="1912010"/>
                <a:gridCol w="1687068"/>
                <a:gridCol w="674827"/>
                <a:gridCol w="134965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Mão de obra para execução de atividade  - Caldeiraria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US$ 2,1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Metering Diesel da TG's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US$ 2,1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CRD Araruama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Meio Ambiente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Mão de obra para execução de atividade  - Andaime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da Eletrocloradora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US$ 2,0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Construção - Instalações (Fabric, Constr e Mont.)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- Construção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US$ 1,8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metering de gás e Diesel- GTGs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US$ 1,7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linha offloading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- Integridade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US$ 1,7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REVAMP IGG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US$ 1,6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do Sistema PA/GA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 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US$ 1,6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Mecânica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US$ 1,5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de Novos Detectores de Gás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REVAMP CARGO PUMP - Nº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Substituir filtros grossos e finos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Swivel - Pacote Hidráulico (OneSubsea)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US$ 1,4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425 escopos despriorizados (itens de menor valor individual)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US$ 80,2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'Recusadas' de cada arquivo · itens não aprovados para o plano 2027, agrupados por escopo. Total despriorizado (CAPEX+OPEX): US$ 158,8 mi. Não compõe o CAPEX/OPEX do plano.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Despriorizados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escopos despriorizados · parte 3 (posições 31-40)</a:t>
            </a:r>
            <a:endParaRPr lang="en-US" sz="12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498848"/>
                <a:gridCol w="1124712"/>
                <a:gridCol w="1912010"/>
                <a:gridCol w="1687068"/>
                <a:gridCol w="674827"/>
                <a:gridCol w="134965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da Membrana do Sistema de Geração de Nitrogênio Alpha e Bravo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 Manutenções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US$ 1,3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Caldeiraria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US$ 1,2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Mão de obra para execução de atividade  - Mecânica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US$ 1,2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Mão de obra para execução de atividade  - Pintura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US$ 1,2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Combate a Incêndio - Compra e Instalação de Cabines de Dilúvio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Segurança Ocupacional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ALUGUEL EQUIPAMENTOS DE MERGULHO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 - Naval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filosofia de dosagem do DSS no riser balcony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US$ 1,1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Desmobilização - 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US$ 1,0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Mobilização - 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Peregrino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US$ 1,0 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Elétrica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US$ 982,4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415 escopos despriorizados (itens de menor valor individual)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US$ 69,0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'Recusadas' de cada arquivo · itens não aprovados para o plano 2027, agrupados por escopo. Total despriorizado (CAPEX+OPEX): US$ 158,8 mi. Não compõe o CAPEX/OPEX do plano.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7A2E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Escopos Despriorizados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escopos despriorizados · parte 4 (posições 41-50)</a:t>
            </a:r>
            <a:endParaRPr lang="en-US" sz="12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498848"/>
                <a:gridCol w="1124712"/>
                <a:gridCol w="1912010"/>
                <a:gridCol w="1687068"/>
                <a:gridCol w="674827"/>
                <a:gridCol w="1349654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ESCOPO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REQUISITANTE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 Laboratório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US$ 944,0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Filtros grossos - água injetada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US$ 906,0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 Estar/Segurança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US$ 876,9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Revitalização da TG-B (WORKPACK RECOMPOSIÇÃO DO SISTEMA DE AR DE INST., COOLING MEDIUM, ÓLEO MINERAL E SINTÉTICO)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 – Manutenção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Rotina Operacional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US$ 873,6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Caldeiraria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US$ 816,1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Eletrocloradora + Bomba para sequestrante de O2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Processos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US$ 772,0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 TA - Andaime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- 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US$ 768,8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Dissolvedor de borra: ChampionX (teste longa duração – 3 meses)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Químicos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de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US$ 750,6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Cloração - 2 unidades Chloropac SB3K + implantação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Bravo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P&amp;Q - Químicos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US$ 705,9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[MF] Aquisição de trechos reto spare Gas Lift (10 trechos)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FPSO Forte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– Medição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Regulatório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US$ 700,0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5"/>
                    </a:solidFill>
                  </a:tcPr>
                </a:tc>
              </a:tr>
              <a:tr h="256032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 405 escopos despriorizados (itens de menor valor individual)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i="1" dirty="0">
                          <a:solidFill>
                            <a:srgbClr val="0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US$ 60,9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2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'Recusadas' de cada arquivo · itens não aprovados para o plano 2027, agrupados por escopo. Total despriorizado (CAPEX+OPEX): US$ 158,8 mi. Não compõe o CAPEX/OPEX do plano.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· CAMPO PEREGRINO, CLUSTER SUL, FPSO FRADE &amp; FPSO FORTE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48095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Trabalho 2027 · Confidencial - Uso Interno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2026-10-23T14:15:21Z</dcterms:created>
  <dcterms:modified xsi:type="dcterms:W3CDTF">2026-10-23T14:15:21Z</dcterms:modified>
</cp:coreProperties>
</file>