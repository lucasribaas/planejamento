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266a627-fb8f-f67d-f438-de07a5a783a3}">
          <p14:sldIdLst>
            <p14:sldId id="256"/>
          </p14:sldIdLst>
        </p14:section>
        <p14:section name="Visão geral" id="{21ba38ee-c82e-cb48-f3ab-8f2487b7f2f8}">
          <p14:sldIdLst>
            <p14:sldId id="257"/>
          </p14:sldIdLst>
        </p14:section>
        <p14:section name="Responsabilidades" id="{140c5754-3daa-a646-2b2f-943a4c4683c2}">
          <p14:sldIdLst>
            <p14:sldId id="258"/>
            <p14:sldId id="259"/>
            <p14:sldId id="260"/>
            <p14:sldId id="261"/>
          </p14:sldIdLst>
        </p14:section>
        <p14:section name="Limites da função" id="{24ce77e9-5b36-e678-439a-8e09288903ce}">
          <p14:sldIdLst>
            <p14:sldId id="262"/>
          </p14:sldIdLst>
        </p14:section>
        <p14:section name="Fluxo da manutenção" id="{a52d190f-3f66-6349-c216-8e6c01b8bf6a}">
          <p14:sldIdLst>
            <p14:sldId id="263"/>
            <p14:sldId id="264"/>
            <p14:sldId id="265"/>
          </p14:sldIdLst>
        </p14:section>
        <p14:section name="Encerramento" id="{d724d2a5-def5-1c5e-49d5-654f7fd9421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APA">
    <p:bg>
      <p:bgPr>
        <a:solidFill>
          <a:srgbClr val="2C2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PRIO" descr="/tmp/claude-0/-workspace-Planejamento/3b093f77-7d96-5635-93e5-fcde775de1e7/scratchpad/tpl/m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950976"/>
            <a:ext cx="2734056" cy="612648"/>
          </a:xfrm>
          <a:prstGeom prst="rect">
            <a:avLst/>
          </a:prstGeom>
        </p:spPr>
      </p:pic>
      <p:pic>
        <p:nvPicPr>
          <p:cNvPr id="3" name="Polvo verde" descr="/tmp/claude-0/-workspace-Planejamento/3b093f77-7d96-5635-93e5-fcde775de1e7/scratchpad/tpl/m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5256" y="6099048"/>
            <a:ext cx="5001768" cy="323697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O_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olvo azul" descr="/tmp/claude-0/-workspace-Planejamento/3b093f77-7d96-5635-93e5-fcde775de1e7/scratchpad/tpl/m/ppt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685800"/>
            <a:ext cx="822960" cy="530352"/>
          </a:xfrm>
          <a:prstGeom prst="rect">
            <a:avLst/>
          </a:prstGeom>
        </p:spPr>
      </p:pic>
      <p:sp>
        <p:nvSpPr>
          <p:cNvPr id="3" name="Selo"/>
          <p:cNvSpPr/>
          <p:nvPr/>
        </p:nvSpPr>
        <p:spPr>
          <a:xfrm>
            <a:off x="13716000" y="832104"/>
            <a:ext cx="3621024" cy="1234440"/>
          </a:xfrm>
          <a:prstGeom prst="rect">
            <a:avLst/>
          </a:prstGeom>
          <a:solidFill>
            <a:srgbClr val="F6F5FA"/>
          </a:solidFill>
          <a:ln/>
        </p:spPr>
      </p:sp>
      <p:pic>
        <p:nvPicPr>
          <p:cNvPr id="4" name="Logo PRIO" descr="/tmp/claude-0/-workspace-Planejamento/3b093f77-7d96-5635-93e5-fcde775de1e7/scratchpad/x/ppt/media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520" y="1216152"/>
            <a:ext cx="2157984" cy="475488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PLANEJAMENTO E CONTROLE DE MANUTENÇÃO</a:t>
            </a:r>
            <a:endParaRPr lang="en-US" sz="6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Rotina do Planejador de Manutenção Offshore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VISÃO GERAL</a:t>
            </a:r>
            <a:endParaRPr lang="en-US" sz="5400" dirty="0"/>
          </a:p>
        </p:txBody>
      </p:sp>
      <p:sp>
        <p:nvSpPr>
          <p:cNvPr id="3" name="Cartão PAPEL DO PLANEJADOR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</p:sp>
      <p:sp>
        <p:nvSpPr>
          <p:cNvPr id="4" name="Rótulo PAPEL DO PLANEJADOR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PAPEL DO PLANEJADOR</a:t>
            </a:r>
            <a:endParaRPr lang="en-US" sz="1600" dirty="0"/>
          </a:p>
        </p:txBody>
      </p:sp>
      <p:sp>
        <p:nvSpPr>
          <p:cNvPr id="5" name="Texto PAPEL DO PLANEJADOR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Conecta campo, supervisão e execução para manter a manutenção planejada e sob controle.</a:t>
            </a:r>
            <a:endParaRPr lang="en-US" sz="2200" dirty="0"/>
          </a:p>
        </p:txBody>
      </p:sp>
      <p:sp>
        <p:nvSpPr>
          <p:cNvPr id="6" name="Cartão FRENTES DE ATUAÇÃ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</p:sp>
      <p:sp>
        <p:nvSpPr>
          <p:cNvPr id="7" name="Rótulo FRENTES DE ATUAÇÃ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FRENTES DE ATUAÇÃO</a:t>
            </a:r>
            <a:endParaRPr lang="en-US" sz="1600" dirty="0"/>
          </a:p>
        </p:txBody>
      </p:sp>
      <p:sp>
        <p:nvSpPr>
          <p:cNvPr id="8" name="Número FRENTES DE ATUAÇÃ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9" name="Texto FRENTES DE ATUAÇÃ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Notas e backlog, ciclo de planejamento, rotina, PRIO Way e SAP, materiais e custos.</a:t>
            </a:r>
            <a:endParaRPr lang="en-US" sz="1800" dirty="0"/>
          </a:p>
        </p:txBody>
      </p:sp>
      <p:sp>
        <p:nvSpPr>
          <p:cNvPr id="10" name="Rótulo RESPONSABILIDAD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RESPONSABILIDADES</a:t>
            </a:r>
            <a:endParaRPr lang="en-US" sz="1600" dirty="0"/>
          </a:p>
        </p:txBody>
      </p:sp>
      <p:sp>
        <p:nvSpPr>
          <p:cNvPr id="11" name="Cartão Notas e backlog"/>
          <p:cNvSpPr/>
          <p:nvPr/>
        </p:nvSpPr>
        <p:spPr>
          <a:xfrm>
            <a:off x="6967728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2" name="Título Notas 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e backlog</a:t>
            </a:r>
            <a:endParaRPr lang="en-US" sz="1800" dirty="0"/>
          </a:p>
        </p:txBody>
      </p:sp>
      <p:sp>
        <p:nvSpPr>
          <p:cNvPr id="13" name="Texto Notas e backlog"/>
          <p:cNvSpPr txBox="1"/>
          <p:nvPr/>
        </p:nvSpPr>
        <p:spPr>
          <a:xfrm>
            <a:off x="7242048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Detalhamento de notas em campo e limpeza do backlog corretivo.</a:t>
            </a:r>
            <a:endParaRPr lang="en-US" sz="1800" dirty="0"/>
          </a:p>
        </p:txBody>
      </p:sp>
      <p:sp>
        <p:nvSpPr>
          <p:cNvPr id="14" name="Cartão Ciclo de planejamento"/>
          <p:cNvSpPr/>
          <p:nvPr/>
        </p:nvSpPr>
        <p:spPr>
          <a:xfrm>
            <a:off x="12252960" y="306324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5" name="Título Ciclo de planej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Ciclo de planejamento</a:t>
            </a:r>
            <a:endParaRPr lang="en-US" sz="1800" dirty="0"/>
          </a:p>
        </p:txBody>
      </p:sp>
      <p:sp>
        <p:nvSpPr>
          <p:cNvPr id="16" name="Texto Ciclo de planejamento"/>
          <p:cNvSpPr txBox="1"/>
          <p:nvPr/>
        </p:nvSpPr>
        <p:spPr>
          <a:xfrm>
            <a:off x="12527280" y="377647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programação semanal e diária, com aderência por etapa.</a:t>
            </a:r>
            <a:endParaRPr lang="en-US" sz="1800" dirty="0"/>
          </a:p>
        </p:txBody>
      </p:sp>
      <p:sp>
        <p:nvSpPr>
          <p:cNvPr id="17" name="Cartão Rotina e indicadores"/>
          <p:cNvSpPr/>
          <p:nvPr/>
        </p:nvSpPr>
        <p:spPr>
          <a:xfrm>
            <a:off x="6967728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8" name="Título Rotina e indicadores"/>
          <p:cNvSpPr txBox="1"/>
          <p:nvPr/>
        </p:nvSpPr>
        <p:spPr>
          <a:xfrm>
            <a:off x="7242048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Rotina e indicadores</a:t>
            </a:r>
            <a:endParaRPr lang="en-US" sz="1800" dirty="0"/>
          </a:p>
        </p:txBody>
      </p:sp>
      <p:sp>
        <p:nvSpPr>
          <p:cNvPr id="19" name="Texto Rotina e indicadores"/>
          <p:cNvSpPr txBox="1"/>
          <p:nvPr/>
        </p:nvSpPr>
        <p:spPr>
          <a:xfrm>
            <a:off x="7242048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Follow-up de execução e indicadores de preventiva, corretiva e RDPs.</a:t>
            </a:r>
            <a:endParaRPr lang="en-US" sz="1800" dirty="0"/>
          </a:p>
        </p:txBody>
      </p:sp>
      <p:sp>
        <p:nvSpPr>
          <p:cNvPr id="20" name="Cartão PRIO Way e SAP"/>
          <p:cNvSpPr/>
          <p:nvPr/>
        </p:nvSpPr>
        <p:spPr>
          <a:xfrm>
            <a:off x="12252960" y="530352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1" name="Título PRIO Way e SAP"/>
          <p:cNvSpPr txBox="1"/>
          <p:nvPr/>
        </p:nvSpPr>
        <p:spPr>
          <a:xfrm>
            <a:off x="12527280" y="55321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 Way e SAP</a:t>
            </a:r>
            <a:endParaRPr lang="en-US" sz="1800" dirty="0"/>
          </a:p>
        </p:txBody>
      </p:sp>
      <p:sp>
        <p:nvSpPr>
          <p:cNvPr id="22" name="Texto PRIO Way e SAP"/>
          <p:cNvSpPr txBox="1"/>
          <p:nvPr/>
        </p:nvSpPr>
        <p:spPr>
          <a:xfrm>
            <a:off x="12527280" y="601675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Pilar de manutenção no ativo e ponto focal SAP da unidade.</a:t>
            </a:r>
            <a:endParaRPr lang="en-US" sz="1800" dirty="0"/>
          </a:p>
        </p:txBody>
      </p:sp>
      <p:sp>
        <p:nvSpPr>
          <p:cNvPr id="23" name="Cartão Materiais e serviços"/>
          <p:cNvSpPr/>
          <p:nvPr/>
        </p:nvSpPr>
        <p:spPr>
          <a:xfrm>
            <a:off x="6967728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4" name="Título Materiais e serviços"/>
          <p:cNvSpPr txBox="1"/>
          <p:nvPr/>
        </p:nvSpPr>
        <p:spPr>
          <a:xfrm>
            <a:off x="7242048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Materiais e serviços</a:t>
            </a:r>
            <a:endParaRPr lang="en-US" sz="1800" dirty="0"/>
          </a:p>
        </p:txBody>
      </p:sp>
      <p:sp>
        <p:nvSpPr>
          <p:cNvPr id="25" name="Texto Materiais e serviços"/>
          <p:cNvSpPr txBox="1"/>
          <p:nvPr/>
        </p:nvSpPr>
        <p:spPr>
          <a:xfrm>
            <a:off x="7242048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Cadastro, compra, follow-up e equipamentos em reparo externo.</a:t>
            </a:r>
            <a:endParaRPr lang="en-US" sz="1800" dirty="0"/>
          </a:p>
        </p:txBody>
      </p:sp>
      <p:sp>
        <p:nvSpPr>
          <p:cNvPr id="26" name="Cartão Gestão de custos"/>
          <p:cNvSpPr/>
          <p:nvPr/>
        </p:nvSpPr>
        <p:spPr>
          <a:xfrm>
            <a:off x="12252960" y="7543800"/>
            <a:ext cx="5084064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7" name="Título Gestão de custos"/>
          <p:cNvSpPr txBox="1"/>
          <p:nvPr/>
        </p:nvSpPr>
        <p:spPr>
          <a:xfrm>
            <a:off x="12527280" y="777240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Gestão de custos</a:t>
            </a:r>
            <a:endParaRPr lang="en-US" sz="1800" dirty="0"/>
          </a:p>
        </p:txBody>
      </p:sp>
      <p:sp>
        <p:nvSpPr>
          <p:cNvPr id="28" name="Texto Gestão de custos"/>
          <p:cNvSpPr txBox="1"/>
          <p:nvPr/>
        </p:nvSpPr>
        <p:spPr>
          <a:xfrm>
            <a:off x="12527280" y="8257032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 e apoio ao orçamento.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NOTAS E BACKLOG</a:t>
            </a:r>
            <a:endParaRPr lang="en-US" sz="5400" dirty="0"/>
          </a:p>
        </p:txBody>
      </p:sp>
      <p:sp>
        <p:nvSpPr>
          <p:cNvPr id="3" name="Cartão DETALHAMENTO DE NOTAS"/>
          <p:cNvSpPr/>
          <p:nvPr/>
        </p:nvSpPr>
        <p:spPr>
          <a:xfrm>
            <a:off x="950976" y="2624328"/>
            <a:ext cx="5715000" cy="6894576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/>
        </p:spPr>
      </p:sp>
      <p:sp>
        <p:nvSpPr>
          <p:cNvPr id="4" name="Rótulo DETALHAMENTO DE NOTA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DETALHAMENTO DE NOTAS</a:t>
            </a:r>
            <a:endParaRPr lang="en-US" sz="1600" dirty="0"/>
          </a:p>
        </p:txBody>
      </p:sp>
      <p:sp>
        <p:nvSpPr>
          <p:cNvPr id="5" name="Texto DETALHAMENTO DE NOTAS"/>
          <p:cNvSpPr txBox="1"/>
          <p:nvPr/>
        </p:nvSpPr>
        <p:spPr>
          <a:xfrm>
            <a:off x="1335024" y="3493008"/>
            <a:ext cx="4946904" cy="570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Detalhamento de notas corretivas em campo e diariamente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Levantamento de recursos de mão de obra (HH)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Levantamento de ferramentas e recursos específicos (pau de carga, andaime)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Orientações de segurança: observâncias inerentes à execução da manutenção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Apoio técnico: chamar o técnico de manutenção, o operador ou o técnico de segurança, conforme o tipo de nota</a:t>
            </a:r>
            <a:endParaRPr lang="en-US" sz="2000" dirty="0"/>
          </a:p>
        </p:txBody>
      </p:sp>
      <p:sp>
        <p:nvSpPr>
          <p:cNvPr id="6" name="Rótulo GESTÃO DE BACKLOG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BACKLOG</a:t>
            </a:r>
            <a:endParaRPr lang="en-US" sz="1600" dirty="0"/>
          </a:p>
        </p:txBody>
      </p:sp>
      <p:sp>
        <p:nvSpPr>
          <p:cNvPr id="7" name="Cartão Limpeza de backlog"/>
          <p:cNvSpPr/>
          <p:nvPr/>
        </p:nvSpPr>
        <p:spPr>
          <a:xfrm>
            <a:off x="6967728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8" name="Título Limpeza de backlog"/>
          <p:cNvSpPr txBox="1"/>
          <p:nvPr/>
        </p:nvSpPr>
        <p:spPr>
          <a:xfrm>
            <a:off x="7242048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Limpeza de backlog</a:t>
            </a:r>
            <a:endParaRPr lang="en-US" sz="1800" dirty="0"/>
          </a:p>
        </p:txBody>
      </p:sp>
      <p:sp>
        <p:nvSpPr>
          <p:cNvPr id="9" name="Texto Limpeza de backlog"/>
          <p:cNvSpPr txBox="1"/>
          <p:nvPr/>
        </p:nvSpPr>
        <p:spPr>
          <a:xfrm>
            <a:off x="7242048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Limpar ordens corretivas pendentes há mais de 12 semanas, com apoio técnico da supervisão.</a:t>
            </a:r>
            <a:endParaRPr lang="en-US" sz="1800" dirty="0"/>
          </a:p>
        </p:txBody>
      </p:sp>
      <p:sp>
        <p:nvSpPr>
          <p:cNvPr id="10" name="Cartão Notas sem detalhamento"/>
          <p:cNvSpPr/>
          <p:nvPr/>
        </p:nvSpPr>
        <p:spPr>
          <a:xfrm>
            <a:off x="12252960" y="3063240"/>
            <a:ext cx="5084064" cy="2331720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11" name="Título Notas sem detalhamento"/>
          <p:cNvSpPr txBox="1"/>
          <p:nvPr/>
        </p:nvSpPr>
        <p:spPr>
          <a:xfrm>
            <a:off x="12527280" y="3291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Notas sem detalhamento</a:t>
            </a:r>
            <a:endParaRPr lang="en-US" sz="1800" dirty="0"/>
          </a:p>
        </p:txBody>
      </p:sp>
      <p:sp>
        <p:nvSpPr>
          <p:cNvPr id="12" name="Texto Notas sem detalhamento"/>
          <p:cNvSpPr txBox="1"/>
          <p:nvPr/>
        </p:nvSpPr>
        <p:spPr>
          <a:xfrm>
            <a:off x="12527280" y="3776472"/>
            <a:ext cx="4535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Verificar e corrigir notas abertas sem detalhamento, com apoio técnico da supervisão.</a:t>
            </a:r>
            <a:endParaRPr lang="en-US" sz="1800" dirty="0"/>
          </a:p>
        </p:txBody>
      </p:sp>
      <p:sp>
        <p:nvSpPr>
          <p:cNvPr id="13" name="Rótulo INDICADORES DE DESTAQUE"/>
          <p:cNvSpPr txBox="1"/>
          <p:nvPr/>
        </p:nvSpPr>
        <p:spPr>
          <a:xfrm>
            <a:off x="6967728" y="5760720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 DE DESTAQUE</a:t>
            </a:r>
            <a:endParaRPr lang="en-US" sz="1600" dirty="0"/>
          </a:p>
        </p:txBody>
      </p:sp>
      <p:sp>
        <p:nvSpPr>
          <p:cNvPr id="14" name="Indicador Diário"/>
          <p:cNvSpPr/>
          <p:nvPr/>
        </p:nvSpPr>
        <p:spPr>
          <a:xfrm>
            <a:off x="6967728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</p:sp>
      <p:sp>
        <p:nvSpPr>
          <p:cNvPr id="15" name="Valor Diário"/>
          <p:cNvSpPr txBox="1"/>
          <p:nvPr/>
        </p:nvSpPr>
        <p:spPr>
          <a:xfrm>
            <a:off x="7287768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Diário</a:t>
            </a:r>
            <a:endParaRPr lang="en-US" sz="2800" dirty="0"/>
          </a:p>
        </p:txBody>
      </p:sp>
      <p:sp>
        <p:nvSpPr>
          <p:cNvPr id="16" name="Legenda Diário"/>
          <p:cNvSpPr txBox="1"/>
          <p:nvPr/>
        </p:nvSpPr>
        <p:spPr>
          <a:xfrm>
            <a:off x="7287768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Detalhamento de notas em campo</a:t>
            </a:r>
            <a:endParaRPr lang="en-US" sz="1600" dirty="0"/>
          </a:p>
        </p:txBody>
      </p:sp>
      <p:sp>
        <p:nvSpPr>
          <p:cNvPr id="17" name="Indicador &gt; 12 sem"/>
          <p:cNvSpPr/>
          <p:nvPr/>
        </p:nvSpPr>
        <p:spPr>
          <a:xfrm>
            <a:off x="9628632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</p:sp>
      <p:sp>
        <p:nvSpPr>
          <p:cNvPr id="18" name="Valor &amp;gt; 12 sem"/>
          <p:cNvSpPr txBox="1"/>
          <p:nvPr/>
        </p:nvSpPr>
        <p:spPr>
          <a:xfrm>
            <a:off x="9948672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&gt; 12 sem</a:t>
            </a:r>
            <a:endParaRPr lang="en-US" sz="2800" dirty="0"/>
          </a:p>
        </p:txBody>
      </p:sp>
      <p:sp>
        <p:nvSpPr>
          <p:cNvPr id="19" name="Legenda &amp;gt; 12 sem"/>
          <p:cNvSpPr txBox="1"/>
          <p:nvPr/>
        </p:nvSpPr>
        <p:spPr>
          <a:xfrm>
            <a:off x="9948672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Ordens corretivas pendentes a limpar</a:t>
            </a:r>
            <a:endParaRPr lang="en-US" sz="1600" dirty="0"/>
          </a:p>
        </p:txBody>
      </p:sp>
      <p:sp>
        <p:nvSpPr>
          <p:cNvPr id="20" name="Indicador TMD"/>
          <p:cNvSpPr/>
          <p:nvPr/>
        </p:nvSpPr>
        <p:spPr>
          <a:xfrm>
            <a:off x="12289536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</p:sp>
      <p:sp>
        <p:nvSpPr>
          <p:cNvPr id="21" name="Valor TMD"/>
          <p:cNvSpPr txBox="1"/>
          <p:nvPr/>
        </p:nvSpPr>
        <p:spPr>
          <a:xfrm>
            <a:off x="12609576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TMD</a:t>
            </a:r>
            <a:endParaRPr lang="en-US" sz="2800" dirty="0"/>
          </a:p>
        </p:txBody>
      </p:sp>
      <p:sp>
        <p:nvSpPr>
          <p:cNvPr id="22" name="Legenda TMD"/>
          <p:cNvSpPr txBox="1"/>
          <p:nvPr/>
        </p:nvSpPr>
        <p:spPr>
          <a:xfrm>
            <a:off x="12609576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Detalhamento de nota</a:t>
            </a:r>
            <a:endParaRPr lang="en-US" sz="1600" dirty="0"/>
          </a:p>
        </p:txBody>
      </p:sp>
      <p:sp>
        <p:nvSpPr>
          <p:cNvPr id="23" name="Indicador TMSA"/>
          <p:cNvSpPr/>
          <p:nvPr/>
        </p:nvSpPr>
        <p:spPr>
          <a:xfrm>
            <a:off x="14950440" y="6199632"/>
            <a:ext cx="2386584" cy="3319272"/>
          </a:xfrm>
          <a:prstGeom prst="roundRect">
            <a:avLst>
              <a:gd name="adj" fmla="val 7663"/>
            </a:avLst>
          </a:prstGeom>
          <a:solidFill>
            <a:schemeClr val="accent4"/>
          </a:solidFill>
          <a:ln/>
        </p:spPr>
      </p:sp>
      <p:sp>
        <p:nvSpPr>
          <p:cNvPr id="24" name="Valor TMSA"/>
          <p:cNvSpPr txBox="1"/>
          <p:nvPr/>
        </p:nvSpPr>
        <p:spPr>
          <a:xfrm>
            <a:off x="15270480" y="6473952"/>
            <a:ext cx="1746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TMSA</a:t>
            </a:r>
            <a:endParaRPr lang="en-US" sz="2800" dirty="0"/>
          </a:p>
        </p:txBody>
      </p:sp>
      <p:sp>
        <p:nvSpPr>
          <p:cNvPr id="25" name="Legenda TMSA"/>
          <p:cNvSpPr txBox="1"/>
          <p:nvPr/>
        </p:nvSpPr>
        <p:spPr>
          <a:xfrm>
            <a:off x="15270480" y="7388352"/>
            <a:ext cx="17465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Tempo Médio de Solução de Anomalia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CICLO DE PLANEJAMENTO</a:t>
            </a:r>
            <a:endParaRPr lang="en-US" sz="5400" dirty="0"/>
          </a:p>
        </p:txBody>
      </p:sp>
      <p:sp>
        <p:nvSpPr>
          <p:cNvPr id="3" name="Cartão CURTO, MÉDIO E LONGO PRAZ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</p:sp>
      <p:sp>
        <p:nvSpPr>
          <p:cNvPr id="4" name="Rótulo CURTO, MÉDIO E LONGO PRAZ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CURTO, MÉDIO E LONGO PRAZO</a:t>
            </a:r>
            <a:endParaRPr lang="en-US" sz="1600" dirty="0"/>
          </a:p>
        </p:txBody>
      </p:sp>
      <p:sp>
        <p:nvSpPr>
          <p:cNvPr id="5" name="Texto CURTO, MÉDIO E LONGO PRAZ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Responsável pelo ciclo de planejamento</a:t>
            </a:r>
            <a:endParaRPr lang="en-US" sz="24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P1S: reunião de programação semanal</a:t>
            </a:r>
            <a:endParaRPr lang="en-US" sz="2400" dirty="0"/>
          </a:p>
        </p:txBody>
      </p:sp>
      <p:sp>
        <p:nvSpPr>
          <p:cNvPr id="6" name="Cartão ETAPAS DO CICLO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</p:sp>
      <p:sp>
        <p:nvSpPr>
          <p:cNvPr id="7" name="Rótulo ETAPAS DO CICLO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DO CICLO</a:t>
            </a:r>
            <a:endParaRPr lang="en-US" sz="1600" dirty="0"/>
          </a:p>
        </p:txBody>
      </p:sp>
      <p:sp>
        <p:nvSpPr>
          <p:cNvPr id="8" name="Número ETAPAS DO CICLO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o ETAPAS DO CICLO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P1A, P3M, Semanal e Diária, com aderência medida entre as etapas.</a:t>
            </a:r>
            <a:endParaRPr lang="en-US" sz="1800" dirty="0"/>
          </a:p>
        </p:txBody>
      </p:sp>
      <p:sp>
        <p:nvSpPr>
          <p:cNvPr id="10" name="Rótulo ETAPAS E INDICADOR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ETAPAS E INDICADORES</a:t>
            </a:r>
            <a:endParaRPr lang="en-US" sz="1600" dirty="0"/>
          </a:p>
        </p:txBody>
      </p:sp>
      <p:sp>
        <p:nvSpPr>
          <p:cNvPr id="11" name="Etapa P1A"/>
          <p:cNvSpPr/>
          <p:nvPr/>
        </p:nvSpPr>
        <p:spPr>
          <a:xfrm>
            <a:off x="6967728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tx2"/>
          </a:solidFill>
          <a:ln/>
        </p:spPr>
      </p:sp>
      <p:sp>
        <p:nvSpPr>
          <p:cNvPr id="12" name="Nome P1A"/>
          <p:cNvSpPr txBox="1"/>
          <p:nvPr/>
        </p:nvSpPr>
        <p:spPr>
          <a:xfrm>
            <a:off x="7150608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P1A</a:t>
            </a:r>
            <a:endParaRPr lang="en-US" sz="2400" dirty="0"/>
          </a:p>
        </p:txBody>
      </p:sp>
      <p:sp>
        <p:nvSpPr>
          <p:cNvPr id="13" name="Legenda P1A"/>
          <p:cNvSpPr txBox="1"/>
          <p:nvPr/>
        </p:nvSpPr>
        <p:spPr>
          <a:xfrm>
            <a:off x="7150608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INDICADOR</a:t>
            </a:r>
            <a:endParaRPr lang="en-US" sz="1400" dirty="0"/>
          </a:p>
        </p:txBody>
      </p:sp>
      <p:sp>
        <p:nvSpPr>
          <p:cNvPr id="14" name="Indicador P1A"/>
          <p:cNvSpPr txBox="1"/>
          <p:nvPr/>
        </p:nvSpPr>
        <p:spPr>
          <a:xfrm>
            <a:off x="7150608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Eficiência de Planejamento</a:t>
            </a:r>
            <a:endParaRPr lang="en-US" sz="1600" dirty="0"/>
          </a:p>
        </p:txBody>
      </p:sp>
      <p:sp>
        <p:nvSpPr>
          <p:cNvPr id="15" name="Aderência 1"/>
          <p:cNvSpPr txBox="1"/>
          <p:nvPr/>
        </p:nvSpPr>
        <p:spPr>
          <a:xfrm>
            <a:off x="8839962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16" name="Seta 1"/>
          <p:cNvSpPr/>
          <p:nvPr/>
        </p:nvSpPr>
        <p:spPr>
          <a:xfrm>
            <a:off x="8977122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Etapa P3M"/>
          <p:cNvSpPr/>
          <p:nvPr/>
        </p:nvSpPr>
        <p:spPr>
          <a:xfrm>
            <a:off x="9800082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1"/>
          </a:solidFill>
          <a:ln/>
        </p:spPr>
      </p:sp>
      <p:sp>
        <p:nvSpPr>
          <p:cNvPr id="18" name="Nome P3M"/>
          <p:cNvSpPr txBox="1"/>
          <p:nvPr/>
        </p:nvSpPr>
        <p:spPr>
          <a:xfrm>
            <a:off x="9982962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P3M</a:t>
            </a:r>
            <a:endParaRPr lang="en-US" sz="2400" dirty="0"/>
          </a:p>
        </p:txBody>
      </p:sp>
      <p:sp>
        <p:nvSpPr>
          <p:cNvPr id="19" name="Legenda P3M"/>
          <p:cNvSpPr txBox="1"/>
          <p:nvPr/>
        </p:nvSpPr>
        <p:spPr>
          <a:xfrm>
            <a:off x="9982962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0" name="Indicador P3M"/>
          <p:cNvSpPr txBox="1"/>
          <p:nvPr/>
        </p:nvSpPr>
        <p:spPr>
          <a:xfrm>
            <a:off x="9982962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Cumprimento de P3M</a:t>
            </a:r>
            <a:endParaRPr lang="en-US" sz="1600" dirty="0"/>
          </a:p>
        </p:txBody>
      </p:sp>
      <p:sp>
        <p:nvSpPr>
          <p:cNvPr id="21" name="Aderência 2"/>
          <p:cNvSpPr txBox="1"/>
          <p:nvPr/>
        </p:nvSpPr>
        <p:spPr>
          <a:xfrm>
            <a:off x="11672316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2" name="Seta 2"/>
          <p:cNvSpPr/>
          <p:nvPr/>
        </p:nvSpPr>
        <p:spPr>
          <a:xfrm>
            <a:off x="11809476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3" name="Etapa Semanal"/>
          <p:cNvSpPr/>
          <p:nvPr/>
        </p:nvSpPr>
        <p:spPr>
          <a:xfrm>
            <a:off x="12632436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3"/>
          </a:solidFill>
          <a:ln/>
        </p:spPr>
      </p:sp>
      <p:sp>
        <p:nvSpPr>
          <p:cNvPr id="24" name="Nome Semanal"/>
          <p:cNvSpPr txBox="1"/>
          <p:nvPr/>
        </p:nvSpPr>
        <p:spPr>
          <a:xfrm>
            <a:off x="12815316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Semanal</a:t>
            </a:r>
            <a:endParaRPr lang="en-US" sz="2400" dirty="0"/>
          </a:p>
        </p:txBody>
      </p:sp>
      <p:sp>
        <p:nvSpPr>
          <p:cNvPr id="25" name="Legenda Semanal"/>
          <p:cNvSpPr txBox="1"/>
          <p:nvPr/>
        </p:nvSpPr>
        <p:spPr>
          <a:xfrm>
            <a:off x="12815316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26" name="Indicador Semanal"/>
          <p:cNvSpPr txBox="1"/>
          <p:nvPr/>
        </p:nvSpPr>
        <p:spPr>
          <a:xfrm>
            <a:off x="12815316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Cumprimento da Semanal</a:t>
            </a:r>
            <a:endParaRPr lang="en-US" sz="1600" dirty="0"/>
          </a:p>
        </p:txBody>
      </p:sp>
      <p:sp>
        <p:nvSpPr>
          <p:cNvPr id="27" name="Aderência 3"/>
          <p:cNvSpPr txBox="1"/>
          <p:nvPr/>
        </p:nvSpPr>
        <p:spPr>
          <a:xfrm>
            <a:off x="14504670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Aderência</a:t>
            </a:r>
            <a:endParaRPr lang="en-US" sz="1400" dirty="0"/>
          </a:p>
        </p:txBody>
      </p:sp>
      <p:sp>
        <p:nvSpPr>
          <p:cNvPr id="28" name="Seta 3"/>
          <p:cNvSpPr/>
          <p:nvPr/>
        </p:nvSpPr>
        <p:spPr>
          <a:xfrm>
            <a:off x="14641830" y="4526280"/>
            <a:ext cx="685800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9" name="Etapa Diária"/>
          <p:cNvSpPr/>
          <p:nvPr/>
        </p:nvSpPr>
        <p:spPr>
          <a:xfrm>
            <a:off x="15464790" y="3063240"/>
            <a:ext cx="1872234" cy="3017520"/>
          </a:xfrm>
          <a:prstGeom prst="roundRect">
            <a:avLst>
              <a:gd name="adj" fmla="val 9768"/>
            </a:avLst>
          </a:prstGeom>
          <a:solidFill>
            <a:schemeClr val="accent2"/>
          </a:solidFill>
          <a:ln/>
        </p:spPr>
      </p:sp>
      <p:sp>
        <p:nvSpPr>
          <p:cNvPr id="30" name="Nome Diária"/>
          <p:cNvSpPr txBox="1"/>
          <p:nvPr/>
        </p:nvSpPr>
        <p:spPr>
          <a:xfrm>
            <a:off x="15647670" y="3337560"/>
            <a:ext cx="15064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Diária</a:t>
            </a:r>
            <a:endParaRPr lang="en-US" sz="2400" dirty="0"/>
          </a:p>
        </p:txBody>
      </p:sp>
      <p:sp>
        <p:nvSpPr>
          <p:cNvPr id="31" name="Legenda Diária"/>
          <p:cNvSpPr txBox="1"/>
          <p:nvPr/>
        </p:nvSpPr>
        <p:spPr>
          <a:xfrm>
            <a:off x="15647670" y="4343400"/>
            <a:ext cx="15064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tx2"/>
                </a:solidFill>
              </a:rPr>
              <a:t>INDICADOR</a:t>
            </a:r>
            <a:endParaRPr lang="en-US" sz="1400" dirty="0"/>
          </a:p>
        </p:txBody>
      </p:sp>
      <p:sp>
        <p:nvSpPr>
          <p:cNvPr id="32" name="Indicador Diária"/>
          <p:cNvSpPr txBox="1"/>
          <p:nvPr/>
        </p:nvSpPr>
        <p:spPr>
          <a:xfrm>
            <a:off x="15647670" y="4663440"/>
            <a:ext cx="15064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Eficiência de Programação</a:t>
            </a:r>
            <a:endParaRPr lang="en-US" sz="1600" dirty="0"/>
          </a:p>
        </p:txBody>
      </p:sp>
      <p:sp>
        <p:nvSpPr>
          <p:cNvPr id="33" name="Rótulo P3M E P1A"/>
          <p:cNvSpPr txBox="1"/>
          <p:nvPr/>
        </p:nvSpPr>
        <p:spPr>
          <a:xfrm>
            <a:off x="6967728" y="6528816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P3M E P1A</a:t>
            </a:r>
            <a:endParaRPr lang="en-US" sz="1600" dirty="0"/>
          </a:p>
        </p:txBody>
      </p:sp>
      <p:sp>
        <p:nvSpPr>
          <p:cNvPr id="34" name="Cartão Planejamento com base em recursos"/>
          <p:cNvSpPr/>
          <p:nvPr/>
        </p:nvSpPr>
        <p:spPr>
          <a:xfrm>
            <a:off x="6967728" y="6958584"/>
            <a:ext cx="10369296" cy="2560320"/>
          </a:xfrm>
          <a:prstGeom prst="roundRect">
            <a:avLst>
              <a:gd name="adj" fmla="val 7143"/>
            </a:avLst>
          </a:prstGeom>
          <a:solidFill>
            <a:schemeClr val="accent4"/>
          </a:solidFill>
          <a:ln/>
        </p:spPr>
      </p:sp>
      <p:sp>
        <p:nvSpPr>
          <p:cNvPr id="35" name="Título Planejamento com base em recursos"/>
          <p:cNvSpPr txBox="1"/>
          <p:nvPr/>
        </p:nvSpPr>
        <p:spPr>
          <a:xfrm>
            <a:off x="7242048" y="7187184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com base em recursos</a:t>
            </a:r>
            <a:endParaRPr lang="en-US" sz="1800" dirty="0"/>
          </a:p>
        </p:txBody>
      </p:sp>
      <p:sp>
        <p:nvSpPr>
          <p:cNvPr id="36" name="Texto Planejamento com base em recursos"/>
          <p:cNvSpPr txBox="1"/>
          <p:nvPr/>
        </p:nvSpPr>
        <p:spPr>
          <a:xfrm>
            <a:off x="7242048" y="7671816"/>
            <a:ext cx="98206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Planeja com base na disponibilidade de materiais e HH por especialidade, analisa preventivas não executadas e reprograma corretivas não executadas.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ROTINA, PRIO WAY E SAP</a:t>
            </a:r>
            <a:endParaRPr lang="en-US" sz="5400" dirty="0"/>
          </a:p>
        </p:txBody>
      </p:sp>
      <p:sp>
        <p:nvSpPr>
          <p:cNvPr id="3" name="Cartão AGENDA DA ROTINA"/>
          <p:cNvSpPr/>
          <p:nvPr/>
        </p:nvSpPr>
        <p:spPr>
          <a:xfrm>
            <a:off x="950976" y="2624328"/>
            <a:ext cx="5715000" cy="4434840"/>
          </a:xfrm>
          <a:prstGeom prst="roundRect">
            <a:avLst>
              <a:gd name="adj" fmla="val 4124"/>
            </a:avLst>
          </a:prstGeom>
          <a:solidFill>
            <a:schemeClr val="tx2"/>
          </a:solidFill>
          <a:ln/>
        </p:spPr>
      </p:sp>
      <p:sp>
        <p:nvSpPr>
          <p:cNvPr id="4" name="Rótulo AGENDA DA ROTINA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AGENDA DA ROTINA</a:t>
            </a:r>
            <a:endParaRPr lang="en-US" sz="1600" dirty="0"/>
          </a:p>
        </p:txBody>
      </p:sp>
      <p:sp>
        <p:nvSpPr>
          <p:cNvPr id="5" name="Texto AGENDA DA ROTINA"/>
          <p:cNvSpPr txBox="1"/>
          <p:nvPr/>
        </p:nvSpPr>
        <p:spPr>
          <a:xfrm>
            <a:off x="1335024" y="3493008"/>
            <a:ext cx="494690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Follow-up de execução das ordens de manutenção com as áreas de manutenção, produção e marinha</a:t>
            </a:r>
            <a:endParaRPr lang="en-US" sz="2400" dirty="0"/>
          </a:p>
        </p:txBody>
      </p:sp>
      <p:sp>
        <p:nvSpPr>
          <p:cNvPr id="6" name="Cartão INDICADORES"/>
          <p:cNvSpPr/>
          <p:nvPr/>
        </p:nvSpPr>
        <p:spPr>
          <a:xfrm>
            <a:off x="950976" y="7333488"/>
            <a:ext cx="5715000" cy="2185416"/>
          </a:xfrm>
          <a:prstGeom prst="roundRect">
            <a:avLst>
              <a:gd name="adj" fmla="val 8368"/>
            </a:avLst>
          </a:prstGeom>
          <a:solidFill>
            <a:schemeClr val="accent3"/>
          </a:solidFill>
          <a:ln/>
        </p:spPr>
      </p:sp>
      <p:sp>
        <p:nvSpPr>
          <p:cNvPr id="7" name="Rótulo INDICADORES"/>
          <p:cNvSpPr txBox="1"/>
          <p:nvPr/>
        </p:nvSpPr>
        <p:spPr>
          <a:xfrm>
            <a:off x="1335024" y="760780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INDICADORES</a:t>
            </a:r>
            <a:endParaRPr lang="en-US" sz="1600" dirty="0"/>
          </a:p>
        </p:txBody>
      </p:sp>
      <p:sp>
        <p:nvSpPr>
          <p:cNvPr id="8" name="Texto INDICADORES"/>
          <p:cNvSpPr txBox="1"/>
          <p:nvPr/>
        </p:nvSpPr>
        <p:spPr>
          <a:xfrm>
            <a:off x="1335024" y="8065008"/>
            <a:ext cx="49469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Execução de preventiva, execução de corretiva e RDPs em aberto.</a:t>
            </a:r>
            <a:endParaRPr lang="en-US" sz="1800" dirty="0"/>
          </a:p>
        </p:txBody>
      </p:sp>
      <p:sp>
        <p:nvSpPr>
          <p:cNvPr id="9" name="Rótulo PRIO WAY, SAP E REVISÃO DE PLANO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PRIO WAY, SAP E REVISÃO DE PLANOS</a:t>
            </a:r>
            <a:endParaRPr lang="en-US" sz="1600" dirty="0"/>
          </a:p>
        </p:txBody>
      </p:sp>
      <p:sp>
        <p:nvSpPr>
          <p:cNvPr id="10" name="Cartão PRIO Way"/>
          <p:cNvSpPr/>
          <p:nvPr/>
        </p:nvSpPr>
        <p:spPr>
          <a:xfrm>
            <a:off x="6967728" y="3063240"/>
            <a:ext cx="10369296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Título PRIO Way"/>
          <p:cNvSpPr txBox="1"/>
          <p:nvPr/>
        </p:nvSpPr>
        <p:spPr>
          <a:xfrm>
            <a:off x="7242048" y="3291840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 Way</a:t>
            </a:r>
            <a:endParaRPr lang="en-US" sz="1800" dirty="0"/>
          </a:p>
        </p:txBody>
      </p:sp>
      <p:sp>
        <p:nvSpPr>
          <p:cNvPr id="12" name="Texto PRIO Way"/>
          <p:cNvSpPr txBox="1"/>
          <p:nvPr/>
        </p:nvSpPr>
        <p:spPr>
          <a:xfrm>
            <a:off x="7242048" y="3776472"/>
            <a:ext cx="98206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Responsável pela implementação do pilar manutenção no ativo.</a:t>
            </a:r>
            <a:endParaRPr lang="en-US" sz="1800" dirty="0"/>
          </a:p>
        </p:txBody>
      </p:sp>
      <p:sp>
        <p:nvSpPr>
          <p:cNvPr id="13" name="Cartão SAP"/>
          <p:cNvSpPr/>
          <p:nvPr/>
        </p:nvSpPr>
        <p:spPr>
          <a:xfrm>
            <a:off x="6967728" y="5303520"/>
            <a:ext cx="10369296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4" name="Título SAP"/>
          <p:cNvSpPr txBox="1"/>
          <p:nvPr/>
        </p:nvSpPr>
        <p:spPr>
          <a:xfrm>
            <a:off x="7242048" y="5532120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SAP</a:t>
            </a:r>
            <a:endParaRPr lang="en-US" sz="1800" dirty="0"/>
          </a:p>
        </p:txBody>
      </p:sp>
      <p:sp>
        <p:nvSpPr>
          <p:cNvPr id="15" name="Texto SAP"/>
          <p:cNvSpPr txBox="1"/>
          <p:nvPr/>
        </p:nvSpPr>
        <p:spPr>
          <a:xfrm>
            <a:off x="7242048" y="6016752"/>
            <a:ext cx="98206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Ponto focal na unidade para saneamento de dúvidas em relação ao SAP.</a:t>
            </a:r>
            <a:endParaRPr lang="en-US" sz="1800" dirty="0"/>
          </a:p>
        </p:txBody>
      </p:sp>
      <p:sp>
        <p:nvSpPr>
          <p:cNvPr id="16" name="Cartão Fluxo de revisão de planos de manutenção"/>
          <p:cNvSpPr/>
          <p:nvPr/>
        </p:nvSpPr>
        <p:spPr>
          <a:xfrm>
            <a:off x="6967728" y="7543800"/>
            <a:ext cx="10369296" cy="201168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7" name="Título Fluxo de revisão de planos de manutenção"/>
          <p:cNvSpPr txBox="1"/>
          <p:nvPr/>
        </p:nvSpPr>
        <p:spPr>
          <a:xfrm>
            <a:off x="7242048" y="7772400"/>
            <a:ext cx="9820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Fluxo de revisão de planos de manutenção</a:t>
            </a:r>
            <a:endParaRPr lang="en-US" sz="1800" dirty="0"/>
          </a:p>
        </p:txBody>
      </p:sp>
      <p:sp>
        <p:nvSpPr>
          <p:cNvPr id="18" name="Texto Fluxo de revisão de planos de manutenção"/>
          <p:cNvSpPr txBox="1"/>
          <p:nvPr/>
        </p:nvSpPr>
        <p:spPr>
          <a:xfrm>
            <a:off x="7242048" y="8257032"/>
            <a:ext cx="98206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Requisita melhorias nos PMs pelo Portal de Revisão de Planos.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MATERIAIS, SERVIÇOS E CUSTOS</a:t>
            </a:r>
            <a:endParaRPr lang="en-US" sz="5400" dirty="0"/>
          </a:p>
        </p:txBody>
      </p:sp>
      <p:sp>
        <p:nvSpPr>
          <p:cNvPr id="3" name="Cartão GESTÃO DE MATERIAIS E SERVIÇOS"/>
          <p:cNvSpPr/>
          <p:nvPr/>
        </p:nvSpPr>
        <p:spPr>
          <a:xfrm>
            <a:off x="950976" y="2624328"/>
            <a:ext cx="5715000" cy="448056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/>
        </p:spPr>
      </p:sp>
      <p:sp>
        <p:nvSpPr>
          <p:cNvPr id="4" name="Rótulo GESTÃO DE MATERIAIS E SERVIÇOS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GESTÃO DE MATERIAIS E SERVIÇOS</a:t>
            </a:r>
            <a:endParaRPr lang="en-US" sz="1600" dirty="0"/>
          </a:p>
        </p:txBody>
      </p:sp>
      <p:sp>
        <p:nvSpPr>
          <p:cNvPr id="5" name="Texto GESTÃO DE MATERIAIS E SERVIÇOS"/>
          <p:cNvSpPr txBox="1"/>
          <p:nvPr/>
        </p:nvSpPr>
        <p:spPr>
          <a:xfrm>
            <a:off x="1335024" y="3493008"/>
            <a:ext cx="49469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Cadastro de materiais (KLASSMAT)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Gestão de equipamentos enviados para reparo externo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Requisição de compra de materiais pela ordem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Follow-up de materiais e serviços</a:t>
            </a:r>
            <a:endParaRPr lang="en-US" sz="2000" dirty="0"/>
          </a:p>
        </p:txBody>
      </p:sp>
      <p:sp>
        <p:nvSpPr>
          <p:cNvPr id="6" name="Cartão GESTÃO DE CUSTOS"/>
          <p:cNvSpPr/>
          <p:nvPr/>
        </p:nvSpPr>
        <p:spPr>
          <a:xfrm>
            <a:off x="950976" y="7379208"/>
            <a:ext cx="5715000" cy="2139696"/>
          </a:xfrm>
          <a:prstGeom prst="roundRect">
            <a:avLst>
              <a:gd name="adj" fmla="val 8547"/>
            </a:avLst>
          </a:prstGeom>
          <a:solidFill>
            <a:schemeClr val="accent3"/>
          </a:solidFill>
          <a:ln/>
        </p:spPr>
      </p:sp>
      <p:sp>
        <p:nvSpPr>
          <p:cNvPr id="7" name="Rótulo GESTÃO DE CUSTOS"/>
          <p:cNvSpPr txBox="1"/>
          <p:nvPr/>
        </p:nvSpPr>
        <p:spPr>
          <a:xfrm>
            <a:off x="1335024" y="7653528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GESTÃO DE CUSTOS</a:t>
            </a:r>
            <a:endParaRPr lang="en-US" sz="1600" dirty="0"/>
          </a:p>
        </p:txBody>
      </p:sp>
      <p:sp>
        <p:nvSpPr>
          <p:cNvPr id="8" name="Texto GESTÃO DE CUSTOS"/>
          <p:cNvSpPr txBox="1"/>
          <p:nvPr/>
        </p:nvSpPr>
        <p:spPr>
          <a:xfrm>
            <a:off x="1335024" y="811072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Alocação de custos nos equipamentos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Suporte à construção do orçamento</a:t>
            </a:r>
            <a:endParaRPr lang="en-US" sz="1800" dirty="0"/>
          </a:p>
        </p:txBody>
      </p:sp>
      <p:sp>
        <p:nvSpPr>
          <p:cNvPr id="9" name="Rótulo DESTAQUES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DESTAQUES</a:t>
            </a:r>
            <a:endParaRPr lang="en-US" sz="1600" dirty="0"/>
          </a:p>
        </p:txBody>
      </p:sp>
      <p:sp>
        <p:nvSpPr>
          <p:cNvPr id="10" name="Indicador KLASSMAT"/>
          <p:cNvSpPr/>
          <p:nvPr/>
        </p:nvSpPr>
        <p:spPr>
          <a:xfrm>
            <a:off x="6967728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</p:sp>
      <p:sp>
        <p:nvSpPr>
          <p:cNvPr id="11" name="Valor KLASSMAT"/>
          <p:cNvSpPr txBox="1"/>
          <p:nvPr/>
        </p:nvSpPr>
        <p:spPr>
          <a:xfrm>
            <a:off x="7287768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KLASSMAT</a:t>
            </a:r>
            <a:endParaRPr lang="en-US" sz="3600" dirty="0"/>
          </a:p>
        </p:txBody>
      </p:sp>
      <p:sp>
        <p:nvSpPr>
          <p:cNvPr id="12" name="Legenda KLASSMAT"/>
          <p:cNvSpPr txBox="1"/>
          <p:nvPr/>
        </p:nvSpPr>
        <p:spPr>
          <a:xfrm>
            <a:off x="7287768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Cadastro de materiais</a:t>
            </a:r>
            <a:endParaRPr lang="en-US" sz="1600" dirty="0"/>
          </a:p>
        </p:txBody>
      </p:sp>
      <p:sp>
        <p:nvSpPr>
          <p:cNvPr id="13" name="Indicador Reparo"/>
          <p:cNvSpPr/>
          <p:nvPr/>
        </p:nvSpPr>
        <p:spPr>
          <a:xfrm>
            <a:off x="12252960" y="306324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</p:sp>
      <p:sp>
        <p:nvSpPr>
          <p:cNvPr id="14" name="Valor Reparo"/>
          <p:cNvSpPr txBox="1"/>
          <p:nvPr/>
        </p:nvSpPr>
        <p:spPr>
          <a:xfrm>
            <a:off x="12573000" y="333756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Reparo</a:t>
            </a:r>
            <a:endParaRPr lang="en-US" sz="3600" dirty="0"/>
          </a:p>
        </p:txBody>
      </p:sp>
      <p:sp>
        <p:nvSpPr>
          <p:cNvPr id="15" name="Legenda Reparo"/>
          <p:cNvSpPr txBox="1"/>
          <p:nvPr/>
        </p:nvSpPr>
        <p:spPr>
          <a:xfrm>
            <a:off x="12573000" y="425196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Equipamentos enviados para reparo externo</a:t>
            </a:r>
            <a:endParaRPr lang="en-US" sz="1600" dirty="0"/>
          </a:p>
        </p:txBody>
      </p:sp>
      <p:sp>
        <p:nvSpPr>
          <p:cNvPr id="16" name="Indicador Por ordem"/>
          <p:cNvSpPr/>
          <p:nvPr/>
        </p:nvSpPr>
        <p:spPr>
          <a:xfrm>
            <a:off x="6967728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</p:sp>
      <p:sp>
        <p:nvSpPr>
          <p:cNvPr id="17" name="Valor Por ordem"/>
          <p:cNvSpPr txBox="1"/>
          <p:nvPr/>
        </p:nvSpPr>
        <p:spPr>
          <a:xfrm>
            <a:off x="7287768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Por ordem</a:t>
            </a:r>
            <a:endParaRPr lang="en-US" sz="3600" dirty="0"/>
          </a:p>
        </p:txBody>
      </p:sp>
      <p:sp>
        <p:nvSpPr>
          <p:cNvPr id="18" name="Legenda Por ordem"/>
          <p:cNvSpPr txBox="1"/>
          <p:nvPr/>
        </p:nvSpPr>
        <p:spPr>
          <a:xfrm>
            <a:off x="7287768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Requisição de compra de materiais</a:t>
            </a:r>
            <a:endParaRPr lang="en-US" sz="1600" dirty="0"/>
          </a:p>
        </p:txBody>
      </p:sp>
      <p:sp>
        <p:nvSpPr>
          <p:cNvPr id="19" name="Indicador Orçamento"/>
          <p:cNvSpPr/>
          <p:nvPr/>
        </p:nvSpPr>
        <p:spPr>
          <a:xfrm>
            <a:off x="12252960" y="6309360"/>
            <a:ext cx="5084064" cy="3017520"/>
          </a:xfrm>
          <a:prstGeom prst="roundRect">
            <a:avLst>
              <a:gd name="adj" fmla="val 6061"/>
            </a:avLst>
          </a:prstGeom>
          <a:solidFill>
            <a:schemeClr val="accent4"/>
          </a:solidFill>
          <a:ln/>
        </p:spPr>
      </p:sp>
      <p:sp>
        <p:nvSpPr>
          <p:cNvPr id="20" name="Valor Orçamento"/>
          <p:cNvSpPr txBox="1"/>
          <p:nvPr/>
        </p:nvSpPr>
        <p:spPr>
          <a:xfrm>
            <a:off x="12573000" y="6583680"/>
            <a:ext cx="4443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Orçamento</a:t>
            </a:r>
            <a:endParaRPr lang="en-US" sz="3600" dirty="0"/>
          </a:p>
        </p:txBody>
      </p:sp>
      <p:sp>
        <p:nvSpPr>
          <p:cNvPr id="21" name="Legenda Orçamento"/>
          <p:cNvSpPr txBox="1"/>
          <p:nvPr/>
        </p:nvSpPr>
        <p:spPr>
          <a:xfrm>
            <a:off x="12573000" y="7498080"/>
            <a:ext cx="44439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Suporte à construção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O QUE O PLANEJADOR NÃO É</a:t>
            </a:r>
            <a:endParaRPr lang="en-US" sz="5400" dirty="0"/>
          </a:p>
        </p:txBody>
      </p:sp>
      <p:sp>
        <p:nvSpPr>
          <p:cNvPr id="3" name="Cartão LIMITES DA FUNÇÃO"/>
          <p:cNvSpPr/>
          <p:nvPr/>
        </p:nvSpPr>
        <p:spPr>
          <a:xfrm>
            <a:off x="950976" y="2624328"/>
            <a:ext cx="5715000" cy="3410712"/>
          </a:xfrm>
          <a:prstGeom prst="roundRect">
            <a:avLst>
              <a:gd name="adj" fmla="val 5362"/>
            </a:avLst>
          </a:prstGeom>
          <a:solidFill>
            <a:schemeClr val="tx2"/>
          </a:solidFill>
          <a:ln/>
        </p:spPr>
      </p:sp>
      <p:sp>
        <p:nvSpPr>
          <p:cNvPr id="4" name="Rótulo LIMITES DA FUNÇÃO"/>
          <p:cNvSpPr txBox="1"/>
          <p:nvPr/>
        </p:nvSpPr>
        <p:spPr>
          <a:xfrm>
            <a:off x="1335024" y="2935224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LIMITES DA FUNÇÃO</a:t>
            </a:r>
            <a:endParaRPr lang="en-US" sz="1600" dirty="0"/>
          </a:p>
        </p:txBody>
      </p:sp>
      <p:sp>
        <p:nvSpPr>
          <p:cNvPr id="5" name="Texto LIMITES DA FUNÇÃO"/>
          <p:cNvSpPr txBox="1"/>
          <p:nvPr/>
        </p:nvSpPr>
        <p:spPr>
          <a:xfrm>
            <a:off x="1335024" y="3493008"/>
            <a:ext cx="494690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Cada etapa do fluxo tem um responsável: operador, técnico, supervisor ou planejador.</a:t>
            </a:r>
            <a:endParaRPr lang="en-US" sz="2200" dirty="0"/>
          </a:p>
        </p:txBody>
      </p:sp>
      <p:sp>
        <p:nvSpPr>
          <p:cNvPr id="6" name="Cartão FORA DO PAPEL"/>
          <p:cNvSpPr/>
          <p:nvPr/>
        </p:nvSpPr>
        <p:spPr>
          <a:xfrm>
            <a:off x="950976" y="6336792"/>
            <a:ext cx="5715000" cy="3182112"/>
          </a:xfrm>
          <a:prstGeom prst="roundRect">
            <a:avLst>
              <a:gd name="adj" fmla="val 5747"/>
            </a:avLst>
          </a:prstGeom>
          <a:solidFill>
            <a:schemeClr val="accent3"/>
          </a:solidFill>
          <a:ln/>
        </p:spPr>
      </p:sp>
      <p:sp>
        <p:nvSpPr>
          <p:cNvPr id="7" name="Rótulo FORA DO PAPEL"/>
          <p:cNvSpPr txBox="1"/>
          <p:nvPr/>
        </p:nvSpPr>
        <p:spPr>
          <a:xfrm>
            <a:off x="1335024" y="6611112"/>
            <a:ext cx="4946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FORA DO PAPEL</a:t>
            </a:r>
            <a:endParaRPr lang="en-US" sz="1600" dirty="0"/>
          </a:p>
        </p:txBody>
      </p:sp>
      <p:sp>
        <p:nvSpPr>
          <p:cNvPr id="8" name="Número FORA DO PAPEL"/>
          <p:cNvSpPr txBox="1"/>
          <p:nvPr/>
        </p:nvSpPr>
        <p:spPr>
          <a:xfrm>
            <a:off x="1335024" y="7068312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4800" dirty="0"/>
          </a:p>
        </p:txBody>
      </p:sp>
      <p:sp>
        <p:nvSpPr>
          <p:cNvPr id="9" name="Texto FORA DO PAPEL"/>
          <p:cNvSpPr txBox="1"/>
          <p:nvPr/>
        </p:nvSpPr>
        <p:spPr>
          <a:xfrm>
            <a:off x="1335024" y="7982712"/>
            <a:ext cx="49469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situações que não são do planejador.</a:t>
            </a:r>
            <a:endParaRPr lang="en-US" sz="1800" dirty="0"/>
          </a:p>
        </p:txBody>
      </p:sp>
      <p:sp>
        <p:nvSpPr>
          <p:cNvPr id="10" name="Rótulo O PLANEJADOR NÃO…"/>
          <p:cNvSpPr txBox="1"/>
          <p:nvPr/>
        </p:nvSpPr>
        <p:spPr>
          <a:xfrm>
            <a:off x="6967728" y="2624328"/>
            <a:ext cx="103692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 PLANEJADOR NÃO…</a:t>
            </a:r>
            <a:endParaRPr lang="en-US" sz="1600" dirty="0"/>
          </a:p>
        </p:txBody>
      </p:sp>
      <p:sp>
        <p:nvSpPr>
          <p:cNvPr id="11" name="Cartão 1"/>
          <p:cNvSpPr/>
          <p:nvPr/>
        </p:nvSpPr>
        <p:spPr>
          <a:xfrm>
            <a:off x="6967728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2" name="Ícone fundo 1"/>
          <p:cNvSpPr/>
          <p:nvPr/>
        </p:nvSpPr>
        <p:spPr>
          <a:xfrm>
            <a:off x="7242048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Ícone não 1" descr="N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2" y="3621024"/>
            <a:ext cx="301752" cy="301752"/>
          </a:xfrm>
          <a:prstGeom prst="rect">
            <a:avLst/>
          </a:prstGeom>
        </p:spPr>
      </p:pic>
      <p:sp>
        <p:nvSpPr>
          <p:cNvPr id="14" name="Texto não 1"/>
          <p:cNvSpPr txBox="1"/>
          <p:nvPr/>
        </p:nvSpPr>
        <p:spPr>
          <a:xfrm>
            <a:off x="8065008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Atualiza planilha</a:t>
            </a:r>
            <a:endParaRPr lang="en-US" sz="1800" dirty="0"/>
          </a:p>
        </p:txBody>
      </p:sp>
      <p:sp>
        <p:nvSpPr>
          <p:cNvPr id="15" name="Cartão 2"/>
          <p:cNvSpPr/>
          <p:nvPr/>
        </p:nvSpPr>
        <p:spPr>
          <a:xfrm>
            <a:off x="12252960" y="3063240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6" name="Ícone fundo 2"/>
          <p:cNvSpPr/>
          <p:nvPr/>
        </p:nvSpPr>
        <p:spPr>
          <a:xfrm>
            <a:off x="12527280" y="347472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Ícone não 2" descr="N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3584" y="3621024"/>
            <a:ext cx="301752" cy="301752"/>
          </a:xfrm>
          <a:prstGeom prst="rect">
            <a:avLst/>
          </a:prstGeom>
        </p:spPr>
      </p:pic>
      <p:sp>
        <p:nvSpPr>
          <p:cNvPr id="18" name="Texto não 2"/>
          <p:cNvSpPr txBox="1"/>
          <p:nvPr/>
        </p:nvSpPr>
        <p:spPr>
          <a:xfrm>
            <a:off x="13350240" y="3246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É secretário de supervisor</a:t>
            </a:r>
            <a:endParaRPr lang="en-US" sz="1800" dirty="0"/>
          </a:p>
        </p:txBody>
      </p:sp>
      <p:sp>
        <p:nvSpPr>
          <p:cNvPr id="19" name="Cartão 3"/>
          <p:cNvSpPr/>
          <p:nvPr/>
        </p:nvSpPr>
        <p:spPr>
          <a:xfrm>
            <a:off x="6967728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0" name="Ícone fundo 3"/>
          <p:cNvSpPr/>
          <p:nvPr/>
        </p:nvSpPr>
        <p:spPr>
          <a:xfrm>
            <a:off x="7242048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Ícone não 3" descr="N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5239512"/>
            <a:ext cx="301752" cy="301752"/>
          </a:xfrm>
          <a:prstGeom prst="rect">
            <a:avLst/>
          </a:prstGeom>
        </p:spPr>
      </p:pic>
      <p:sp>
        <p:nvSpPr>
          <p:cNvPr id="22" name="Texto não 3"/>
          <p:cNvSpPr txBox="1"/>
          <p:nvPr/>
        </p:nvSpPr>
        <p:spPr>
          <a:xfrm>
            <a:off x="8065008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Distribui ordens para técnicos</a:t>
            </a:r>
            <a:endParaRPr lang="en-US" sz="1800" dirty="0"/>
          </a:p>
        </p:txBody>
      </p:sp>
      <p:sp>
        <p:nvSpPr>
          <p:cNvPr id="23" name="Cartão 4"/>
          <p:cNvSpPr/>
          <p:nvPr/>
        </p:nvSpPr>
        <p:spPr>
          <a:xfrm>
            <a:off x="12252960" y="4681728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4" name="Ícone fundo 4"/>
          <p:cNvSpPr/>
          <p:nvPr/>
        </p:nvSpPr>
        <p:spPr>
          <a:xfrm>
            <a:off x="12527280" y="5093208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Ícone não 4" descr="N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3584" y="5239512"/>
            <a:ext cx="301752" cy="301752"/>
          </a:xfrm>
          <a:prstGeom prst="rect">
            <a:avLst/>
          </a:prstGeom>
        </p:spPr>
      </p:pic>
      <p:sp>
        <p:nvSpPr>
          <p:cNvPr id="26" name="Texto não 4"/>
          <p:cNvSpPr txBox="1"/>
          <p:nvPr/>
        </p:nvSpPr>
        <p:spPr>
          <a:xfrm>
            <a:off x="13350240" y="486460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Revisa PMs</a:t>
            </a:r>
            <a:endParaRPr lang="en-US" sz="1800" dirty="0"/>
          </a:p>
        </p:txBody>
      </p:sp>
      <p:sp>
        <p:nvSpPr>
          <p:cNvPr id="27" name="Cartão 5"/>
          <p:cNvSpPr/>
          <p:nvPr/>
        </p:nvSpPr>
        <p:spPr>
          <a:xfrm>
            <a:off x="6967728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8" name="Ícone fundo 5"/>
          <p:cNvSpPr/>
          <p:nvPr/>
        </p:nvSpPr>
        <p:spPr>
          <a:xfrm>
            <a:off x="7242048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Ícone não 5" descr="N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6858000"/>
            <a:ext cx="301752" cy="301752"/>
          </a:xfrm>
          <a:prstGeom prst="rect">
            <a:avLst/>
          </a:prstGeom>
        </p:spPr>
      </p:pic>
      <p:sp>
        <p:nvSpPr>
          <p:cNvPr id="30" name="Texto não 5"/>
          <p:cNvSpPr txBox="1"/>
          <p:nvPr/>
        </p:nvSpPr>
        <p:spPr>
          <a:xfrm>
            <a:off x="8065008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Abre notas nem relata anomalias</a:t>
            </a:r>
            <a:endParaRPr lang="en-US" sz="1800" dirty="0"/>
          </a:p>
        </p:txBody>
      </p:sp>
      <p:sp>
        <p:nvSpPr>
          <p:cNvPr id="31" name="Cartão 6"/>
          <p:cNvSpPr/>
          <p:nvPr/>
        </p:nvSpPr>
        <p:spPr>
          <a:xfrm>
            <a:off x="12252960" y="6300216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32" name="Ícone fundo 6"/>
          <p:cNvSpPr/>
          <p:nvPr/>
        </p:nvSpPr>
        <p:spPr>
          <a:xfrm>
            <a:off x="12527280" y="6711696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Ícone não 6" descr="N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73584" y="6858000"/>
            <a:ext cx="301752" cy="301752"/>
          </a:xfrm>
          <a:prstGeom prst="rect">
            <a:avLst/>
          </a:prstGeom>
        </p:spPr>
      </p:pic>
      <p:sp>
        <p:nvSpPr>
          <p:cNvPr id="34" name="Texto não 6"/>
          <p:cNvSpPr txBox="1"/>
          <p:nvPr/>
        </p:nvSpPr>
        <p:spPr>
          <a:xfrm>
            <a:off x="13350240" y="6483096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 ordens pelo time técnico</a:t>
            </a:r>
            <a:endParaRPr lang="en-US" sz="1800" dirty="0"/>
          </a:p>
        </p:txBody>
      </p:sp>
      <p:sp>
        <p:nvSpPr>
          <p:cNvPr id="35" name="Cartão 7"/>
          <p:cNvSpPr/>
          <p:nvPr/>
        </p:nvSpPr>
        <p:spPr>
          <a:xfrm>
            <a:off x="6967728" y="7918704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36" name="Ícone fundo 7"/>
          <p:cNvSpPr/>
          <p:nvPr/>
        </p:nvSpPr>
        <p:spPr>
          <a:xfrm>
            <a:off x="7242048" y="8330184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7" name="Ícone não 7" descr="Nã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8476488"/>
            <a:ext cx="301752" cy="301752"/>
          </a:xfrm>
          <a:prstGeom prst="rect">
            <a:avLst/>
          </a:prstGeom>
        </p:spPr>
      </p:pic>
      <p:sp>
        <p:nvSpPr>
          <p:cNvPr id="38" name="Texto não 7"/>
          <p:cNvSpPr txBox="1"/>
          <p:nvPr/>
        </p:nvSpPr>
        <p:spPr>
          <a:xfrm>
            <a:off x="8065008" y="8101584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 ordens pelo supervisor</a:t>
            </a:r>
            <a:endParaRPr lang="en-US" sz="1800" dirty="0"/>
          </a:p>
        </p:txBody>
      </p:sp>
      <p:sp>
        <p:nvSpPr>
          <p:cNvPr id="39" name="Cartão 8"/>
          <p:cNvSpPr/>
          <p:nvPr/>
        </p:nvSpPr>
        <p:spPr>
          <a:xfrm>
            <a:off x="12252960" y="7918704"/>
            <a:ext cx="5084064" cy="1417320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40" name="Ícone fundo 8"/>
          <p:cNvSpPr/>
          <p:nvPr/>
        </p:nvSpPr>
        <p:spPr>
          <a:xfrm>
            <a:off x="12527280" y="8330184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1" name="Ícone não 8" descr="Nã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73584" y="8476488"/>
            <a:ext cx="301752" cy="301752"/>
          </a:xfrm>
          <a:prstGeom prst="rect">
            <a:avLst/>
          </a:prstGeom>
        </p:spPr>
      </p:pic>
      <p:sp>
        <p:nvSpPr>
          <p:cNvPr id="42" name="Texto não 8"/>
          <p:cNvSpPr txBox="1"/>
          <p:nvPr/>
        </p:nvSpPr>
        <p:spPr>
          <a:xfrm>
            <a:off x="13350240" y="8101584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Inclui mitigação de risco nas ordens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DA NOTA À ORDEM DE SERVIÇO</a:t>
            </a:r>
            <a:endParaRPr lang="en-US" sz="5400" dirty="0"/>
          </a:p>
        </p:txBody>
      </p:sp>
      <p:sp>
        <p:nvSpPr>
          <p:cNvPr id="3" name="Passo 1"/>
          <p:cNvSpPr/>
          <p:nvPr/>
        </p:nvSpPr>
        <p:spPr>
          <a:xfrm>
            <a:off x="95097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4" name="Passo texto 1"/>
          <p:cNvSpPr txBox="1"/>
          <p:nvPr/>
        </p:nvSpPr>
        <p:spPr>
          <a:xfrm>
            <a:off x="104241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5" name="Passo 2"/>
          <p:cNvSpPr/>
          <p:nvPr/>
        </p:nvSpPr>
        <p:spPr>
          <a:xfrm>
            <a:off x="278688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6" name="Passo texto 2"/>
          <p:cNvSpPr txBox="1"/>
          <p:nvPr/>
        </p:nvSpPr>
        <p:spPr>
          <a:xfrm>
            <a:off x="287832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7" name="Passo 3"/>
          <p:cNvSpPr/>
          <p:nvPr/>
        </p:nvSpPr>
        <p:spPr>
          <a:xfrm>
            <a:off x="462280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8" name="Passo texto 3"/>
          <p:cNvSpPr txBox="1"/>
          <p:nvPr/>
        </p:nvSpPr>
        <p:spPr>
          <a:xfrm>
            <a:off x="471424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Gerar ordem de serviço</a:t>
            </a:r>
            <a:endParaRPr lang="en-US" sz="1600" dirty="0"/>
          </a:p>
        </p:txBody>
      </p:sp>
      <p:sp>
        <p:nvSpPr>
          <p:cNvPr id="9" name="Passo 4"/>
          <p:cNvSpPr/>
          <p:nvPr/>
        </p:nvSpPr>
        <p:spPr>
          <a:xfrm>
            <a:off x="645871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0" name="Passo texto 4"/>
          <p:cNvSpPr txBox="1"/>
          <p:nvPr/>
        </p:nvSpPr>
        <p:spPr>
          <a:xfrm>
            <a:off x="655015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11" name="Passo 5"/>
          <p:cNvSpPr/>
          <p:nvPr/>
        </p:nvSpPr>
        <p:spPr>
          <a:xfrm>
            <a:off x="8294624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2" name="Passo texto 5"/>
          <p:cNvSpPr txBox="1"/>
          <p:nvPr/>
        </p:nvSpPr>
        <p:spPr>
          <a:xfrm>
            <a:off x="8386064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Priorização da ordem</a:t>
            </a:r>
            <a:endParaRPr lang="en-US" sz="1600" dirty="0"/>
          </a:p>
        </p:txBody>
      </p:sp>
      <p:sp>
        <p:nvSpPr>
          <p:cNvPr id="13" name="Passo 6"/>
          <p:cNvSpPr/>
          <p:nvPr/>
        </p:nvSpPr>
        <p:spPr>
          <a:xfrm>
            <a:off x="1013053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4" name="Passo texto 6"/>
          <p:cNvSpPr txBox="1"/>
          <p:nvPr/>
        </p:nvSpPr>
        <p:spPr>
          <a:xfrm>
            <a:off x="1022197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15" name="Passo 7"/>
          <p:cNvSpPr/>
          <p:nvPr/>
        </p:nvSpPr>
        <p:spPr>
          <a:xfrm>
            <a:off x="1196644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6" name="Passo texto 7"/>
          <p:cNvSpPr txBox="1"/>
          <p:nvPr/>
        </p:nvSpPr>
        <p:spPr>
          <a:xfrm>
            <a:off x="1205788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17" name="Passo 8"/>
          <p:cNvSpPr/>
          <p:nvPr/>
        </p:nvSpPr>
        <p:spPr>
          <a:xfrm>
            <a:off x="1380236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8" name="Passo texto 8"/>
          <p:cNvSpPr txBox="1"/>
          <p:nvPr/>
        </p:nvSpPr>
        <p:spPr>
          <a:xfrm>
            <a:off x="1389380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19" name="Passo 9"/>
          <p:cNvSpPr/>
          <p:nvPr/>
        </p:nvSpPr>
        <p:spPr>
          <a:xfrm>
            <a:off x="1563827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0" name="Passo texto 9"/>
          <p:cNvSpPr txBox="1"/>
          <p:nvPr/>
        </p:nvSpPr>
        <p:spPr>
          <a:xfrm>
            <a:off x="1572971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9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21" name="Cartão Abertura de nota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</p:sp>
      <p:sp>
        <p:nvSpPr>
          <p:cNvPr id="22" name="Ícone fundo Abertura de nota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Ícone Abertura de nota" descr="Abertura de no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Abertura de nota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1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Abertura de nota</a:t>
            </a:r>
            <a:endParaRPr lang="en-US" sz="1400" dirty="0"/>
          </a:p>
        </p:txBody>
      </p:sp>
      <p:sp>
        <p:nvSpPr>
          <p:cNvPr id="25" name="Papel Operador/Técnico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Papel texto Operador/Técnico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27" name="Texto Operador/Técnico"/>
          <p:cNvSpPr txBox="1"/>
          <p:nvPr/>
        </p:nvSpPr>
        <p:spPr>
          <a:xfrm>
            <a:off x="1271016" y="5623560"/>
            <a:ext cx="463905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o problema/falha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recursos necessários para corrigir a avaria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Descrever como executar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ferramentas e recursos (HH)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Informar materiais (cód. SAP ou referência)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orientações de segurança</a:t>
            </a:r>
            <a:endParaRPr lang="en-US" sz="1700" dirty="0"/>
          </a:p>
        </p:txBody>
      </p:sp>
      <p:sp>
        <p:nvSpPr>
          <p:cNvPr id="28" name="Cartão Análise de nota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</p:sp>
      <p:sp>
        <p:nvSpPr>
          <p:cNvPr id="29" name="Ícone fundo Análise de nota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Ícone Análise de nota" descr="Análise de no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Análise de nota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2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Análise de nota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Análise macro: duplicidade, 1º nível e qualidade de abertura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Verificar plano que cubra 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Gerar backlog D-1 por supervisor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9808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Papel texto Supervisor"/>
          <p:cNvSpPr txBox="1"/>
          <p:nvPr/>
        </p:nvSpPr>
        <p:spPr>
          <a:xfrm>
            <a:off x="6824472" y="7498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8001000"/>
            <a:ext cx="46390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abertura com o time técnico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Completar a nota e informar a data de início prevista</a:t>
            </a:r>
            <a:endParaRPr lang="en-US" sz="1700" dirty="0"/>
          </a:p>
        </p:txBody>
      </p:sp>
      <p:sp>
        <p:nvSpPr>
          <p:cNvPr id="38" name="Cartão Gerar ordem de serviço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</p:sp>
      <p:sp>
        <p:nvSpPr>
          <p:cNvPr id="39" name="Ícone fundo Gerar ordem de serviço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0" name="Ícone Gerar ordem de serviço" descr="Gerar ordem de serviç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Gerar ordem de serviço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3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Gerar ordem de serviço</a:t>
            </a:r>
            <a:endParaRPr lang="en-US" sz="1400" dirty="0"/>
          </a:p>
        </p:txBody>
      </p:sp>
      <p:sp>
        <p:nvSpPr>
          <p:cNvPr id="42" name="Papel Superviso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3" name="Papel texto Superviso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44" name="Texto Superviso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Transformar a nota em ordem somente se contiver todas as informações para a manutenção corretiva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na ordem as etapas da atividade (operação)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DETALHAR E PROGRAMAR</a:t>
            </a:r>
            <a:endParaRPr lang="en-US" sz="5400" dirty="0"/>
          </a:p>
        </p:txBody>
      </p:sp>
      <p:sp>
        <p:nvSpPr>
          <p:cNvPr id="3" name="Passo 1"/>
          <p:cNvSpPr/>
          <p:nvPr/>
        </p:nvSpPr>
        <p:spPr>
          <a:xfrm>
            <a:off x="95097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4" name="Passo texto 1"/>
          <p:cNvSpPr txBox="1"/>
          <p:nvPr/>
        </p:nvSpPr>
        <p:spPr>
          <a:xfrm>
            <a:off x="104241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5" name="Passo 2"/>
          <p:cNvSpPr/>
          <p:nvPr/>
        </p:nvSpPr>
        <p:spPr>
          <a:xfrm>
            <a:off x="278688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6" name="Passo texto 2"/>
          <p:cNvSpPr txBox="1"/>
          <p:nvPr/>
        </p:nvSpPr>
        <p:spPr>
          <a:xfrm>
            <a:off x="287832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7" name="Passo 3"/>
          <p:cNvSpPr/>
          <p:nvPr/>
        </p:nvSpPr>
        <p:spPr>
          <a:xfrm>
            <a:off x="462280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8" name="Passo texto 3"/>
          <p:cNvSpPr txBox="1"/>
          <p:nvPr/>
        </p:nvSpPr>
        <p:spPr>
          <a:xfrm>
            <a:off x="471424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Gerar ordem de serviço</a:t>
            </a:r>
            <a:endParaRPr lang="en-US" sz="1600" dirty="0"/>
          </a:p>
        </p:txBody>
      </p:sp>
      <p:sp>
        <p:nvSpPr>
          <p:cNvPr id="9" name="Passo 4"/>
          <p:cNvSpPr/>
          <p:nvPr/>
        </p:nvSpPr>
        <p:spPr>
          <a:xfrm>
            <a:off x="645871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10" name="Passo texto 4"/>
          <p:cNvSpPr txBox="1"/>
          <p:nvPr/>
        </p:nvSpPr>
        <p:spPr>
          <a:xfrm>
            <a:off x="655015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11" name="Passo 5"/>
          <p:cNvSpPr/>
          <p:nvPr/>
        </p:nvSpPr>
        <p:spPr>
          <a:xfrm>
            <a:off x="8294624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12" name="Passo texto 5"/>
          <p:cNvSpPr txBox="1"/>
          <p:nvPr/>
        </p:nvSpPr>
        <p:spPr>
          <a:xfrm>
            <a:off x="8386064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Priorização da ordem</a:t>
            </a:r>
            <a:endParaRPr lang="en-US" sz="1600" dirty="0"/>
          </a:p>
        </p:txBody>
      </p:sp>
      <p:sp>
        <p:nvSpPr>
          <p:cNvPr id="13" name="Passo 6"/>
          <p:cNvSpPr/>
          <p:nvPr/>
        </p:nvSpPr>
        <p:spPr>
          <a:xfrm>
            <a:off x="1013053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14" name="Passo texto 6"/>
          <p:cNvSpPr txBox="1"/>
          <p:nvPr/>
        </p:nvSpPr>
        <p:spPr>
          <a:xfrm>
            <a:off x="1022197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15" name="Passo 7"/>
          <p:cNvSpPr/>
          <p:nvPr/>
        </p:nvSpPr>
        <p:spPr>
          <a:xfrm>
            <a:off x="1196644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6" name="Passo texto 7"/>
          <p:cNvSpPr txBox="1"/>
          <p:nvPr/>
        </p:nvSpPr>
        <p:spPr>
          <a:xfrm>
            <a:off x="1205788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17" name="Passo 8"/>
          <p:cNvSpPr/>
          <p:nvPr/>
        </p:nvSpPr>
        <p:spPr>
          <a:xfrm>
            <a:off x="1380236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8" name="Passo texto 8"/>
          <p:cNvSpPr txBox="1"/>
          <p:nvPr/>
        </p:nvSpPr>
        <p:spPr>
          <a:xfrm>
            <a:off x="1389380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19" name="Passo 9"/>
          <p:cNvSpPr/>
          <p:nvPr/>
        </p:nvSpPr>
        <p:spPr>
          <a:xfrm>
            <a:off x="1563827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20" name="Passo texto 9"/>
          <p:cNvSpPr txBox="1"/>
          <p:nvPr/>
        </p:nvSpPr>
        <p:spPr>
          <a:xfrm>
            <a:off x="1572971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9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21" name="Cartão Detalhar ordem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</p:sp>
      <p:sp>
        <p:nvSpPr>
          <p:cNvPr id="22" name="Ícone fundo Detalhar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Ícone Detalhar ordem" descr="Detalhar ord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Detalhar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4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Detalhar ordem</a:t>
            </a:r>
            <a:endParaRPr lang="en-US" sz="1400" dirty="0"/>
          </a:p>
        </p:txBody>
      </p:sp>
      <p:sp>
        <p:nvSpPr>
          <p:cNvPr id="25" name="Papel Planner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Papel texto Planner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27" name="Texto Planner"/>
          <p:cNvSpPr txBox="1"/>
          <p:nvPr/>
        </p:nvSpPr>
        <p:spPr>
          <a:xfrm>
            <a:off x="1271016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Incluir cód. do material e quantidade na aba componentes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demais recursos (ferramentas, andaime, etc.)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Providenciar materiais previstos na ordem, em parceria com o almoxarife</a:t>
            </a:r>
            <a:endParaRPr lang="en-US" sz="1700" dirty="0"/>
          </a:p>
        </p:txBody>
      </p:sp>
      <p:sp>
        <p:nvSpPr>
          <p:cNvPr id="28" name="Cartão Priorização da ordem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</p:sp>
      <p:sp>
        <p:nvSpPr>
          <p:cNvPr id="29" name="Ícone fundo Priorização da ordem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Ícone Priorização da ordem" descr="Priorização da ord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Priorização da ordem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5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Priorização da ordem</a:t>
            </a:r>
            <a:endParaRPr lang="en-US" sz="1400" dirty="0"/>
          </a:p>
        </p:txBody>
      </p:sp>
      <p:sp>
        <p:nvSpPr>
          <p:cNvPr id="32" name="Papel Planner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3" name="Papel texto Planner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34" name="Texto Planner"/>
          <p:cNvSpPr txBox="1"/>
          <p:nvPr/>
        </p:nvSpPr>
        <p:spPr>
          <a:xfrm>
            <a:off x="6824472" y="5623560"/>
            <a:ext cx="46390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Enviar à supervisão o backlog disponível para execução de preventivas e corretivas</a:t>
            </a:r>
            <a:endParaRPr lang="en-US" sz="1700" dirty="0"/>
          </a:p>
        </p:txBody>
      </p:sp>
      <p:sp>
        <p:nvSpPr>
          <p:cNvPr id="35" name="Papel Supervisor"/>
          <p:cNvSpPr/>
          <p:nvPr/>
        </p:nvSpPr>
        <p:spPr>
          <a:xfrm>
            <a:off x="6824472" y="7406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Papel texto Supervisor"/>
          <p:cNvSpPr txBox="1"/>
          <p:nvPr/>
        </p:nvSpPr>
        <p:spPr>
          <a:xfrm>
            <a:off x="6824472" y="7406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37" name="Texto Supervisor"/>
          <p:cNvSpPr txBox="1"/>
          <p:nvPr/>
        </p:nvSpPr>
        <p:spPr>
          <a:xfrm>
            <a:off x="6824472" y="7909560"/>
            <a:ext cx="4639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Priorizar, junto com o Planner, as ordens da próxima semana</a:t>
            </a:r>
            <a:endParaRPr lang="en-US" sz="1700" dirty="0"/>
          </a:p>
        </p:txBody>
      </p:sp>
      <p:sp>
        <p:nvSpPr>
          <p:cNvPr id="38" name="Cartão Planejamento semanal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</p:sp>
      <p:sp>
        <p:nvSpPr>
          <p:cNvPr id="39" name="Ícone fundo Planejamento semanal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0" name="Ícone Planejamento semanal" descr="Planejamento seman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41" name="Título Planejamento semanal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6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Planejamento semanal</a:t>
            </a:r>
            <a:endParaRPr lang="en-US" sz="1400" dirty="0"/>
          </a:p>
        </p:txBody>
      </p:sp>
      <p:sp>
        <p:nvSpPr>
          <p:cNvPr id="42" name="Papel Planne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3" name="Papel texto Planne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Planner</a:t>
            </a:r>
            <a:endParaRPr lang="en-US" sz="1400" dirty="0"/>
          </a:p>
        </p:txBody>
      </p:sp>
      <p:sp>
        <p:nvSpPr>
          <p:cNvPr id="44" name="Texto Planne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Consolidar preventivas e corretivas na programação semanal, com datas previstas, recursos, ferramentas e materiais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950976" y="1408176"/>
            <a:ext cx="1243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EXECUTAR E ENCERRAR</a:t>
            </a:r>
            <a:endParaRPr lang="en-US" sz="5400" dirty="0"/>
          </a:p>
        </p:txBody>
      </p:sp>
      <p:sp>
        <p:nvSpPr>
          <p:cNvPr id="3" name="Passo 1"/>
          <p:cNvSpPr/>
          <p:nvPr/>
        </p:nvSpPr>
        <p:spPr>
          <a:xfrm>
            <a:off x="95097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4" name="Passo texto 1"/>
          <p:cNvSpPr txBox="1"/>
          <p:nvPr/>
        </p:nvSpPr>
        <p:spPr>
          <a:xfrm>
            <a:off x="104241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Abertura de nota</a:t>
            </a:r>
            <a:endParaRPr lang="en-US" sz="1600" dirty="0"/>
          </a:p>
        </p:txBody>
      </p:sp>
      <p:sp>
        <p:nvSpPr>
          <p:cNvPr id="5" name="Passo 2"/>
          <p:cNvSpPr/>
          <p:nvPr/>
        </p:nvSpPr>
        <p:spPr>
          <a:xfrm>
            <a:off x="278688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6" name="Passo texto 2"/>
          <p:cNvSpPr txBox="1"/>
          <p:nvPr/>
        </p:nvSpPr>
        <p:spPr>
          <a:xfrm>
            <a:off x="287832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Análise de nota</a:t>
            </a:r>
            <a:endParaRPr lang="en-US" sz="1600" dirty="0"/>
          </a:p>
        </p:txBody>
      </p:sp>
      <p:sp>
        <p:nvSpPr>
          <p:cNvPr id="7" name="Passo 3"/>
          <p:cNvSpPr/>
          <p:nvPr/>
        </p:nvSpPr>
        <p:spPr>
          <a:xfrm>
            <a:off x="462280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8" name="Passo texto 3"/>
          <p:cNvSpPr txBox="1"/>
          <p:nvPr/>
        </p:nvSpPr>
        <p:spPr>
          <a:xfrm>
            <a:off x="471424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Gerar ordem de serviço</a:t>
            </a:r>
            <a:endParaRPr lang="en-US" sz="1600" dirty="0"/>
          </a:p>
        </p:txBody>
      </p:sp>
      <p:sp>
        <p:nvSpPr>
          <p:cNvPr id="9" name="Passo 4"/>
          <p:cNvSpPr/>
          <p:nvPr/>
        </p:nvSpPr>
        <p:spPr>
          <a:xfrm>
            <a:off x="645871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0" name="Passo texto 4"/>
          <p:cNvSpPr txBox="1"/>
          <p:nvPr/>
        </p:nvSpPr>
        <p:spPr>
          <a:xfrm>
            <a:off x="655015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Detalhar ordem</a:t>
            </a:r>
            <a:endParaRPr lang="en-US" sz="1600" dirty="0"/>
          </a:p>
        </p:txBody>
      </p:sp>
      <p:sp>
        <p:nvSpPr>
          <p:cNvPr id="11" name="Passo 5"/>
          <p:cNvSpPr/>
          <p:nvPr/>
        </p:nvSpPr>
        <p:spPr>
          <a:xfrm>
            <a:off x="8294624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2" name="Passo texto 5"/>
          <p:cNvSpPr txBox="1"/>
          <p:nvPr/>
        </p:nvSpPr>
        <p:spPr>
          <a:xfrm>
            <a:off x="8386064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Priorização da ordem</a:t>
            </a:r>
            <a:endParaRPr lang="en-US" sz="1600" dirty="0"/>
          </a:p>
        </p:txBody>
      </p:sp>
      <p:sp>
        <p:nvSpPr>
          <p:cNvPr id="13" name="Passo 6"/>
          <p:cNvSpPr/>
          <p:nvPr/>
        </p:nvSpPr>
        <p:spPr>
          <a:xfrm>
            <a:off x="10130536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/>
        </p:spPr>
      </p:sp>
      <p:sp>
        <p:nvSpPr>
          <p:cNvPr id="14" name="Passo texto 6"/>
          <p:cNvSpPr txBox="1"/>
          <p:nvPr/>
        </p:nvSpPr>
        <p:spPr>
          <a:xfrm>
            <a:off x="10221976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  </a:t>
            </a:r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Planejamento semanal</a:t>
            </a:r>
            <a:endParaRPr lang="en-US" sz="1600" dirty="0"/>
          </a:p>
        </p:txBody>
      </p:sp>
      <p:sp>
        <p:nvSpPr>
          <p:cNvPr id="15" name="Passo 7"/>
          <p:cNvSpPr/>
          <p:nvPr/>
        </p:nvSpPr>
        <p:spPr>
          <a:xfrm>
            <a:off x="11966448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16" name="Passo texto 7"/>
          <p:cNvSpPr txBox="1"/>
          <p:nvPr/>
        </p:nvSpPr>
        <p:spPr>
          <a:xfrm>
            <a:off x="12057888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Execução</a:t>
            </a:r>
            <a:endParaRPr lang="en-US" sz="1600" dirty="0"/>
          </a:p>
        </p:txBody>
      </p:sp>
      <p:sp>
        <p:nvSpPr>
          <p:cNvPr id="17" name="Passo 8"/>
          <p:cNvSpPr/>
          <p:nvPr/>
        </p:nvSpPr>
        <p:spPr>
          <a:xfrm>
            <a:off x="13802360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18" name="Passo texto 8"/>
          <p:cNvSpPr txBox="1"/>
          <p:nvPr/>
        </p:nvSpPr>
        <p:spPr>
          <a:xfrm>
            <a:off x="13893800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Confirmação</a:t>
            </a:r>
            <a:endParaRPr lang="en-US" sz="1600" dirty="0"/>
          </a:p>
        </p:txBody>
      </p:sp>
      <p:sp>
        <p:nvSpPr>
          <p:cNvPr id="19" name="Passo 9"/>
          <p:cNvSpPr/>
          <p:nvPr/>
        </p:nvSpPr>
        <p:spPr>
          <a:xfrm>
            <a:off x="15638272" y="2624328"/>
            <a:ext cx="1698752" cy="82296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</p:sp>
      <p:sp>
        <p:nvSpPr>
          <p:cNvPr id="20" name="Passo texto 9"/>
          <p:cNvSpPr txBox="1"/>
          <p:nvPr/>
        </p:nvSpPr>
        <p:spPr>
          <a:xfrm>
            <a:off x="15729712" y="2624328"/>
            <a:ext cx="151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  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Encerramento</a:t>
            </a:r>
            <a:endParaRPr lang="en-US" sz="1600" dirty="0"/>
          </a:p>
        </p:txBody>
      </p:sp>
      <p:sp>
        <p:nvSpPr>
          <p:cNvPr id="21" name="Cartão Execução da ordem"/>
          <p:cNvSpPr/>
          <p:nvPr/>
        </p:nvSpPr>
        <p:spPr>
          <a:xfrm>
            <a:off x="950976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</p:sp>
      <p:sp>
        <p:nvSpPr>
          <p:cNvPr id="22" name="Ícone fundo Execução da ordem"/>
          <p:cNvSpPr/>
          <p:nvPr/>
        </p:nvSpPr>
        <p:spPr>
          <a:xfrm>
            <a:off x="1271016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Ícone Execução da ordem" descr="Execução da ord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4178808"/>
            <a:ext cx="374904" cy="374904"/>
          </a:xfrm>
          <a:prstGeom prst="rect">
            <a:avLst/>
          </a:prstGeom>
        </p:spPr>
      </p:pic>
      <p:sp>
        <p:nvSpPr>
          <p:cNvPr id="24" name="Título Execução da ordem"/>
          <p:cNvSpPr txBox="1"/>
          <p:nvPr/>
        </p:nvSpPr>
        <p:spPr>
          <a:xfrm>
            <a:off x="2322576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7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Execução da ordem</a:t>
            </a:r>
            <a:endParaRPr lang="en-US" sz="1400" dirty="0"/>
          </a:p>
        </p:txBody>
      </p:sp>
      <p:sp>
        <p:nvSpPr>
          <p:cNvPr id="25" name="Papel Operador/Técnico"/>
          <p:cNvSpPr/>
          <p:nvPr/>
        </p:nvSpPr>
        <p:spPr>
          <a:xfrm>
            <a:off x="1271016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Papel texto Operador/Técnico"/>
          <p:cNvSpPr txBox="1"/>
          <p:nvPr/>
        </p:nvSpPr>
        <p:spPr>
          <a:xfrm>
            <a:off x="1271016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Operador/Técnico</a:t>
            </a:r>
            <a:endParaRPr lang="en-US" sz="1400" dirty="0"/>
          </a:p>
        </p:txBody>
      </p:sp>
      <p:sp>
        <p:nvSpPr>
          <p:cNvPr id="27" name="Texto Operador/Técnico"/>
          <p:cNvSpPr txBox="1"/>
          <p:nvPr/>
        </p:nvSpPr>
        <p:spPr>
          <a:xfrm>
            <a:off x="1271016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Executar 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correta confirmação da ordem de serviço</a:t>
            </a:r>
            <a:endParaRPr lang="en-US" sz="1700" dirty="0"/>
          </a:p>
        </p:txBody>
      </p:sp>
      <p:sp>
        <p:nvSpPr>
          <p:cNvPr id="28" name="Cartão Confirmação da ordem"/>
          <p:cNvSpPr/>
          <p:nvPr/>
        </p:nvSpPr>
        <p:spPr>
          <a:xfrm>
            <a:off x="6504432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</p:sp>
      <p:sp>
        <p:nvSpPr>
          <p:cNvPr id="29" name="Ícone fundo Confirmação da ordem"/>
          <p:cNvSpPr/>
          <p:nvPr/>
        </p:nvSpPr>
        <p:spPr>
          <a:xfrm>
            <a:off x="6824472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Ícone Confirmação da ordem" descr="Confirmação da ord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60" y="4178808"/>
            <a:ext cx="374904" cy="374904"/>
          </a:xfrm>
          <a:prstGeom prst="rect">
            <a:avLst/>
          </a:prstGeom>
        </p:spPr>
      </p:pic>
      <p:sp>
        <p:nvSpPr>
          <p:cNvPr id="31" name="Título Confirmação da ordem"/>
          <p:cNvSpPr txBox="1"/>
          <p:nvPr/>
        </p:nvSpPr>
        <p:spPr>
          <a:xfrm>
            <a:off x="7876032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8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Confirmação da ordem</a:t>
            </a:r>
            <a:endParaRPr lang="en-US" sz="1400" dirty="0"/>
          </a:p>
        </p:txBody>
      </p:sp>
      <p:sp>
        <p:nvSpPr>
          <p:cNvPr id="32" name="Papel Técnico"/>
          <p:cNvSpPr/>
          <p:nvPr/>
        </p:nvSpPr>
        <p:spPr>
          <a:xfrm>
            <a:off x="6824472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3" name="Papel texto Técnico"/>
          <p:cNvSpPr txBox="1"/>
          <p:nvPr/>
        </p:nvSpPr>
        <p:spPr>
          <a:xfrm>
            <a:off x="6824472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Técnico</a:t>
            </a:r>
            <a:endParaRPr lang="en-US" sz="1400" dirty="0"/>
          </a:p>
        </p:txBody>
      </p:sp>
      <p:sp>
        <p:nvSpPr>
          <p:cNvPr id="34" name="Texto Técnico"/>
          <p:cNvSpPr txBox="1"/>
          <p:nvPr/>
        </p:nvSpPr>
        <p:spPr>
          <a:xfrm>
            <a:off x="6824472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Confirmar a ordem com a descrição detalhada do serviço realizado, incluindo as horas apropriadas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Se houver anomalia durante a execução, informar a nota corretiva aberta na confirmação</a:t>
            </a:r>
            <a:endParaRPr lang="en-US" sz="1700" dirty="0"/>
          </a:p>
        </p:txBody>
      </p:sp>
      <p:sp>
        <p:nvSpPr>
          <p:cNvPr id="35" name="Cartão Encerramento da ordem"/>
          <p:cNvSpPr/>
          <p:nvPr/>
        </p:nvSpPr>
        <p:spPr>
          <a:xfrm>
            <a:off x="12057888" y="3611880"/>
            <a:ext cx="5279136" cy="5907024"/>
          </a:xfrm>
          <a:prstGeom prst="roundRect">
            <a:avLst>
              <a:gd name="adj" fmla="val 3464"/>
            </a:avLst>
          </a:prstGeom>
          <a:solidFill>
            <a:schemeClr val="bg2"/>
          </a:solidFill>
          <a:ln/>
        </p:spPr>
      </p:sp>
      <p:sp>
        <p:nvSpPr>
          <p:cNvPr id="36" name="Ícone fundo Encerramento da ordem"/>
          <p:cNvSpPr/>
          <p:nvPr/>
        </p:nvSpPr>
        <p:spPr>
          <a:xfrm>
            <a:off x="12377928" y="393192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7" name="Ícone Encerramento da ordem" descr="Encerramento da ord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4816" y="4178808"/>
            <a:ext cx="374904" cy="374904"/>
          </a:xfrm>
          <a:prstGeom prst="rect">
            <a:avLst/>
          </a:prstGeom>
        </p:spPr>
      </p:pic>
      <p:sp>
        <p:nvSpPr>
          <p:cNvPr id="38" name="Título Encerramento da ordem"/>
          <p:cNvSpPr txBox="1"/>
          <p:nvPr/>
        </p:nvSpPr>
        <p:spPr>
          <a:xfrm>
            <a:off x="13429488" y="3886200"/>
            <a:ext cx="3633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9</a:t>
            </a:r>
            <a:endParaRPr lang="en-US" sz="14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Encerramento da ordem</a:t>
            </a:r>
            <a:endParaRPr lang="en-US" sz="1400" dirty="0"/>
          </a:p>
        </p:txBody>
      </p:sp>
      <p:sp>
        <p:nvSpPr>
          <p:cNvPr id="39" name="Papel Supervisor"/>
          <p:cNvSpPr/>
          <p:nvPr/>
        </p:nvSpPr>
        <p:spPr>
          <a:xfrm>
            <a:off x="12377928" y="5120640"/>
            <a:ext cx="210312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0" name="Papel texto Supervisor"/>
          <p:cNvSpPr txBox="1"/>
          <p:nvPr/>
        </p:nvSpPr>
        <p:spPr>
          <a:xfrm>
            <a:off x="12377928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Supervisor</a:t>
            </a:r>
            <a:endParaRPr lang="en-US" sz="1400" dirty="0"/>
          </a:p>
        </p:txBody>
      </p:sp>
      <p:sp>
        <p:nvSpPr>
          <p:cNvPr id="41" name="Texto Supervisor"/>
          <p:cNvSpPr txBox="1"/>
          <p:nvPr/>
        </p:nvSpPr>
        <p:spPr>
          <a:xfrm>
            <a:off x="12377928" y="5623560"/>
            <a:ext cx="46390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Garantir a qualidade da confirmação da ordem de serviço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Validar a execução da atividade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Encerrar a ordem de serviço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950976" y="5577840"/>
            <a:ext cx="111282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OBRIGADO!</a:t>
            </a:r>
            <a:endParaRPr lang="en-US" sz="6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950976" y="8915400"/>
            <a:ext cx="111282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Dúvidas? Favor entrar em contato com Lucas Ribas de Andrade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O Maintenance">
  <a:themeElements>
    <a:clrScheme name="PRIO Maintenance">
      <a:dk1>
        <a:srgbClr val="2C2849"/>
      </a:dk1>
      <a:lt1>
        <a:srgbClr val="FFFFFF"/>
      </a:lt1>
      <a:dk2>
        <a:srgbClr val="2C2849"/>
      </a:dk2>
      <a:lt2>
        <a:srgbClr val="F6F5FA"/>
      </a:lt2>
      <a:accent1>
        <a:srgbClr val="10AFFF"/>
      </a:accent1>
      <a:accent2>
        <a:srgbClr val="85E34D"/>
      </a:accent2>
      <a:accent3>
        <a:srgbClr val="9EDDEB"/>
      </a:accent3>
      <a:accent4>
        <a:srgbClr val="DDF5CC"/>
      </a:accent4>
      <a:accent5>
        <a:srgbClr val="F6F5FA"/>
      </a:accent5>
      <a:accent6>
        <a:srgbClr val="5C5878"/>
      </a:accent6>
      <a:hlink>
        <a:srgbClr val="10AFFF"/>
      </a:hlink>
      <a:folHlink>
        <a:srgbClr val="5C5878"/>
      </a:folHlink>
    </a:clrScheme>
    <a:fontScheme name="PRIO Maintenance">
      <a:majorFont>
        <a:latin typeface="Epilog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e Controle de Manutenção - Rotina do Planejador</dc:title>
  <dc:subject>PptxGenJS Presentation</dc:subject>
  <dc:creator>PRIO</dc:creator>
  <cp:lastModifiedBy>PRIO</cp:lastModifiedBy>
  <cp:revision>1</cp:revision>
  <dcterms:created xsi:type="dcterms:W3CDTF">2026-10-26T18:45:43Z</dcterms:created>
  <dcterms:modified xsi:type="dcterms:W3CDTF">2026-10-26T18:45:43Z</dcterms:modified>
</cp:coreProperties>
</file>