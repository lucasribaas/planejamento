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3" name="Image 0" descr="/tmp/claude-0/-workspace-Planejamento/701bf16a-957b-570b-9494-525d031cd973/scratchpad/pptx/icon_o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786841"/>
            <a:ext cx="575158" cy="5751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EM GRUPO  ·  POLÍTICAS PÚBLICAS DE INOVAÇÃO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237744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 de Óleo e Gás (E&amp;P)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o Caso PRIO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43434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públicas de inovação desde a redemocratização (1985): impactos positivos, o que não deu certo, e se houve aprendizado dos gestores públicos.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5989320"/>
            <a:ext cx="2926080" cy="0"/>
          </a:xfrm>
          <a:prstGeom prst="line">
            <a:avLst/>
          </a:prstGeom>
          <a:noFill/>
          <a:ln w="19050">
            <a:solidFill>
              <a:srgbClr val="2E405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 (ex-HRT / PetroRio)  —  estudo de caso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ESCOLHIDO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Exploração e Produção de Petróleo e Gás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 (ex-HRT/PetroRio) foi escolhida como estudo de caso porque é 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produto quase direto</a:t>
            </a:r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mudanças regulatórias do setor.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935224"/>
            <a:ext cx="82296" cy="82296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70632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como exploradora de risco na Amazônia (HRT) e quase quebrou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593592"/>
            <a:ext cx="82296" cy="82296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4290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Pivotou para compra de campos maduros da Petrobras a partir de 2013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82296" cy="82296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8736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Tornou-se a maior petrolífera privada do Brasil surfando políticas de abertura do setor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18120" y="777240"/>
            <a:ext cx="3840480" cy="5349240"/>
          </a:xfrm>
          <a:prstGeom prst="roundRect">
            <a:avLst>
              <a:gd name="adj" fmla="val 2857"/>
            </a:avLst>
          </a:prstGeom>
          <a:solidFill>
            <a:srgbClr val="14181D"/>
          </a:solidFill>
          <a:ln/>
        </p:spPr>
      </p:sp>
      <p:sp>
        <p:nvSpPr>
          <p:cNvPr id="12" name="Shape 10"/>
          <p:cNvSpPr/>
          <p:nvPr/>
        </p:nvSpPr>
        <p:spPr>
          <a:xfrm>
            <a:off x="8183880" y="1143000"/>
            <a:ext cx="685800" cy="68580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3" name="Image 0" descr="/tmp/claude-0/-workspace-Planejamento/701bf16a-957b-570b-9494-525d031cd973/scratchpad/pptx/icon_p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034" y="1232154"/>
            <a:ext cx="507492" cy="50749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83880" y="2011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 setor?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183880" y="24688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dos setores com maior densidade regulatória do Brasil desde 1985 — cada fase de abertura, retração e correção de política pública é visível em uma métrica concreta: quem entra e quem sai do mercado.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83880" y="4160520"/>
            <a:ext cx="3108960" cy="0"/>
          </a:xfrm>
          <a:prstGeom prst="line">
            <a:avLst/>
          </a:prstGeom>
          <a:noFill/>
          <a:ln w="12700">
            <a:solidFill>
              <a:srgbClr val="2A2F3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83880" y="4389120"/>
            <a:ext cx="3108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PRIO não nasceu de uma política de inovação bem-sucedida — nasceu da correção de rota de uma que não funcionou."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PÚBLICAS DE INOVAÇÃO IDENTIFICADAS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do tempo regulatória (1985–2019)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136392" y="2039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039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029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1995/97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441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monopólio + Lei do Petróleo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2953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 9/1995 e Lei 9.478/1997 criam a ANP e abrem o setor a operadoras privadas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88736" y="2039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0984" y="1874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5576" y="2039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14" name="Text 12"/>
          <p:cNvSpPr/>
          <p:nvPr/>
        </p:nvSpPr>
        <p:spPr>
          <a:xfrm>
            <a:off x="3465576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9624" y="2029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65576" y="2441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REPETRO, CT-Petro e Conteúdo Local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65576" y="2953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 aduaneiro especial, fundo de P&amp;D e exigência de bens/serviços nacionais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41080" y="2039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53328" y="1874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039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01968" y="2029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441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17920" y="2953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para mobilizar e qualificar fornecedores nacionais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05672" y="1874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0264" y="2039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27" name="Text 25"/>
          <p:cNvSpPr/>
          <p:nvPr/>
        </p:nvSpPr>
        <p:spPr>
          <a:xfrm>
            <a:off x="8970264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54312" y="2029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970264" y="2441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Partilha de produção do pré-sal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70264" y="2953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 torna-se operadora única obrigatória, mínimo de 30%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36392" y="4325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160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33" name="Shape 31"/>
          <p:cNvSpPr/>
          <p:nvPr/>
        </p:nvSpPr>
        <p:spPr>
          <a:xfrm>
            <a:off x="713232" y="4325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4315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2015–18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3232" y="4727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Desinvestimento da Petrobras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713232" y="5239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de campos maduros da Bacia de Campos após crise financeira e Lava Jato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888736" y="4325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00984" y="4160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40" name="Shape 38"/>
          <p:cNvSpPr/>
          <p:nvPr/>
        </p:nvSpPr>
        <p:spPr>
          <a:xfrm>
            <a:off x="3465576" y="4325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41" name="Text 39"/>
          <p:cNvSpPr/>
          <p:nvPr/>
        </p:nvSpPr>
        <p:spPr>
          <a:xfrm>
            <a:off x="3465576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849624" y="4315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65576" y="4727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exclusividade no pré-sal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3465576" y="5239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13.365/2016 permite que Petrobras não seja mais operadora obrigatória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641080" y="4325112"/>
            <a:ext cx="164592" cy="0"/>
          </a:xfrm>
          <a:prstGeom prst="line">
            <a:avLst/>
          </a:prstGeom>
          <a:noFill/>
          <a:ln w="19050">
            <a:solidFill>
              <a:srgbClr val="D8DB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53328" y="4160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47" name="Shape 45"/>
          <p:cNvSpPr/>
          <p:nvPr/>
        </p:nvSpPr>
        <p:spPr>
          <a:xfrm>
            <a:off x="6217920" y="4325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48" name="Text 46"/>
          <p:cNvSpPr/>
          <p:nvPr/>
        </p:nvSpPr>
        <p:spPr>
          <a:xfrm>
            <a:off x="6217920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01968" y="4315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2017–18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17920" y="4727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Flexibilização do Conteúdo Local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6217920" y="5239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CNPE 7/2017 e ANP 726/2018 reduzem exigências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805672" y="4160520"/>
            <a:ext cx="2587752" cy="1965960"/>
          </a:xfrm>
          <a:prstGeom prst="roundRect">
            <a:avLst>
              <a:gd name="adj" fmla="val 3721"/>
            </a:avLst>
          </a:prstGeom>
          <a:solidFill>
            <a:srgbClr val="F4F5F6"/>
          </a:solidFill>
          <a:ln/>
        </p:spPr>
      </p:sp>
      <p:sp>
        <p:nvSpPr>
          <p:cNvPr id="53" name="Shape 51"/>
          <p:cNvSpPr/>
          <p:nvPr/>
        </p:nvSpPr>
        <p:spPr>
          <a:xfrm>
            <a:off x="8970264" y="4325112"/>
            <a:ext cx="292608" cy="292608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54" name="Text 52"/>
          <p:cNvSpPr/>
          <p:nvPr/>
        </p:nvSpPr>
        <p:spPr>
          <a:xfrm>
            <a:off x="8970264" y="4325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354312" y="431596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970264" y="4727448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Permanente da ANP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8970264" y="5239512"/>
            <a:ext cx="225856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 rodadas esporádicas por oferta contínua de blocos e campos devolvidos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POSITIVOS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essas políticas fizeram funcionar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5" name="Image 0" descr="/tmp/claude-0/-workspace-Planejamento/701bf16a-957b-570b-9494-525d031cd973/scratchpad/pptx/icon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341" y="181106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monopólio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325880" y="2029968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Abriu o setor a operadoras privadas e internacionais, elevando investimento e produção nacional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70048"/>
            <a:ext cx="566928" cy="56692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9" name="Image 1" descr="/tmp/claude-0/-workspace-Planejamento/701bf16a-957b-570b-9494-525d031cd973/scratchpad/pptx/icon_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341" y="2743749"/>
            <a:ext cx="419527" cy="4195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65176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exclusividade da Petrobras no pré-sal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325880" y="2962656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Permitiu a entrada de outros operadores em áreas antes travadas por obrigatoriedade legal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566928" cy="56692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3" name="Image 2" descr="/tmp/claude-0/-workspace-Planejamento/701bf16a-957b-570b-9494-525d031cd973/scratchpad/pptx/icon_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41" y="3676437"/>
            <a:ext cx="419527" cy="41952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58444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campos maduros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325880" y="3895344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Desinvestimento da Petrobras + Oferta Permanente criaram espaço para operadoras independentes como a PRIO (Polvo, Frade, Tubarão Martelo, Wahoo, Albacora Leste) elevarem o fator de recuperação desses campos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4535424"/>
            <a:ext cx="566928" cy="56692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7" name="Image 3" descr="/tmp/claude-0/-workspace-Planejamento/701bf16a-957b-570b-9494-525d031cd973/scratchpad/pptx/icon_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41" y="4609125"/>
            <a:ext cx="419527" cy="41952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51713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REPETRO / Repetro-Sped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325880" y="4828032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Reduziu custo tributário de importação de equipamentos, viabilizando investimento por empresas de porte médio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5468112"/>
            <a:ext cx="566928" cy="566928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1" name="Image 4" descr="/tmp/claude-0/-workspace-Planejamento/701bf16a-957b-570b-9494-525d031cd973/scratchpad/pptx/icon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1" y="5541813"/>
            <a:ext cx="419527" cy="419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25880" y="544982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competição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325880" y="576072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7D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Flexibilização do conteúdo local e Oferta Permanente baixaram barreiras de entrada no setor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DEU CERTO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desenho da política falhou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5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9B3B1F"/>
          </a:solidFill>
          <a:ln/>
        </p:spPr>
      </p:sp>
      <p:pic>
        <p:nvPicPr>
          <p:cNvPr id="6" name="Image 0" descr="/tmp/claude-0/-workspace-Planejamento/701bf16a-957b-570b-9494-525d031cd973/scratchpad/pptx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16850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084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Local rígido (1999–2007)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Indústria nacional sem capacidade para atender às exigências → atrasos, sobrecusto e contratos superfaturados (Lava Jato: Sete Brasil, Comperj)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8288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5F6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103120"/>
            <a:ext cx="502920" cy="502920"/>
          </a:xfrm>
          <a:prstGeom prst="ellipse">
            <a:avLst/>
          </a:prstGeom>
          <a:solidFill>
            <a:srgbClr val="9B3B1F"/>
          </a:solidFill>
          <a:ln/>
        </p:spPr>
      </p:sp>
      <p:pic>
        <p:nvPicPr>
          <p:cNvPr id="11" name="Image 1" descr="/tmp/claude-0/-workspace-Planejamento/701bf16a-957b-570b-9494-525d031cd973/scratchpad/pptx/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6180" y="21685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08483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PROMINP com alcance limitado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400800" y="274320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qualificou fornecedores nacionais na escala necessária para sustentar as próprias exigências de conteúdo local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5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502920" cy="502920"/>
          </a:xfrm>
          <a:prstGeom prst="ellipse">
            <a:avLst/>
          </a:prstGeom>
          <a:solidFill>
            <a:srgbClr val="9B3B1F"/>
          </a:solidFill>
          <a:ln/>
        </p:spPr>
      </p:sp>
      <p:pic>
        <p:nvPicPr>
          <p:cNvPr id="16" name="Image 2" descr="/tmp/claude-0/-workspace-Planejamento/701bf16a-957b-570b-9494-525d031cd973/scratchpad/pptx/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340" y="440878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2511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 sobrecarregada no pré-sal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Operadora única obrigatória com mínimo de 30% (2010–2016) além de sua capacidade de investimento, agravado pela crise de 2014–2016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40690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5F6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343400"/>
            <a:ext cx="502920" cy="502920"/>
          </a:xfrm>
          <a:prstGeom prst="ellipse">
            <a:avLst/>
          </a:prstGeom>
          <a:solidFill>
            <a:srgbClr val="9B3B1F"/>
          </a:solidFill>
          <a:ln/>
        </p:spPr>
      </p:sp>
      <p:pic>
        <p:nvPicPr>
          <p:cNvPr id="21" name="Image 3" descr="/tmp/claude-0/-workspace-Planejamento/701bf16a-957b-570b-9494-525d031cd973/scratchpad/pptx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440878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325112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jurídica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400800" y="4983480"/>
            <a:ext cx="4709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nas regras de royalties e tentativa de flexibilizar conteúdo local retroativamente geraram disputas sobre direito adquirido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ANÁLISE POR PARTE DOS GOVERNOS?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sim, planejamento preventivo não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4181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47672"/>
            <a:ext cx="548640" cy="548640"/>
          </a:xfrm>
          <a:prstGeom prst="ellipse">
            <a:avLst/>
          </a:prstGeom>
          <a:solidFill>
            <a:srgbClr val="E3A544"/>
          </a:solidFill>
          <a:ln/>
        </p:spPr>
      </p:sp>
      <p:pic>
        <p:nvPicPr>
          <p:cNvPr id="6" name="Image 0" descr="/tmp/claude-0/-workspace-Planejamento/701bf16a-957b-570b-9494-525d031cd973/scratchpad/pptx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01899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9418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correções foram reativas a crises — queda do petróleo (2014–16) e Lava Jato — não fruto de avaliação preventiva de política pública.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00584" cy="100584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92608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local (2017)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flexibilização só veio depois que a crise e a Lava Jato expuseram a ineficiência do modelo — houve diagnóstico técnico da ANP/CNPE, mas motivado pela urgência de reativar investimentos.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100584" cy="100584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38862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exclusividade da Petrobras (2016)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do reconhecimento explícito, pelo próprio autor do projeto, de que a estatal não tinha mais capacidade financeira de cumprir a obrigação — aprendizado direto da crise, não estudo prévio.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029200"/>
            <a:ext cx="100584" cy="100584"/>
          </a:xfrm>
          <a:prstGeom prst="ellipse">
            <a:avLst/>
          </a:prstGeom>
          <a:solidFill>
            <a:srgbClr val="E3A544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48463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B1F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AIR formal  —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evidência de Análise de Impacto Regulatório ampla e antecipada; as reformas de 2016–2019 foram respostas compensatórias, sob pressão fiscal e de mercado.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APRENDIZADO DOS GESTORES PÚBLICOS?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incremental — e ainda incompleta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1D2229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965960"/>
            <a:ext cx="548640" cy="548640"/>
          </a:xfrm>
          <a:prstGeom prst="ellipse">
            <a:avLst/>
          </a:prstGeom>
          <a:solidFill>
            <a:srgbClr val="E3A544"/>
          </a:solidFill>
          <a:ln/>
        </p:spPr>
      </p:sp>
      <p:pic>
        <p:nvPicPr>
          <p:cNvPr id="6" name="Image 0" descr="/tmp/claude-0/-workspace-Planejamento/701bf16a-957b-570b-9494-525d031cd973/scratchpad/pptx/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9280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Permanente (2019)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22128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exemplo mais claro de correção de rota bem-sucedida: substituiu rodadas esporádicas por oferta contínua, resolvendo a descontinuidade de investimento.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52928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1D2229"/>
          </a:solidFill>
          <a:ln/>
        </p:spPr>
      </p:sp>
      <p:sp>
        <p:nvSpPr>
          <p:cNvPr id="10" name="Shape 7"/>
          <p:cNvSpPr/>
          <p:nvPr/>
        </p:nvSpPr>
        <p:spPr>
          <a:xfrm>
            <a:off x="749808" y="3035808"/>
            <a:ext cx="548640" cy="54864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1" name="Image 1" descr="/tmp/claude-0/-workspace-Planejamento/701bf16a-957b-570b-9494-525d031cd973/scratchpad/pptx/icon_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131" y="3107131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6265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Flexibilização do conteúdo local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508760" y="3282696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Resolveu o excesso de rigidez, mas criou nova insegurança jurídica ao permitir alterar contratos já firmados retroativamente.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1D2229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4105656"/>
            <a:ext cx="548640" cy="54864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16" name="Image 2" descr="/tmp/claude-0/-workspace-Planejamento/701bf16a-957b-570b-9494-525d031cd973/scratchpad/pptx/icon_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" y="4176979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3250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Royalties e participações especiais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435254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ainda instável, com disputas judiciais entre estados produtores e não produtores — aprendizado incompleto.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992624"/>
            <a:ext cx="10881360" cy="932688"/>
          </a:xfrm>
          <a:prstGeom prst="roundRect">
            <a:avLst>
              <a:gd name="adj" fmla="val 7843"/>
            </a:avLst>
          </a:prstGeom>
          <a:solidFill>
            <a:srgbClr val="1D2229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5175504"/>
            <a:ext cx="548640" cy="548640"/>
          </a:xfrm>
          <a:prstGeom prst="ellipse">
            <a:avLst/>
          </a:prstGeom>
          <a:solidFill>
            <a:srgbClr val="2E4057"/>
          </a:solidFill>
          <a:ln/>
        </p:spPr>
      </p:sp>
      <p:pic>
        <p:nvPicPr>
          <p:cNvPr id="21" name="Image 3" descr="/tmp/claude-0/-workspace-Planejamento/701bf16a-957b-570b-9494-525d031cd973/scratchpad/pptx/icon_bul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131" y="5246827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510235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Surgimento de operadoras como a PRIO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08760" y="542239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"acerto" prático foi efeito colateral da crise financeira da Petrobras, não de planejamento deliberado de política industrial.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5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 como produto da correção de rota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C7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fracassou como exploradora de risco sob o modelo antigo e só decolou depois de pivotar para campos maduros — movimento possível por três fatores: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D222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13.365/2016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Permitiu que a Petrobras deixasse de operar tudo no pré-sal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3317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D2229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8056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Desinvestimento da Petrobras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0560" y="3703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Pressionada pela crise financeira e pela Lava Jato, colocou ativos maduros à venda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233172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D2229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A5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83880" y="32004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Permanente + Conteúdo Local flexível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83880" y="370332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8B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Reduziram as barreiras regulatórias para uma operadora de porte médio assumir esses ativos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800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2E405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37760"/>
            <a:ext cx="10241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 não foi beneficiada por uma política de inovação bem-sucedida por desenho — foi beneficiada pela correção de rota que o governo fez depois que o modelo anterior mostrou sinais claros de esgotamento sob crise.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2026-08-13T00:56:37Z</dcterms:created>
  <dcterms:modified xsi:type="dcterms:W3CDTF">2026-08-13T00:56:37Z</dcterms:modified>
</cp:coreProperties>
</file>