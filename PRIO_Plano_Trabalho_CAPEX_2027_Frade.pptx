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7A2E2E"/>
            </a:solidFill>
            <a:effectLst/>
          </c:spPr>
          <c:invertIfNegative val="0"/>
          <c:dLbls>
            <c:numFmt formatCode="0.0&quot;mi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FPSO Frade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66.26</c:v>
                </c:pt>
              </c:numCache>
            </c:numRef>
          </c:val>
        </c:ser>
        <c:dLbls>
          <c:numFmt formatCode="0.0&quot;mi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2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8E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· 2027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&amp;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 CAPEX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Frade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005840" cy="0"/>
          </a:xfrm>
          <a:prstGeom prst="line">
            <a:avLst/>
          </a:prstGeom>
          <a:noFill/>
          <a:ln w="31750">
            <a:solidFill>
              <a:srgbClr val="A6CE3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892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do plano de trabalho por frente estratégica e da composição do orçamento de CAPEX 2027, para leitura executiva.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em 25/09/2026  ·  Confidencial – Uso Interno PRIO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Consolidado · FPSO Frade 2027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US$ 66,3 mi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e 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6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3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ESCOPOS DE CAPEX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3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análise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7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4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4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NO PLANO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4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ativo · 5 frentes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2027 POR ATIVO (US$ milhões)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329184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291840"/>
          <a:ext cx="5287975" cy="914400"/>
        </p:xfrm>
        <a:graphic>
          <a:graphicData uri="http://schemas.openxmlformats.org/drawingml/2006/table">
            <a:tbl>
              <a:tblPr/>
              <a:tblGrid>
                <a:gridCol w="2220950"/>
                <a:gridCol w="1692152"/>
                <a:gridCol w="137487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ATIVO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ESCOPOS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FPSO Frade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US$ 66,3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89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US$ 66,3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89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base 'Geral - Em análise' (aba do arquivo Plano Integrado), somando itens com status 'Contar'. Não inclui itens de Parada Programada (status 'TA') em nenhum ativo. Nenhum total considera a categoria Desenvolvimento de Produção.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15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frade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42926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US$ 66,3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e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US$ 30,4 mi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US$ 35,9 mi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40156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773729" y="340156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US$ 24,9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83203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683203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- Naval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773729" y="3683203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US$ 15,7 mi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96483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773729" y="396483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US$ 13,6 mi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4647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24647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773729" y="424647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US$ 3,8 mi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528109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- Integridade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773729" y="4528109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US$ 2,1 mi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80974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480974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- Administrativo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773729" y="480974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US$ 2,1 mi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091379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773729" y="5091379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US$ 2,0 mi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37301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66928" y="537301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773729" y="537301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US$ 1,1 mi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5654650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773729" y="5654650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US$ 822,3 mil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936285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66928" y="5936285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773729" y="5936285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US$ 75,1 mil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64808" y="340156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671609" y="340156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US$ 22,7 mi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3683203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64808" y="3683203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Operacional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71609" y="3683203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US$ 17,4 mi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464808" y="396483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71609" y="396483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US$ 15,0 mi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55080" y="424647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64808" y="424647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671609" y="424647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US$ 11,2 mi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'Contar'. Não inclui itens de Parada Programada (status 'TA') nem a categoria Desenvolvimento de Produção (US$ 0, mantida na lista de Categoria apenas para referência).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89 itens no total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Guincho de Pull In + Reforma do Turret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US$ 11,6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DOS BOOGIES DO TURRET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L3 - TURBINA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Frade 100K (Fase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 PARTS RECONDICIONAMENTO DOS BOOGIES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Reforma do Casario - Acomodação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 - Administrativo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linha offloading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 IGG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Gerador de Nitrogênio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de H2S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Skids de Dilúvio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US$ 1,3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Combate a Incêndio - Compra e Instalação de Cabines de Dilúvio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77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US$ 17,9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TROCADOR DE CALOR DO GERADOR - GT4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US$ 876,9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Detectores de Chama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US$ 826,2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 E INSTALAÇÃO DA PIGGING PUMP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US$ 773,5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Combate a Incêndio - Retrofit do sistema fixo de CO2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BOMBA DE AMINA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 SWRO A: Recuperação do sistema de WW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US$ 571,9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TBM - Junta de expansão exhaust - TURBINAS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US$ 560,7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Combate a Incêndio - Revamp das cabines de water mist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Mist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dos trocadores HBG 1040. (Material)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US$ 470,4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R&amp;R - REPARO DE SELOS DGS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US$ 463,5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 Aquisição de transformadores de melhor tecnologia dos tratadores eletrostáticos (Óleo - 1º TRI)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US$ 460,2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ESTUDOS DE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US$ 430,5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CABO SANSO - HAWSER WINCH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US$ 429,7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62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2026-09-28T22:25:36Z</dcterms:created>
  <dcterms:modified xsi:type="dcterms:W3CDTF">2026-09-28T22:25:36Z</dcterms:modified>
</cp:coreProperties>
</file>