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por Ativo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Peregrino, Cluster Sul &amp; FPSO Frade · 7 ativos · áreas priorizadas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- Uso Interno PRIO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0B2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US$ 6,5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Instalações (Fabric, Constr e Mont.)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US$ 2,0 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Interna NR-13 FPSO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US$ 1,2 mi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55592" y="2606040"/>
            <a:ext cx="665073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Tanques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US$ 1,2 mi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normatização de reparos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US$ 1,1 mi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5032" y="3483864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UWILD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US$ 500,0 mil</a:t>
            </a:r>
            <a:pPr indent="0" marL="0">
              <a:buNone/>
            </a:pPr>
            <a:r>
              <a:rPr lang="en-US" sz="7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[custo]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55592" y="3922776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Andaime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US$ 408,0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85032" y="436168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Inspeção Sistemas de Tubulações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US$ 373,8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026152" y="4800600"/>
            <a:ext cx="530961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RBI, ENDs complementares + Especiais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US$ 206,8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355592" y="5239512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FPSO PRG 2027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US$ 200,0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85032" y="5678424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PLAT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145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Instalações (Fabric, Constr e Mont.)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US$ 1,5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Gerenciamento de Corrosão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US$ 976,2 mil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Jackets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US$ 400,0 mil</a:t>
            </a:r>
            <a:pPr indent="0" marL="0">
              <a:buNone/>
            </a:pPr>
            <a:r>
              <a:rPr lang="en-US" sz="7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[custo]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20072" y="2606040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Andaime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US$ 312,0 mil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normatização de reparos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US$ 273,0 mil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26152" y="3483864"/>
            <a:ext cx="530961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NR-13 PLAT 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US$ 250,0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37832" y="3922776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Inspeção de sistemas de tubulação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US$ 243,0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720072" y="4361688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do Caisson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US$ 200,0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696712" y="4800600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Inspeção de Flowlines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US$ 109,0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049512" y="5239512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Quinquenal dos Guindastes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US$ 107,8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696712" y="5678424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145C68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PLAT 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Instalações (Fabric, Constr, Mont e RTI.)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US$ 2,1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Gerenciamento de Corrosão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US$ 1,3 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Substituição/ Reparo dos Caissons - Abrangência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US$ 1,2 mi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6152" y="2606040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Inspeção de sistemas de tubulação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US$ 567,0 mil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46390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de Jackets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US$ 400,0 mil</a:t>
            </a:r>
            <a:pPr indent="0" marL="0">
              <a:buNone/>
            </a:pPr>
            <a:r>
              <a:rPr lang="en-US" sz="7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[custo]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390632" y="3483864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NR-13 PLAT B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US$ 358,9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696712" y="3922776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Andaime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US$ 312,0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85032" y="436168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Substituição/ Reparo dos Caissons de FWP 1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US$ 292,5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685032" y="4800600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normatização de reparos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US$ 273,0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696712" y="5239512"/>
            <a:ext cx="5309616" cy="274320"/>
          </a:xfrm>
          <a:prstGeom prst="roundRect">
            <a:avLst>
              <a:gd name="adj" fmla="val 13333"/>
            </a:avLst>
          </a:prstGeom>
          <a:solidFill>
            <a:srgbClr val="2E7D6B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- Consultoria especializada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US$ 229,0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PLAT 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3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Instalações (Fabric, Constr e Mont.)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US$ 3,3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Preventiva (L1) da GTG-A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US$ 708,5 mil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55592" y="2167128"/>
            <a:ext cx="46390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Preventiva (L1) da GTG-B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US$ 708,5 mil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6152" y="2606040"/>
            <a:ext cx="46390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Inspeção de sistemas de tubulação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US$ 567,0 mil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46390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US$ 564,0 mil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5032" y="3483864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NR-13 PLAT C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US$ 480,6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85032" y="3922776"/>
            <a:ext cx="530961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de Jackets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US$ 400,0 mil</a:t>
            </a:r>
            <a:pPr indent="0" marL="0">
              <a:buNone/>
            </a:pPr>
            <a:r>
              <a:rPr lang="en-US" sz="7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[custo]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378952" y="4361688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Gerenciamento de Corrosão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US$ 322,7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720072" y="4800600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Construção - Andaime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US$ 312,0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685032" y="523951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normatização de reparos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US$ 273,0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367272" y="5678424"/>
            <a:ext cx="5309616" cy="274320"/>
          </a:xfrm>
          <a:prstGeom prst="roundRect">
            <a:avLst>
              <a:gd name="adj" fmla="val 13333"/>
            </a:avLst>
          </a:prstGeom>
          <a:solidFill>
            <a:srgbClr val="3E5C8A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8A5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USINA AGGREKO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US$ 2,0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Mergulho - Tamponamento da caixa de mar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US$ 1,2 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M5 - Time de Construção - Instalações (Fabric, Constr e Mont.)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US$ 1,1 mi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55592" y="2606040"/>
            <a:ext cx="732129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Dilúvio (FW e FF) - Troca de Tubulações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US$ 1,1 mi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de Sistema de Tubulação - 13 Sistemas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US$ 964,4 mil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55592" y="3483864"/>
            <a:ext cx="732129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UWILD - Casco e Amarra rasa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US$ 900,0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85032" y="3922776"/>
            <a:ext cx="128625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UWILD - Amarra profunda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US$ 620,0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e Retorno de Itens de Mecânica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US$ 610,5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Manutenção - Time de Construção - Instalações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US$ 600,0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685032" y="523951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M5 - Time de Construção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US$ 597,3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355592" y="5678424"/>
            <a:ext cx="7321296" cy="274320"/>
          </a:xfrm>
          <a:prstGeom prst="roundRect">
            <a:avLst>
              <a:gd name="adj" fmla="val 13333"/>
            </a:avLst>
          </a:prstGeom>
          <a:solidFill>
            <a:srgbClr val="8A5A2E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A67C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de material Automação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US$ 628,8 mil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M5 - Time de Construção - Instalações (Fabric, Constr e Mont.)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US$ 610,0 mil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Manutenção - Time de Construção - Instalações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US$ 600,0 mil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85032" y="2606040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normatização de DTPs - WHP Polvo-A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US$ 419,8 mil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6152" y="3044952"/>
            <a:ext cx="665073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QUINQUENAL DE GUINDASTE NORTE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US$ 372,5 mil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37832" y="3483864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QUINQUENAL DE GUINDASTE SUL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US$ 372,5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67272" y="3922776"/>
            <a:ext cx="61569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M5 - Time de Construção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US$ 266,0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85032" y="436168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Manutenção - Time de Construção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US$ 180,0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685032" y="4800600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e Retorno de Itens de Mecânica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US$ 180,0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RECUPERAÇÃO DE HVAC VFDs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US$ 178,8 mil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355592" y="5678424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A67C3D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· Top 10 OPEX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nas áreas priorizadas (Manutenção, Suporte Técnico, Confiabilidade, Integridade, Naval, Construção, Projetos) · barra = meses com POB lançado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(TOP 10 OPEX)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984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01040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02208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6320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33760" y="1325880"/>
            <a:ext cx="670560" cy="274320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RTI M5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US$ 2,2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6459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87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52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208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320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3760" y="164592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5032" y="1728216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84832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Preservação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US$ 1,4 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084832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81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87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104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152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208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320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33760" y="208483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167128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523744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Reparos Definitivos - Compósito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US$ 1,3 mi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5237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81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87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98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104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152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320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33760" y="252374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85032" y="2606040"/>
            <a:ext cx="732129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Preservação de Costado - Pintura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US$ 1,1 mi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2962656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81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87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98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04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09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152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208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6320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33760" y="296265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5032" y="304495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401568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CORRETIVAS - 307 Oss COM PEDIDO E VALOR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US$ 848,4 mil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87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398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104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809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152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208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9264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320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33760" y="340156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3657600" y="34015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cronograma informado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57200" y="3840480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CUI - Remoção, inspeção e Reinstalação do Isolamento térmico de 26 vasos.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US$ 576,0 mil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3840480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281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987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98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104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152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2208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9264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6320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3760" y="3840480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708392" y="3922776"/>
            <a:ext cx="396849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4279392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FPSO FRADE 2027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US$ 550,0 mil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27939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281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987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398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104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809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5152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2208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6320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33760" y="4279392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720072" y="4361688"/>
            <a:ext cx="195681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" y="4718304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NR-10 INSPEÇÃO - PREVENTIVA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US$ 547,8 mil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0" y="4718304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281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87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398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104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09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5152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208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264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6320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33760" y="4718304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685032" y="4800600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515721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 - Andaime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US$ 505,5 mil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657600" y="515721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281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987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692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398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04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809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5152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2208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6320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33760" y="5157216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685032" y="5239512"/>
            <a:ext cx="799185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" y="5596128"/>
            <a:ext cx="3200400" cy="438912"/>
          </a:xfrm>
          <a:prstGeom prst="rect">
            <a:avLst/>
          </a:prstGeom>
          <a:solidFill>
            <a:srgbClr val="F0F4F5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DE REASSESSMENT - TANQUES E LIFTING PLAN</a:t>
            </a:r>
            <a:pPr indent="0" marL="0">
              <a:buNone/>
            </a:pPr>
            <a:r>
              <a:rPr lang="en-US" sz="9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US$ 375,0 mil</a:t>
            </a:r>
            <a:pPr indent="0" marL="0">
              <a:buNone/>
            </a:pPr>
            <a:r>
              <a:rPr lang="en-US" sz="7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[custo]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657600" y="5596128"/>
            <a:ext cx="8046720" cy="438912"/>
          </a:xfrm>
          <a:prstGeom prst="rect">
            <a:avLst/>
          </a:prstGeom>
          <a:solidFill>
            <a:srgbClr val="F0F4F5"/>
          </a:solidFill>
          <a:ln w="6350">
            <a:solidFill>
              <a:srgbClr val="E3E8E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281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987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3398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104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5152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2208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9264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6320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33760" y="5596128"/>
            <a:ext cx="0" cy="438912"/>
          </a:xfrm>
          <a:prstGeom prst="line">
            <a:avLst/>
          </a:prstGeom>
          <a:noFill/>
          <a:ln w="6350">
            <a:solidFill>
              <a:srgbClr val="E3E8E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85032" y="5678424"/>
            <a:ext cx="6650736" cy="274320"/>
          </a:xfrm>
          <a:prstGeom prst="roundRect">
            <a:avLst>
              <a:gd name="adj" fmla="val 13333"/>
            </a:avLst>
          </a:prstGeom>
          <a:solidFill>
            <a:srgbClr val="7A2E2E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OPEX, status 'Contar'/'TA', áreas priorizadas. Barra = 1º ao último mês com POB Qtd &gt; 0; itens marcados [custo] usam Serviço+Material &gt; 0 no lugar do POB; sem dado = sem cronograma na base.</a:t>
            </a:r>
            <a:endParaRPr lang="en-US" sz="800" dirty="0"/>
          </a:p>
        </p:txBody>
      </p:sp>
      <p:sp>
        <p:nvSpPr>
          <p:cNvPr id="160" name="Text 1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 &amp; FPSO FRADE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2026-10-06T18:31:47Z</dcterms:created>
  <dcterms:modified xsi:type="dcterms:W3CDTF">2026-10-06T18:31:47Z</dcterms:modified>
</cp:coreProperties>
</file>