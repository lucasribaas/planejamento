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377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Gantt · Top 10 OPEX por Ativo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886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&amp; FPSO Frade · 7 ativos · áreas priorizadas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-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Gantt · Top 10 OPEX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nas áreas priorizadas (Manutenção, Suporte Técnico, Confiabilidade, Integridade, Naval, Construção, Projetos) · barra = meses com POB lançado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25880"/>
            <a:ext cx="3200400" cy="274320"/>
          </a:xfrm>
          <a:prstGeom prst="rect">
            <a:avLst/>
          </a:prstGeom>
          <a:solidFill>
            <a:srgbClr val="0B2A3D"/>
          </a:solidFill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(TOP 10 OPEX)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325880"/>
            <a:ext cx="670560" cy="274320"/>
          </a:xfrm>
          <a:prstGeom prst="rect">
            <a:avLst/>
          </a:prstGeom>
          <a:solidFill>
            <a:srgbClr val="0B2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328160" y="1325880"/>
            <a:ext cx="670560" cy="274320"/>
          </a:xfrm>
          <a:prstGeom prst="rect">
            <a:avLst/>
          </a:prstGeom>
          <a:solidFill>
            <a:srgbClr val="0B2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998720" y="1325880"/>
            <a:ext cx="670560" cy="274320"/>
          </a:xfrm>
          <a:prstGeom prst="rect">
            <a:avLst/>
          </a:prstGeom>
          <a:solidFill>
            <a:srgbClr val="0B2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1325880"/>
            <a:ext cx="670560" cy="274320"/>
          </a:xfrm>
          <a:prstGeom prst="rect">
            <a:avLst/>
          </a:prstGeom>
          <a:solidFill>
            <a:srgbClr val="0B2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339840" y="1325880"/>
            <a:ext cx="670560" cy="274320"/>
          </a:xfrm>
          <a:prstGeom prst="rect">
            <a:avLst/>
          </a:prstGeom>
          <a:solidFill>
            <a:srgbClr val="0B2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010400" y="1325880"/>
            <a:ext cx="670560" cy="274320"/>
          </a:xfrm>
          <a:prstGeom prst="rect">
            <a:avLst/>
          </a:prstGeom>
          <a:solidFill>
            <a:srgbClr val="0B2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325880"/>
            <a:ext cx="670560" cy="274320"/>
          </a:xfrm>
          <a:prstGeom prst="rect">
            <a:avLst/>
          </a:prstGeom>
          <a:solidFill>
            <a:srgbClr val="0B2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351520" y="1325880"/>
            <a:ext cx="670560" cy="274320"/>
          </a:xfrm>
          <a:prstGeom prst="rect">
            <a:avLst/>
          </a:prstGeom>
          <a:solidFill>
            <a:srgbClr val="0B2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022080" y="1325880"/>
            <a:ext cx="670560" cy="274320"/>
          </a:xfrm>
          <a:prstGeom prst="rect">
            <a:avLst/>
          </a:prstGeom>
          <a:solidFill>
            <a:srgbClr val="0B2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0" y="1325880"/>
            <a:ext cx="670560" cy="274320"/>
          </a:xfrm>
          <a:prstGeom prst="rect">
            <a:avLst/>
          </a:prstGeom>
          <a:solidFill>
            <a:srgbClr val="0B2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363200" y="1325880"/>
            <a:ext cx="670560" cy="274320"/>
          </a:xfrm>
          <a:prstGeom prst="rect">
            <a:avLst/>
          </a:prstGeom>
          <a:solidFill>
            <a:srgbClr val="0B2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033760" y="1325880"/>
            <a:ext cx="670560" cy="274320"/>
          </a:xfrm>
          <a:prstGeom prst="rect">
            <a:avLst/>
          </a:prstGeom>
          <a:solidFill>
            <a:srgbClr val="0B2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1645920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Construção - Pintura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US$ 6,5 mi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57600" y="1645920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281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9872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3984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1040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809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152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2208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9264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36320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0337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85032" y="1728216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0B2A3D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2084832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Construção - Instalações (Fabric, Constr e Mont.)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US$ 2,0 mi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657600" y="2084832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281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9872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3984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1040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809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5152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02208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69264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36320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0337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685032" y="2167128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0B2A3D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2523744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Interna NR-13 FPSO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US$ 1,2 mi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657600" y="2523744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3281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9872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33984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01040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6809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5152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02208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69264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36320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337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355592" y="2606040"/>
            <a:ext cx="6650736" cy="274320"/>
          </a:xfrm>
          <a:prstGeom prst="roundRect">
            <a:avLst>
              <a:gd name="adj" fmla="val 13333"/>
            </a:avLst>
          </a:prstGeom>
          <a:solidFill>
            <a:srgbClr val="0B2A3D"/>
          </a:solidFill>
          <a:ln/>
        </p:spPr>
      </p:sp>
      <p:sp>
        <p:nvSpPr>
          <p:cNvPr id="61" name="Text 59"/>
          <p:cNvSpPr/>
          <p:nvPr/>
        </p:nvSpPr>
        <p:spPr>
          <a:xfrm>
            <a:off x="457200" y="2962656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Tanques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US$ 1,2 mi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3657600" y="2962656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3281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99872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66928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33984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01040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6809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35152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02208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69264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36320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10337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685032" y="3044952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0B2A3D"/>
          </a:solidFill>
          <a:ln/>
        </p:spPr>
      </p:sp>
      <p:sp>
        <p:nvSpPr>
          <p:cNvPr id="75" name="Text 73"/>
          <p:cNvSpPr/>
          <p:nvPr/>
        </p:nvSpPr>
        <p:spPr>
          <a:xfrm>
            <a:off x="457200" y="3401568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normatização de reparos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US$ 1,1 mi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3657600" y="3401568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3281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99872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66928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33984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01040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6809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35152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02208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69264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36320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0337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685032" y="3483864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0B2A3D"/>
          </a:solidFill>
          <a:ln/>
        </p:spPr>
      </p:sp>
      <p:sp>
        <p:nvSpPr>
          <p:cNvPr id="89" name="Text 87"/>
          <p:cNvSpPr/>
          <p:nvPr/>
        </p:nvSpPr>
        <p:spPr>
          <a:xfrm>
            <a:off x="457200" y="3840480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UWILD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US$ 500,0 mil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3657600" y="3840480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3281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99872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66928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3984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01040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6809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35152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02208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9264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036320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0337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3657600" y="3840480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POB informado</a:t>
            </a:r>
            <a:endParaRPr lang="en-US" sz="850" dirty="0"/>
          </a:p>
        </p:txBody>
      </p:sp>
      <p:sp>
        <p:nvSpPr>
          <p:cNvPr id="103" name="Text 101"/>
          <p:cNvSpPr/>
          <p:nvPr/>
        </p:nvSpPr>
        <p:spPr>
          <a:xfrm>
            <a:off x="457200" y="4279392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Construção - Andaime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US$ 408,0 mil</a:t>
            </a:r>
            <a:endParaRPr lang="en-US" sz="950" dirty="0"/>
          </a:p>
        </p:txBody>
      </p:sp>
      <p:sp>
        <p:nvSpPr>
          <p:cNvPr id="104" name="Shape 102"/>
          <p:cNvSpPr/>
          <p:nvPr/>
        </p:nvSpPr>
        <p:spPr>
          <a:xfrm>
            <a:off x="3657600" y="4279392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43281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99872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66928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33984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01040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6809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5152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02208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69264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1036320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10337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685032" y="4361688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0B2A3D"/>
          </a:solidFill>
          <a:ln/>
        </p:spPr>
      </p:sp>
      <p:sp>
        <p:nvSpPr>
          <p:cNvPr id="117" name="Text 115"/>
          <p:cNvSpPr/>
          <p:nvPr/>
        </p:nvSpPr>
        <p:spPr>
          <a:xfrm>
            <a:off x="457200" y="4718304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Inspeção Sistemas de Tubulações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US$ 373,8 mil</a:t>
            </a:r>
            <a:endParaRPr lang="en-US" sz="950" dirty="0"/>
          </a:p>
        </p:txBody>
      </p:sp>
      <p:sp>
        <p:nvSpPr>
          <p:cNvPr id="118" name="Shape 116"/>
          <p:cNvSpPr/>
          <p:nvPr/>
        </p:nvSpPr>
        <p:spPr>
          <a:xfrm>
            <a:off x="3657600" y="4718304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43281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99872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566928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33984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1040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6809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835152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902208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969264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036320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10337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026152" y="4800600"/>
            <a:ext cx="5309616" cy="274320"/>
          </a:xfrm>
          <a:prstGeom prst="roundRect">
            <a:avLst>
              <a:gd name="adj" fmla="val 13333"/>
            </a:avLst>
          </a:prstGeom>
          <a:solidFill>
            <a:srgbClr val="0B2A3D"/>
          </a:solidFill>
          <a:ln/>
        </p:spPr>
      </p:sp>
      <p:sp>
        <p:nvSpPr>
          <p:cNvPr id="131" name="Text 129"/>
          <p:cNvSpPr/>
          <p:nvPr/>
        </p:nvSpPr>
        <p:spPr>
          <a:xfrm>
            <a:off x="457200" y="5157216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RBI, ENDs complementares + Especiais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US$ 206,8 mil</a:t>
            </a:r>
            <a:endParaRPr lang="en-US" sz="950" dirty="0"/>
          </a:p>
        </p:txBody>
      </p:sp>
      <p:sp>
        <p:nvSpPr>
          <p:cNvPr id="132" name="Shape 130"/>
          <p:cNvSpPr/>
          <p:nvPr/>
        </p:nvSpPr>
        <p:spPr>
          <a:xfrm>
            <a:off x="3657600" y="5157216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43281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499872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66928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633984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701040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76809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835152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02208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969264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1036320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10337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4355592" y="5239512"/>
            <a:ext cx="1956816" cy="274320"/>
          </a:xfrm>
          <a:prstGeom prst="roundRect">
            <a:avLst>
              <a:gd name="adj" fmla="val 13333"/>
            </a:avLst>
          </a:prstGeom>
          <a:solidFill>
            <a:srgbClr val="0B2A3D"/>
          </a:solidFill>
          <a:ln/>
        </p:spPr>
      </p:sp>
      <p:sp>
        <p:nvSpPr>
          <p:cNvPr id="145" name="Text 143"/>
          <p:cNvSpPr/>
          <p:nvPr/>
        </p:nvSpPr>
        <p:spPr>
          <a:xfrm>
            <a:off x="457200" y="5596128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FPSO PRG 2027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US$ 200,0 mil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3657600" y="5596128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3281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99872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566928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33984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1040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6809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835152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02208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69264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1036320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110337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3685032" y="5678424"/>
            <a:ext cx="1286256" cy="274320"/>
          </a:xfrm>
          <a:prstGeom prst="roundRect">
            <a:avLst>
              <a:gd name="adj" fmla="val 13333"/>
            </a:avLst>
          </a:prstGeom>
          <a:solidFill>
            <a:srgbClr val="0B2A3D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OPEX, status 'Contar'/'TA', áreas priorizadas. Barra = 1º ao último mês com POB Qtd &gt; 0; sem POB = sem cronograma na base.</a:t>
            </a:r>
            <a:endParaRPr lang="en-US" sz="800" dirty="0"/>
          </a:p>
        </p:txBody>
      </p:sp>
      <p:sp>
        <p:nvSpPr>
          <p:cNvPr id="160" name="Text 158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61" name="Text 159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Gantt · Top 10 OPEX · PLAT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nas áreas priorizadas (Manutenção, Suporte Técnico, Confiabilidade, Integridade, Naval, Construção, Projetos) · barra = meses com POB lançado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25880"/>
            <a:ext cx="3200400" cy="274320"/>
          </a:xfrm>
          <a:prstGeom prst="rect">
            <a:avLst/>
          </a:prstGeom>
          <a:solidFill>
            <a:srgbClr val="145C68"/>
          </a:solidFill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(TOP 10 OPEX)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325880"/>
            <a:ext cx="670560" cy="274320"/>
          </a:xfrm>
          <a:prstGeom prst="rect">
            <a:avLst/>
          </a:prstGeom>
          <a:solidFill>
            <a:srgbClr val="145C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328160" y="1325880"/>
            <a:ext cx="670560" cy="274320"/>
          </a:xfrm>
          <a:prstGeom prst="rect">
            <a:avLst/>
          </a:prstGeom>
          <a:solidFill>
            <a:srgbClr val="145C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998720" y="1325880"/>
            <a:ext cx="670560" cy="274320"/>
          </a:xfrm>
          <a:prstGeom prst="rect">
            <a:avLst/>
          </a:prstGeom>
          <a:solidFill>
            <a:srgbClr val="145C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1325880"/>
            <a:ext cx="670560" cy="274320"/>
          </a:xfrm>
          <a:prstGeom prst="rect">
            <a:avLst/>
          </a:prstGeom>
          <a:solidFill>
            <a:srgbClr val="145C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339840" y="1325880"/>
            <a:ext cx="670560" cy="274320"/>
          </a:xfrm>
          <a:prstGeom prst="rect">
            <a:avLst/>
          </a:prstGeom>
          <a:solidFill>
            <a:srgbClr val="145C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010400" y="1325880"/>
            <a:ext cx="670560" cy="274320"/>
          </a:xfrm>
          <a:prstGeom prst="rect">
            <a:avLst/>
          </a:prstGeom>
          <a:solidFill>
            <a:srgbClr val="145C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325880"/>
            <a:ext cx="670560" cy="274320"/>
          </a:xfrm>
          <a:prstGeom prst="rect">
            <a:avLst/>
          </a:prstGeom>
          <a:solidFill>
            <a:srgbClr val="145C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351520" y="1325880"/>
            <a:ext cx="670560" cy="274320"/>
          </a:xfrm>
          <a:prstGeom prst="rect">
            <a:avLst/>
          </a:prstGeom>
          <a:solidFill>
            <a:srgbClr val="145C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022080" y="1325880"/>
            <a:ext cx="670560" cy="274320"/>
          </a:xfrm>
          <a:prstGeom prst="rect">
            <a:avLst/>
          </a:prstGeom>
          <a:solidFill>
            <a:srgbClr val="145C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0" y="1325880"/>
            <a:ext cx="670560" cy="274320"/>
          </a:xfrm>
          <a:prstGeom prst="rect">
            <a:avLst/>
          </a:prstGeom>
          <a:solidFill>
            <a:srgbClr val="145C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363200" y="1325880"/>
            <a:ext cx="670560" cy="274320"/>
          </a:xfrm>
          <a:prstGeom prst="rect">
            <a:avLst/>
          </a:prstGeom>
          <a:solidFill>
            <a:srgbClr val="145C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033760" y="1325880"/>
            <a:ext cx="670560" cy="274320"/>
          </a:xfrm>
          <a:prstGeom prst="rect">
            <a:avLst/>
          </a:prstGeom>
          <a:solidFill>
            <a:srgbClr val="145C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1645920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Construção - Instalações (Fabric, Constr e Mont.)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US$ 1,5 mi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57600" y="1645920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281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9872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3984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1040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809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152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2208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9264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36320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0337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85032" y="1728216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145C68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2084832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Gerenciamento de Corrosão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US$ 976,2 mil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657600" y="2084832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281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9872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3984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1040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809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5152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02208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69264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36320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0337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685032" y="2167128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145C68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2523744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Jackets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US$ 400,0 mil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657600" y="2523744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3281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9872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33984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01040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6809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5152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02208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69264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36320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337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3657600" y="2523744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POB informado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457200" y="2962656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Construção - Andaime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US$ 312,0 mil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3657600" y="2962656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3281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99872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66928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33984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01040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6809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35152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02208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69264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36320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10337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685032" y="3044952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145C68"/>
          </a:solidFill>
          <a:ln/>
        </p:spPr>
      </p:sp>
      <p:sp>
        <p:nvSpPr>
          <p:cNvPr id="75" name="Text 73"/>
          <p:cNvSpPr/>
          <p:nvPr/>
        </p:nvSpPr>
        <p:spPr>
          <a:xfrm>
            <a:off x="457200" y="3401568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normatização de reparos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US$ 273,0 mil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3657600" y="3401568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3281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99872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66928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33984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01040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6809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35152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02208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69264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36320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0337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026152" y="3483864"/>
            <a:ext cx="5309616" cy="274320"/>
          </a:xfrm>
          <a:prstGeom prst="roundRect">
            <a:avLst>
              <a:gd name="adj" fmla="val 13333"/>
            </a:avLst>
          </a:prstGeom>
          <a:solidFill>
            <a:srgbClr val="145C68"/>
          </a:solidFill>
          <a:ln/>
        </p:spPr>
      </p:sp>
      <p:sp>
        <p:nvSpPr>
          <p:cNvPr id="89" name="Text 87"/>
          <p:cNvSpPr/>
          <p:nvPr/>
        </p:nvSpPr>
        <p:spPr>
          <a:xfrm>
            <a:off x="457200" y="3840480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NR-13 PLAT 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US$ 250,0 mil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3657600" y="3840480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3281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99872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66928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3984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01040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6809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35152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02208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9264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036320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0337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037832" y="3922776"/>
            <a:ext cx="1956816" cy="274320"/>
          </a:xfrm>
          <a:prstGeom prst="roundRect">
            <a:avLst>
              <a:gd name="adj" fmla="val 13333"/>
            </a:avLst>
          </a:prstGeom>
          <a:solidFill>
            <a:srgbClr val="145C68"/>
          </a:solidFill>
          <a:ln/>
        </p:spPr>
      </p:sp>
      <p:sp>
        <p:nvSpPr>
          <p:cNvPr id="103" name="Text 101"/>
          <p:cNvSpPr/>
          <p:nvPr/>
        </p:nvSpPr>
        <p:spPr>
          <a:xfrm>
            <a:off x="457200" y="4279392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Inspeção de sistemas de tubulação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US$ 243,0 mil</a:t>
            </a:r>
            <a:endParaRPr lang="en-US" sz="950" dirty="0"/>
          </a:p>
        </p:txBody>
      </p:sp>
      <p:sp>
        <p:nvSpPr>
          <p:cNvPr id="104" name="Shape 102"/>
          <p:cNvSpPr/>
          <p:nvPr/>
        </p:nvSpPr>
        <p:spPr>
          <a:xfrm>
            <a:off x="3657600" y="4279392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43281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99872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66928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33984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01040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6809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5152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02208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69264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1036320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10337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720072" y="4361688"/>
            <a:ext cx="1956816" cy="274320"/>
          </a:xfrm>
          <a:prstGeom prst="roundRect">
            <a:avLst>
              <a:gd name="adj" fmla="val 13333"/>
            </a:avLst>
          </a:prstGeom>
          <a:solidFill>
            <a:srgbClr val="145C68"/>
          </a:solidFill>
          <a:ln/>
        </p:spPr>
      </p:sp>
      <p:sp>
        <p:nvSpPr>
          <p:cNvPr id="117" name="Text 115"/>
          <p:cNvSpPr/>
          <p:nvPr/>
        </p:nvSpPr>
        <p:spPr>
          <a:xfrm>
            <a:off x="457200" y="4718304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do Caisson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US$ 200,0 mil</a:t>
            </a:r>
            <a:endParaRPr lang="en-US" sz="950" dirty="0"/>
          </a:p>
        </p:txBody>
      </p:sp>
      <p:sp>
        <p:nvSpPr>
          <p:cNvPr id="118" name="Shape 116"/>
          <p:cNvSpPr/>
          <p:nvPr/>
        </p:nvSpPr>
        <p:spPr>
          <a:xfrm>
            <a:off x="3657600" y="4718304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43281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99872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566928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33984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1040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6809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835152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902208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969264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036320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10337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696712" y="4800600"/>
            <a:ext cx="615696" cy="274320"/>
          </a:xfrm>
          <a:prstGeom prst="roundRect">
            <a:avLst>
              <a:gd name="adj" fmla="val 13333"/>
            </a:avLst>
          </a:prstGeom>
          <a:solidFill>
            <a:srgbClr val="145C68"/>
          </a:solidFill>
          <a:ln/>
        </p:spPr>
      </p:sp>
      <p:sp>
        <p:nvSpPr>
          <p:cNvPr id="131" name="Text 129"/>
          <p:cNvSpPr/>
          <p:nvPr/>
        </p:nvSpPr>
        <p:spPr>
          <a:xfrm>
            <a:off x="457200" y="5157216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Inspeção de Flowlines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US$ 109,0 mil</a:t>
            </a:r>
            <a:endParaRPr lang="en-US" sz="950" dirty="0"/>
          </a:p>
        </p:txBody>
      </p:sp>
      <p:sp>
        <p:nvSpPr>
          <p:cNvPr id="132" name="Shape 130"/>
          <p:cNvSpPr/>
          <p:nvPr/>
        </p:nvSpPr>
        <p:spPr>
          <a:xfrm>
            <a:off x="3657600" y="5157216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43281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499872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66928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633984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701040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76809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835152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02208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969264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1036320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10337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049512" y="5239512"/>
            <a:ext cx="615696" cy="274320"/>
          </a:xfrm>
          <a:prstGeom prst="roundRect">
            <a:avLst>
              <a:gd name="adj" fmla="val 13333"/>
            </a:avLst>
          </a:prstGeom>
          <a:solidFill>
            <a:srgbClr val="145C68"/>
          </a:solidFill>
          <a:ln/>
        </p:spPr>
      </p:sp>
      <p:sp>
        <p:nvSpPr>
          <p:cNvPr id="145" name="Text 143"/>
          <p:cNvSpPr/>
          <p:nvPr/>
        </p:nvSpPr>
        <p:spPr>
          <a:xfrm>
            <a:off x="457200" y="5596128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Quinquenal dos Guindastes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US$ 107,8 mil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3657600" y="5596128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3281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99872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566928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33984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1040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6809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835152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02208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69264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1036320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110337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696712" y="5678424"/>
            <a:ext cx="615696" cy="274320"/>
          </a:xfrm>
          <a:prstGeom prst="roundRect">
            <a:avLst>
              <a:gd name="adj" fmla="val 13333"/>
            </a:avLst>
          </a:prstGeom>
          <a:solidFill>
            <a:srgbClr val="145C68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OPEX, status 'Contar'/'TA', áreas priorizadas. Barra = 1º ao último mês com POB Qtd &gt; 0; sem POB = sem cronograma na base.</a:t>
            </a:r>
            <a:endParaRPr lang="en-US" sz="800" dirty="0"/>
          </a:p>
        </p:txBody>
      </p:sp>
      <p:sp>
        <p:nvSpPr>
          <p:cNvPr id="160" name="Text 158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61" name="Text 159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Gantt · Top 10 OPEX · PLAT B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nas áreas priorizadas (Manutenção, Suporte Técnico, Confiabilidade, Integridade, Naval, Construção, Projetos) · barra = meses com POB lançado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25880"/>
            <a:ext cx="3200400" cy="274320"/>
          </a:xfrm>
          <a:prstGeom prst="rect">
            <a:avLst/>
          </a:prstGeom>
          <a:solidFill>
            <a:srgbClr val="2E7D6B"/>
          </a:solidFill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(TOP 10 OPEX)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325880"/>
            <a:ext cx="670560" cy="274320"/>
          </a:xfrm>
          <a:prstGeom prst="rect">
            <a:avLst/>
          </a:prstGeom>
          <a:solidFill>
            <a:srgbClr val="2E7D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328160" y="1325880"/>
            <a:ext cx="670560" cy="274320"/>
          </a:xfrm>
          <a:prstGeom prst="rect">
            <a:avLst/>
          </a:prstGeom>
          <a:solidFill>
            <a:srgbClr val="2E7D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998720" y="1325880"/>
            <a:ext cx="670560" cy="274320"/>
          </a:xfrm>
          <a:prstGeom prst="rect">
            <a:avLst/>
          </a:prstGeom>
          <a:solidFill>
            <a:srgbClr val="2E7D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1325880"/>
            <a:ext cx="670560" cy="274320"/>
          </a:xfrm>
          <a:prstGeom prst="rect">
            <a:avLst/>
          </a:prstGeom>
          <a:solidFill>
            <a:srgbClr val="2E7D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339840" y="1325880"/>
            <a:ext cx="670560" cy="274320"/>
          </a:xfrm>
          <a:prstGeom prst="rect">
            <a:avLst/>
          </a:prstGeom>
          <a:solidFill>
            <a:srgbClr val="2E7D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010400" y="1325880"/>
            <a:ext cx="670560" cy="274320"/>
          </a:xfrm>
          <a:prstGeom prst="rect">
            <a:avLst/>
          </a:prstGeom>
          <a:solidFill>
            <a:srgbClr val="2E7D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325880"/>
            <a:ext cx="670560" cy="274320"/>
          </a:xfrm>
          <a:prstGeom prst="rect">
            <a:avLst/>
          </a:prstGeom>
          <a:solidFill>
            <a:srgbClr val="2E7D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351520" y="1325880"/>
            <a:ext cx="670560" cy="274320"/>
          </a:xfrm>
          <a:prstGeom prst="rect">
            <a:avLst/>
          </a:prstGeom>
          <a:solidFill>
            <a:srgbClr val="2E7D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022080" y="1325880"/>
            <a:ext cx="670560" cy="274320"/>
          </a:xfrm>
          <a:prstGeom prst="rect">
            <a:avLst/>
          </a:prstGeom>
          <a:solidFill>
            <a:srgbClr val="2E7D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0" y="1325880"/>
            <a:ext cx="670560" cy="274320"/>
          </a:xfrm>
          <a:prstGeom prst="rect">
            <a:avLst/>
          </a:prstGeom>
          <a:solidFill>
            <a:srgbClr val="2E7D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363200" y="1325880"/>
            <a:ext cx="670560" cy="274320"/>
          </a:xfrm>
          <a:prstGeom prst="rect">
            <a:avLst/>
          </a:prstGeom>
          <a:solidFill>
            <a:srgbClr val="2E7D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033760" y="1325880"/>
            <a:ext cx="670560" cy="274320"/>
          </a:xfrm>
          <a:prstGeom prst="rect">
            <a:avLst/>
          </a:prstGeom>
          <a:solidFill>
            <a:srgbClr val="2E7D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1645920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Construção - Instalações (Fabric, Constr, Mont e RTI.)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US$ 2,1 mi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57600" y="1645920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281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9872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3984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1040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809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152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2208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9264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36320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0337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85032" y="1728216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2E7D6B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2084832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Gerenciamento de Corrosão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US$ 1,3 mi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657600" y="2084832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281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9872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3984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1040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809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5152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02208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69264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36320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0337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685032" y="2167128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2E7D6B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2523744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Substituição/ Reparo dos Caissons - Abrangência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US$ 1,2 mi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657600" y="2523744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3281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9872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33984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01040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6809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5152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02208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69264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36320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337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026152" y="2606040"/>
            <a:ext cx="1286256" cy="274320"/>
          </a:xfrm>
          <a:prstGeom prst="roundRect">
            <a:avLst>
              <a:gd name="adj" fmla="val 13333"/>
            </a:avLst>
          </a:prstGeom>
          <a:solidFill>
            <a:srgbClr val="2E7D6B"/>
          </a:solidFill>
          <a:ln/>
        </p:spPr>
      </p:sp>
      <p:sp>
        <p:nvSpPr>
          <p:cNvPr id="61" name="Text 59"/>
          <p:cNvSpPr/>
          <p:nvPr/>
        </p:nvSpPr>
        <p:spPr>
          <a:xfrm>
            <a:off x="457200" y="2962656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Inspeção de sistemas de tubulação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US$ 567,0 mil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3657600" y="2962656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3281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99872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66928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33984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01040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6809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35152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02208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69264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36320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10337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685032" y="3044952"/>
            <a:ext cx="4639056" cy="274320"/>
          </a:xfrm>
          <a:prstGeom prst="roundRect">
            <a:avLst>
              <a:gd name="adj" fmla="val 13333"/>
            </a:avLst>
          </a:prstGeom>
          <a:solidFill>
            <a:srgbClr val="2E7D6B"/>
          </a:solidFill>
          <a:ln/>
        </p:spPr>
      </p:sp>
      <p:sp>
        <p:nvSpPr>
          <p:cNvPr id="75" name="Text 73"/>
          <p:cNvSpPr/>
          <p:nvPr/>
        </p:nvSpPr>
        <p:spPr>
          <a:xfrm>
            <a:off x="457200" y="3401568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de Jackets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US$ 400,0 mil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3657600" y="3401568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3281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99872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66928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33984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01040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6809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35152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02208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69264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36320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0337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3657600" y="3401568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POB informado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457200" y="3840480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NR-13 PLAT B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US$ 358,9 mil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3657600" y="3840480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3281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99872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66928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3984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01040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6809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35152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02208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9264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036320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0337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696712" y="3922776"/>
            <a:ext cx="1286256" cy="274320"/>
          </a:xfrm>
          <a:prstGeom prst="roundRect">
            <a:avLst>
              <a:gd name="adj" fmla="val 13333"/>
            </a:avLst>
          </a:prstGeom>
          <a:solidFill>
            <a:srgbClr val="2E7D6B"/>
          </a:solidFill>
          <a:ln/>
        </p:spPr>
      </p:sp>
      <p:sp>
        <p:nvSpPr>
          <p:cNvPr id="103" name="Text 101"/>
          <p:cNvSpPr/>
          <p:nvPr/>
        </p:nvSpPr>
        <p:spPr>
          <a:xfrm>
            <a:off x="457200" y="4279392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Construção - Andaime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US$ 312,0 mil</a:t>
            </a:r>
            <a:endParaRPr lang="en-US" sz="950" dirty="0"/>
          </a:p>
        </p:txBody>
      </p:sp>
      <p:sp>
        <p:nvSpPr>
          <p:cNvPr id="104" name="Shape 102"/>
          <p:cNvSpPr/>
          <p:nvPr/>
        </p:nvSpPr>
        <p:spPr>
          <a:xfrm>
            <a:off x="3657600" y="4279392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43281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99872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66928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33984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01040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6809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5152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02208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69264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1036320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10337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685032" y="4361688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2E7D6B"/>
          </a:solidFill>
          <a:ln/>
        </p:spPr>
      </p:sp>
      <p:sp>
        <p:nvSpPr>
          <p:cNvPr id="117" name="Text 115"/>
          <p:cNvSpPr/>
          <p:nvPr/>
        </p:nvSpPr>
        <p:spPr>
          <a:xfrm>
            <a:off x="457200" y="4718304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Substituição/ Reparo dos Caissons de FWP 1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US$ 292,5 mil</a:t>
            </a:r>
            <a:endParaRPr lang="en-US" sz="950" dirty="0"/>
          </a:p>
        </p:txBody>
      </p:sp>
      <p:sp>
        <p:nvSpPr>
          <p:cNvPr id="118" name="Shape 116"/>
          <p:cNvSpPr/>
          <p:nvPr/>
        </p:nvSpPr>
        <p:spPr>
          <a:xfrm>
            <a:off x="3657600" y="4718304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43281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99872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566928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33984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1040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6809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835152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902208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969264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036320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10337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3685032" y="4800600"/>
            <a:ext cx="1286256" cy="274320"/>
          </a:xfrm>
          <a:prstGeom prst="roundRect">
            <a:avLst>
              <a:gd name="adj" fmla="val 13333"/>
            </a:avLst>
          </a:prstGeom>
          <a:solidFill>
            <a:srgbClr val="2E7D6B"/>
          </a:solidFill>
          <a:ln/>
        </p:spPr>
      </p:sp>
      <p:sp>
        <p:nvSpPr>
          <p:cNvPr id="131" name="Text 129"/>
          <p:cNvSpPr/>
          <p:nvPr/>
        </p:nvSpPr>
        <p:spPr>
          <a:xfrm>
            <a:off x="457200" y="5157216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normatização de reparos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US$ 273,0 mil</a:t>
            </a:r>
            <a:endParaRPr lang="en-US" sz="950" dirty="0"/>
          </a:p>
        </p:txBody>
      </p:sp>
      <p:sp>
        <p:nvSpPr>
          <p:cNvPr id="132" name="Shape 130"/>
          <p:cNvSpPr/>
          <p:nvPr/>
        </p:nvSpPr>
        <p:spPr>
          <a:xfrm>
            <a:off x="3657600" y="5157216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43281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499872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66928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633984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701040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76809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835152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02208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969264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1036320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10337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5696712" y="5239512"/>
            <a:ext cx="5309616" cy="274320"/>
          </a:xfrm>
          <a:prstGeom prst="roundRect">
            <a:avLst>
              <a:gd name="adj" fmla="val 13333"/>
            </a:avLst>
          </a:prstGeom>
          <a:solidFill>
            <a:srgbClr val="2E7D6B"/>
          </a:solidFill>
          <a:ln/>
        </p:spPr>
      </p:sp>
      <p:sp>
        <p:nvSpPr>
          <p:cNvPr id="145" name="Text 143"/>
          <p:cNvSpPr/>
          <p:nvPr/>
        </p:nvSpPr>
        <p:spPr>
          <a:xfrm>
            <a:off x="457200" y="5596128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 - Consultoria especializada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US$ 229,0 mil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3657600" y="5596128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3281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99872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566928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33984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1040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6809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835152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02208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69264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1036320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110337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3657600" y="5596128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POB informado</a:t>
            </a:r>
            <a:endParaRPr lang="en-US" sz="850" dirty="0"/>
          </a:p>
        </p:txBody>
      </p:sp>
      <p:sp>
        <p:nvSpPr>
          <p:cNvPr id="159" name="Text 157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OPEX, status 'Contar'/'TA', áreas priorizadas. Barra = 1º ao último mês com POB Qtd &gt; 0; sem POB = sem cronograma na base.</a:t>
            </a:r>
            <a:endParaRPr lang="en-US" sz="800" dirty="0"/>
          </a:p>
        </p:txBody>
      </p:sp>
      <p:sp>
        <p:nvSpPr>
          <p:cNvPr id="160" name="Text 158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61" name="Text 159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Gantt · Top 10 OPEX · PLAT C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nas áreas priorizadas (Manutenção, Suporte Técnico, Confiabilidade, Integridade, Naval, Construção, Projetos) · barra = meses com POB lançado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25880"/>
            <a:ext cx="3200400" cy="274320"/>
          </a:xfrm>
          <a:prstGeom prst="rect">
            <a:avLst/>
          </a:prstGeom>
          <a:solidFill>
            <a:srgbClr val="3E5C8A"/>
          </a:solidFill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(TOP 10 OPEX)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325880"/>
            <a:ext cx="670560" cy="274320"/>
          </a:xfrm>
          <a:prstGeom prst="rect">
            <a:avLst/>
          </a:prstGeom>
          <a:solidFill>
            <a:srgbClr val="3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328160" y="1325880"/>
            <a:ext cx="670560" cy="274320"/>
          </a:xfrm>
          <a:prstGeom prst="rect">
            <a:avLst/>
          </a:prstGeom>
          <a:solidFill>
            <a:srgbClr val="3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998720" y="1325880"/>
            <a:ext cx="670560" cy="274320"/>
          </a:xfrm>
          <a:prstGeom prst="rect">
            <a:avLst/>
          </a:prstGeom>
          <a:solidFill>
            <a:srgbClr val="3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1325880"/>
            <a:ext cx="670560" cy="274320"/>
          </a:xfrm>
          <a:prstGeom prst="rect">
            <a:avLst/>
          </a:prstGeom>
          <a:solidFill>
            <a:srgbClr val="3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339840" y="1325880"/>
            <a:ext cx="670560" cy="274320"/>
          </a:xfrm>
          <a:prstGeom prst="rect">
            <a:avLst/>
          </a:prstGeom>
          <a:solidFill>
            <a:srgbClr val="3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010400" y="1325880"/>
            <a:ext cx="670560" cy="274320"/>
          </a:xfrm>
          <a:prstGeom prst="rect">
            <a:avLst/>
          </a:prstGeom>
          <a:solidFill>
            <a:srgbClr val="3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325880"/>
            <a:ext cx="670560" cy="274320"/>
          </a:xfrm>
          <a:prstGeom prst="rect">
            <a:avLst/>
          </a:prstGeom>
          <a:solidFill>
            <a:srgbClr val="3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351520" y="1325880"/>
            <a:ext cx="670560" cy="274320"/>
          </a:xfrm>
          <a:prstGeom prst="rect">
            <a:avLst/>
          </a:prstGeom>
          <a:solidFill>
            <a:srgbClr val="3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022080" y="1325880"/>
            <a:ext cx="670560" cy="274320"/>
          </a:xfrm>
          <a:prstGeom prst="rect">
            <a:avLst/>
          </a:prstGeom>
          <a:solidFill>
            <a:srgbClr val="3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0" y="1325880"/>
            <a:ext cx="670560" cy="274320"/>
          </a:xfrm>
          <a:prstGeom prst="rect">
            <a:avLst/>
          </a:prstGeom>
          <a:solidFill>
            <a:srgbClr val="3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363200" y="1325880"/>
            <a:ext cx="670560" cy="274320"/>
          </a:xfrm>
          <a:prstGeom prst="rect">
            <a:avLst/>
          </a:prstGeom>
          <a:solidFill>
            <a:srgbClr val="3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033760" y="1325880"/>
            <a:ext cx="670560" cy="274320"/>
          </a:xfrm>
          <a:prstGeom prst="rect">
            <a:avLst/>
          </a:prstGeom>
          <a:solidFill>
            <a:srgbClr val="3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1645920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Construção - Instalações (Fabric, Constr e Mont.)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US$ 3,3 mi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57600" y="1645920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281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9872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3984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1040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809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152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2208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9264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36320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0337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85032" y="1728216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3E5C8A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2084832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 Preventiva (L1) da GTG-A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US$ 708,5 mil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657600" y="2084832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281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9872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3984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1040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809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5152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02208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69264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36320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0337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355592" y="2167128"/>
            <a:ext cx="4639056" cy="274320"/>
          </a:xfrm>
          <a:prstGeom prst="roundRect">
            <a:avLst>
              <a:gd name="adj" fmla="val 13333"/>
            </a:avLst>
          </a:prstGeom>
          <a:solidFill>
            <a:srgbClr val="3E5C8A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2523744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 Preventiva (L1) da GTG-B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US$ 708,5 mil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657600" y="2523744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3281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9872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33984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01040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6809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5152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02208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69264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36320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337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026152" y="2606040"/>
            <a:ext cx="4639056" cy="274320"/>
          </a:xfrm>
          <a:prstGeom prst="roundRect">
            <a:avLst>
              <a:gd name="adj" fmla="val 13333"/>
            </a:avLst>
          </a:prstGeom>
          <a:solidFill>
            <a:srgbClr val="3E5C8A"/>
          </a:solidFill>
          <a:ln/>
        </p:spPr>
      </p:sp>
      <p:sp>
        <p:nvSpPr>
          <p:cNvPr id="61" name="Text 59"/>
          <p:cNvSpPr/>
          <p:nvPr/>
        </p:nvSpPr>
        <p:spPr>
          <a:xfrm>
            <a:off x="457200" y="2962656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Inspeção de sistemas de tubulação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US$ 567,0 mil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3657600" y="2962656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3281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99872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66928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33984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01040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6809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35152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02208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69264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36320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10337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685032" y="3044952"/>
            <a:ext cx="4639056" cy="274320"/>
          </a:xfrm>
          <a:prstGeom prst="roundRect">
            <a:avLst>
              <a:gd name="adj" fmla="val 13333"/>
            </a:avLst>
          </a:prstGeom>
          <a:solidFill>
            <a:srgbClr val="3E5C8A"/>
          </a:solidFill>
          <a:ln/>
        </p:spPr>
      </p:sp>
      <p:sp>
        <p:nvSpPr>
          <p:cNvPr id="75" name="Text 73"/>
          <p:cNvSpPr/>
          <p:nvPr/>
        </p:nvSpPr>
        <p:spPr>
          <a:xfrm>
            <a:off x="457200" y="3401568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Construção - Pintura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US$ 564,0 mil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3657600" y="3401568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3281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99872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66928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33984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01040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6809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35152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02208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69264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36320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0337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685032" y="3483864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3E5C8A"/>
          </a:solidFill>
          <a:ln/>
        </p:spPr>
      </p:sp>
      <p:sp>
        <p:nvSpPr>
          <p:cNvPr id="89" name="Text 87"/>
          <p:cNvSpPr/>
          <p:nvPr/>
        </p:nvSpPr>
        <p:spPr>
          <a:xfrm>
            <a:off x="457200" y="3840480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NR-13 PLAT C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US$ 480,6 mil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3657600" y="3840480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3281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99872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66928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3984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01040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6809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35152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02208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9264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036320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0337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3685032" y="3922776"/>
            <a:ext cx="5309616" cy="274320"/>
          </a:xfrm>
          <a:prstGeom prst="roundRect">
            <a:avLst>
              <a:gd name="adj" fmla="val 13333"/>
            </a:avLst>
          </a:prstGeom>
          <a:solidFill>
            <a:srgbClr val="3E5C8A"/>
          </a:solidFill>
          <a:ln/>
        </p:spPr>
      </p:sp>
      <p:sp>
        <p:nvSpPr>
          <p:cNvPr id="103" name="Text 101"/>
          <p:cNvSpPr/>
          <p:nvPr/>
        </p:nvSpPr>
        <p:spPr>
          <a:xfrm>
            <a:off x="457200" y="4279392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de Jackets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US$ 400,0 mil</a:t>
            </a:r>
            <a:endParaRPr lang="en-US" sz="950" dirty="0"/>
          </a:p>
        </p:txBody>
      </p:sp>
      <p:sp>
        <p:nvSpPr>
          <p:cNvPr id="104" name="Shape 102"/>
          <p:cNvSpPr/>
          <p:nvPr/>
        </p:nvSpPr>
        <p:spPr>
          <a:xfrm>
            <a:off x="3657600" y="4279392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43281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99872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66928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33984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01040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6809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5152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02208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69264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1036320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10337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3657600" y="4279392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POB informado</a:t>
            </a:r>
            <a:endParaRPr lang="en-US" sz="850" dirty="0"/>
          </a:p>
        </p:txBody>
      </p:sp>
      <p:sp>
        <p:nvSpPr>
          <p:cNvPr id="117" name="Text 115"/>
          <p:cNvSpPr/>
          <p:nvPr/>
        </p:nvSpPr>
        <p:spPr>
          <a:xfrm>
            <a:off x="457200" y="4718304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Gerenciamento de Corrosão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US$ 322,7 mil</a:t>
            </a:r>
            <a:endParaRPr lang="en-US" sz="950" dirty="0"/>
          </a:p>
        </p:txBody>
      </p:sp>
      <p:sp>
        <p:nvSpPr>
          <p:cNvPr id="118" name="Shape 116"/>
          <p:cNvSpPr/>
          <p:nvPr/>
        </p:nvSpPr>
        <p:spPr>
          <a:xfrm>
            <a:off x="3657600" y="4718304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43281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99872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566928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33984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1040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6809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835152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902208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969264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036320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10337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9720072" y="4800600"/>
            <a:ext cx="1956816" cy="274320"/>
          </a:xfrm>
          <a:prstGeom prst="roundRect">
            <a:avLst>
              <a:gd name="adj" fmla="val 13333"/>
            </a:avLst>
          </a:prstGeom>
          <a:solidFill>
            <a:srgbClr val="3E5C8A"/>
          </a:solidFill>
          <a:ln/>
        </p:spPr>
      </p:sp>
      <p:sp>
        <p:nvSpPr>
          <p:cNvPr id="131" name="Text 129"/>
          <p:cNvSpPr/>
          <p:nvPr/>
        </p:nvSpPr>
        <p:spPr>
          <a:xfrm>
            <a:off x="457200" y="5157216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Construção - Andaime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US$ 312,0 mil</a:t>
            </a:r>
            <a:endParaRPr lang="en-US" sz="950" dirty="0"/>
          </a:p>
        </p:txBody>
      </p:sp>
      <p:sp>
        <p:nvSpPr>
          <p:cNvPr id="132" name="Shape 130"/>
          <p:cNvSpPr/>
          <p:nvPr/>
        </p:nvSpPr>
        <p:spPr>
          <a:xfrm>
            <a:off x="3657600" y="5157216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43281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499872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66928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633984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701040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76809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835152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02208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969264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1036320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10337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3685032" y="5239512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3E5C8A"/>
          </a:solidFill>
          <a:ln/>
        </p:spPr>
      </p:sp>
      <p:sp>
        <p:nvSpPr>
          <p:cNvPr id="145" name="Text 143"/>
          <p:cNvSpPr/>
          <p:nvPr/>
        </p:nvSpPr>
        <p:spPr>
          <a:xfrm>
            <a:off x="457200" y="5596128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normatização de reparos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US$ 273,0 mil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3657600" y="5596128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3281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99872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566928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33984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1040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6809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835152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02208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69264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1036320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110337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6367272" y="5678424"/>
            <a:ext cx="5309616" cy="274320"/>
          </a:xfrm>
          <a:prstGeom prst="roundRect">
            <a:avLst>
              <a:gd name="adj" fmla="val 13333"/>
            </a:avLst>
          </a:prstGeom>
          <a:solidFill>
            <a:srgbClr val="3E5C8A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OPEX, status 'Contar'/'TA', áreas priorizadas. Barra = 1º ao último mês com POB Qtd &gt; 0; sem POB = sem cronograma na base.</a:t>
            </a:r>
            <a:endParaRPr lang="en-US" sz="800" dirty="0"/>
          </a:p>
        </p:txBody>
      </p:sp>
      <p:sp>
        <p:nvSpPr>
          <p:cNvPr id="160" name="Text 158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61" name="Text 159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Gantt · Top 10 OPEX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nas áreas priorizadas (Manutenção, Suporte Técnico, Confiabilidade, Integridade, Naval, Construção, Projetos) · barra = meses com POB lançado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25880"/>
            <a:ext cx="3200400" cy="274320"/>
          </a:xfrm>
          <a:prstGeom prst="rect">
            <a:avLst/>
          </a:prstGeom>
          <a:solidFill>
            <a:srgbClr val="8A5A2E"/>
          </a:solidFill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(TOP 10 OPEX)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325880"/>
            <a:ext cx="670560" cy="274320"/>
          </a:xfrm>
          <a:prstGeom prst="rect">
            <a:avLst/>
          </a:prstGeom>
          <a:solidFill>
            <a:srgbClr val="8A5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328160" y="1325880"/>
            <a:ext cx="670560" cy="274320"/>
          </a:xfrm>
          <a:prstGeom prst="rect">
            <a:avLst/>
          </a:prstGeom>
          <a:solidFill>
            <a:srgbClr val="8A5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998720" y="1325880"/>
            <a:ext cx="670560" cy="274320"/>
          </a:xfrm>
          <a:prstGeom prst="rect">
            <a:avLst/>
          </a:prstGeom>
          <a:solidFill>
            <a:srgbClr val="8A5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1325880"/>
            <a:ext cx="670560" cy="274320"/>
          </a:xfrm>
          <a:prstGeom prst="rect">
            <a:avLst/>
          </a:prstGeom>
          <a:solidFill>
            <a:srgbClr val="8A5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339840" y="1325880"/>
            <a:ext cx="670560" cy="274320"/>
          </a:xfrm>
          <a:prstGeom prst="rect">
            <a:avLst/>
          </a:prstGeom>
          <a:solidFill>
            <a:srgbClr val="8A5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010400" y="1325880"/>
            <a:ext cx="670560" cy="274320"/>
          </a:xfrm>
          <a:prstGeom prst="rect">
            <a:avLst/>
          </a:prstGeom>
          <a:solidFill>
            <a:srgbClr val="8A5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325880"/>
            <a:ext cx="670560" cy="274320"/>
          </a:xfrm>
          <a:prstGeom prst="rect">
            <a:avLst/>
          </a:prstGeom>
          <a:solidFill>
            <a:srgbClr val="8A5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351520" y="1325880"/>
            <a:ext cx="670560" cy="274320"/>
          </a:xfrm>
          <a:prstGeom prst="rect">
            <a:avLst/>
          </a:prstGeom>
          <a:solidFill>
            <a:srgbClr val="8A5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022080" y="1325880"/>
            <a:ext cx="670560" cy="274320"/>
          </a:xfrm>
          <a:prstGeom prst="rect">
            <a:avLst/>
          </a:prstGeom>
          <a:solidFill>
            <a:srgbClr val="8A5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0" y="1325880"/>
            <a:ext cx="670560" cy="274320"/>
          </a:xfrm>
          <a:prstGeom prst="rect">
            <a:avLst/>
          </a:prstGeom>
          <a:solidFill>
            <a:srgbClr val="8A5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363200" y="1325880"/>
            <a:ext cx="670560" cy="274320"/>
          </a:xfrm>
          <a:prstGeom prst="rect">
            <a:avLst/>
          </a:prstGeom>
          <a:solidFill>
            <a:srgbClr val="8A5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033760" y="1325880"/>
            <a:ext cx="670560" cy="274320"/>
          </a:xfrm>
          <a:prstGeom prst="rect">
            <a:avLst/>
          </a:prstGeom>
          <a:solidFill>
            <a:srgbClr val="8A5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1645920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USINA AGGREKO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US$ 2,0 mi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57600" y="1645920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281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9872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3984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1040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809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152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2208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9264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36320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0337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85032" y="1728216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8A5A2E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2084832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 de Material Mecânico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US$ 1,3 mi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657600" y="2084832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281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9872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3984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1040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809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5152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02208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69264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36320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0337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657600" y="2084832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POB informado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57200" y="2523744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Mergulho - Tamponamento da caixa de mar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US$ 1,2 mi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657600" y="2523744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3281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9872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33984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01040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6809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5152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02208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69264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36320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337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685032" y="2606040"/>
            <a:ext cx="1286256" cy="274320"/>
          </a:xfrm>
          <a:prstGeom prst="roundRect">
            <a:avLst>
              <a:gd name="adj" fmla="val 13333"/>
            </a:avLst>
          </a:prstGeom>
          <a:solidFill>
            <a:srgbClr val="8A5A2E"/>
          </a:solidFill>
          <a:ln/>
        </p:spPr>
      </p:sp>
      <p:sp>
        <p:nvSpPr>
          <p:cNvPr id="61" name="Text 59"/>
          <p:cNvSpPr/>
          <p:nvPr/>
        </p:nvSpPr>
        <p:spPr>
          <a:xfrm>
            <a:off x="457200" y="2962656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M5 - Time de Construção - Instalações (Fabric, Constr e Mont.)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US$ 1,1 mi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3657600" y="2962656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3281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99872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66928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33984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01040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6809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35152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02208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69264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36320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10337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355592" y="3044952"/>
            <a:ext cx="7321296" cy="274320"/>
          </a:xfrm>
          <a:prstGeom prst="roundRect">
            <a:avLst>
              <a:gd name="adj" fmla="val 13333"/>
            </a:avLst>
          </a:prstGeom>
          <a:solidFill>
            <a:srgbClr val="8A5A2E"/>
          </a:solidFill>
          <a:ln/>
        </p:spPr>
      </p:sp>
      <p:sp>
        <p:nvSpPr>
          <p:cNvPr id="75" name="Text 73"/>
          <p:cNvSpPr/>
          <p:nvPr/>
        </p:nvSpPr>
        <p:spPr>
          <a:xfrm>
            <a:off x="457200" y="3401568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Dilúvio (FW e FF) - Troca de Tubulações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US$ 1,1 mi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3657600" y="3401568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3281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99872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66928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33984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01040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6809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35152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02208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69264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36320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0337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685032" y="3483864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8A5A2E"/>
          </a:solidFill>
          <a:ln/>
        </p:spPr>
      </p:sp>
      <p:sp>
        <p:nvSpPr>
          <p:cNvPr id="89" name="Text 87"/>
          <p:cNvSpPr/>
          <p:nvPr/>
        </p:nvSpPr>
        <p:spPr>
          <a:xfrm>
            <a:off x="457200" y="3840480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de Sistema de Tubulação - 13 Sistemas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US$ 964,4 mil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3657600" y="3840480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3281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99872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66928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3984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01040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6809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35152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02208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9264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036320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0337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4355592" y="3922776"/>
            <a:ext cx="7321296" cy="274320"/>
          </a:xfrm>
          <a:prstGeom prst="roundRect">
            <a:avLst>
              <a:gd name="adj" fmla="val 13333"/>
            </a:avLst>
          </a:prstGeom>
          <a:solidFill>
            <a:srgbClr val="8A5A2E"/>
          </a:solidFill>
          <a:ln/>
        </p:spPr>
      </p:sp>
      <p:sp>
        <p:nvSpPr>
          <p:cNvPr id="103" name="Text 101"/>
          <p:cNvSpPr/>
          <p:nvPr/>
        </p:nvSpPr>
        <p:spPr>
          <a:xfrm>
            <a:off x="457200" y="4279392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UWILD - Casco e Amarra rasa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US$ 900,0 mil</a:t>
            </a:r>
            <a:endParaRPr lang="en-US" sz="950" dirty="0"/>
          </a:p>
        </p:txBody>
      </p:sp>
      <p:sp>
        <p:nvSpPr>
          <p:cNvPr id="104" name="Shape 102"/>
          <p:cNvSpPr/>
          <p:nvPr/>
        </p:nvSpPr>
        <p:spPr>
          <a:xfrm>
            <a:off x="3657600" y="4279392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43281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99872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66928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33984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01040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6809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5152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02208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69264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1036320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10337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685032" y="4361688"/>
            <a:ext cx="1286256" cy="274320"/>
          </a:xfrm>
          <a:prstGeom prst="roundRect">
            <a:avLst>
              <a:gd name="adj" fmla="val 13333"/>
            </a:avLst>
          </a:prstGeom>
          <a:solidFill>
            <a:srgbClr val="8A5A2E"/>
          </a:solidFill>
          <a:ln/>
        </p:spPr>
      </p:sp>
      <p:sp>
        <p:nvSpPr>
          <p:cNvPr id="117" name="Text 115"/>
          <p:cNvSpPr/>
          <p:nvPr/>
        </p:nvSpPr>
        <p:spPr>
          <a:xfrm>
            <a:off x="457200" y="4718304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 de material Elétrica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US$ 817,4 mil</a:t>
            </a:r>
            <a:endParaRPr lang="en-US" sz="950" dirty="0"/>
          </a:p>
        </p:txBody>
      </p:sp>
      <p:sp>
        <p:nvSpPr>
          <p:cNvPr id="118" name="Shape 116"/>
          <p:cNvSpPr/>
          <p:nvPr/>
        </p:nvSpPr>
        <p:spPr>
          <a:xfrm>
            <a:off x="3657600" y="4718304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43281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99872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566928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33984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1040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6809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835152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902208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969264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036320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10337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3657600" y="4718304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POB informado</a:t>
            </a:r>
            <a:endParaRPr lang="en-US" sz="850" dirty="0"/>
          </a:p>
        </p:txBody>
      </p:sp>
      <p:sp>
        <p:nvSpPr>
          <p:cNvPr id="131" name="Text 129"/>
          <p:cNvSpPr/>
          <p:nvPr/>
        </p:nvSpPr>
        <p:spPr>
          <a:xfrm>
            <a:off x="457200" y="5157216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UWILD - Amarra profunda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US$ 620,0 mil</a:t>
            </a:r>
            <a:endParaRPr lang="en-US" sz="950" dirty="0"/>
          </a:p>
        </p:txBody>
      </p:sp>
      <p:sp>
        <p:nvSpPr>
          <p:cNvPr id="132" name="Shape 130"/>
          <p:cNvSpPr/>
          <p:nvPr/>
        </p:nvSpPr>
        <p:spPr>
          <a:xfrm>
            <a:off x="3657600" y="5157216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43281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499872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66928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633984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701040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76809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835152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02208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969264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1036320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10337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3657600" y="5157216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POB informado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457200" y="5596128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Reparo e Retorno de Itens de Mecânica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US$ 610,5 mil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3657600" y="5596128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3281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99872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566928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33984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1040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6809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835152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02208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69264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1036320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110337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3657600" y="5596128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POB informado</a:t>
            </a:r>
            <a:endParaRPr lang="en-US" sz="850" dirty="0"/>
          </a:p>
        </p:txBody>
      </p:sp>
      <p:sp>
        <p:nvSpPr>
          <p:cNvPr id="159" name="Text 157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OPEX, status 'Contar'/'TA', áreas priorizadas. Barra = 1º ao último mês com POB Qtd &gt; 0; sem POB = sem cronograma na base.</a:t>
            </a:r>
            <a:endParaRPr lang="en-US" sz="800" dirty="0"/>
          </a:p>
        </p:txBody>
      </p:sp>
      <p:sp>
        <p:nvSpPr>
          <p:cNvPr id="160" name="Text 158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61" name="Text 159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Gantt · Top 10 OPEX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nas áreas priorizadas (Manutenção, Suporte Técnico, Confiabilidade, Integridade, Naval, Construção, Projetos) · barra = meses com POB lançado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25880"/>
            <a:ext cx="3200400" cy="274320"/>
          </a:xfrm>
          <a:prstGeom prst="rect">
            <a:avLst/>
          </a:prstGeom>
          <a:solidFill>
            <a:srgbClr val="A67C3D"/>
          </a:solidFill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(TOP 10 OPEX)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325880"/>
            <a:ext cx="670560" cy="274320"/>
          </a:xfrm>
          <a:prstGeom prst="rect">
            <a:avLst/>
          </a:prstGeom>
          <a:solidFill>
            <a:srgbClr val="A67C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328160" y="1325880"/>
            <a:ext cx="670560" cy="274320"/>
          </a:xfrm>
          <a:prstGeom prst="rect">
            <a:avLst/>
          </a:prstGeom>
          <a:solidFill>
            <a:srgbClr val="A67C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998720" y="1325880"/>
            <a:ext cx="670560" cy="274320"/>
          </a:xfrm>
          <a:prstGeom prst="rect">
            <a:avLst/>
          </a:prstGeom>
          <a:solidFill>
            <a:srgbClr val="A67C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1325880"/>
            <a:ext cx="670560" cy="274320"/>
          </a:xfrm>
          <a:prstGeom prst="rect">
            <a:avLst/>
          </a:prstGeom>
          <a:solidFill>
            <a:srgbClr val="A67C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339840" y="1325880"/>
            <a:ext cx="670560" cy="274320"/>
          </a:xfrm>
          <a:prstGeom prst="rect">
            <a:avLst/>
          </a:prstGeom>
          <a:solidFill>
            <a:srgbClr val="A67C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010400" y="1325880"/>
            <a:ext cx="670560" cy="274320"/>
          </a:xfrm>
          <a:prstGeom prst="rect">
            <a:avLst/>
          </a:prstGeom>
          <a:solidFill>
            <a:srgbClr val="A67C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325880"/>
            <a:ext cx="670560" cy="274320"/>
          </a:xfrm>
          <a:prstGeom prst="rect">
            <a:avLst/>
          </a:prstGeom>
          <a:solidFill>
            <a:srgbClr val="A67C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351520" y="1325880"/>
            <a:ext cx="670560" cy="274320"/>
          </a:xfrm>
          <a:prstGeom prst="rect">
            <a:avLst/>
          </a:prstGeom>
          <a:solidFill>
            <a:srgbClr val="A67C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022080" y="1325880"/>
            <a:ext cx="670560" cy="274320"/>
          </a:xfrm>
          <a:prstGeom prst="rect">
            <a:avLst/>
          </a:prstGeom>
          <a:solidFill>
            <a:srgbClr val="A67C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0" y="1325880"/>
            <a:ext cx="670560" cy="274320"/>
          </a:xfrm>
          <a:prstGeom prst="rect">
            <a:avLst/>
          </a:prstGeom>
          <a:solidFill>
            <a:srgbClr val="A67C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363200" y="1325880"/>
            <a:ext cx="670560" cy="274320"/>
          </a:xfrm>
          <a:prstGeom prst="rect">
            <a:avLst/>
          </a:prstGeom>
          <a:solidFill>
            <a:srgbClr val="A67C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033760" y="1325880"/>
            <a:ext cx="670560" cy="274320"/>
          </a:xfrm>
          <a:prstGeom prst="rect">
            <a:avLst/>
          </a:prstGeom>
          <a:solidFill>
            <a:srgbClr val="A67C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1645920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 de Material Mecânico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US$ 960,0 mil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57600" y="1645920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281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9872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3984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1040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809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152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2208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9264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36320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0337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657600" y="1645920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POB informado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57200" y="2084832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 de material Automação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US$ 628,8 mil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657600" y="2084832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281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9872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3984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1040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809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5152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02208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69264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36320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0337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657600" y="2084832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POB informado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57200" y="2523744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M5 - Time de Construção - Instalações (Fabric, Constr e Mont.)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US$ 610,0 mil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657600" y="2523744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3281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9872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33984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01040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6809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5152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02208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69264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36320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337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685032" y="2606040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A67C3D"/>
          </a:solidFill>
          <a:ln/>
        </p:spPr>
      </p:sp>
      <p:sp>
        <p:nvSpPr>
          <p:cNvPr id="61" name="Text 59"/>
          <p:cNvSpPr/>
          <p:nvPr/>
        </p:nvSpPr>
        <p:spPr>
          <a:xfrm>
            <a:off x="457200" y="2962656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Apoio à Manutenção - Time de Construção - Instalações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US$ 600,0 mil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3657600" y="2962656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3281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99872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66928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33984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01040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6809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35152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02208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69264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36320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10337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685032" y="3044952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A67C3D"/>
          </a:solidFill>
          <a:ln/>
        </p:spPr>
      </p:sp>
      <p:sp>
        <p:nvSpPr>
          <p:cNvPr id="75" name="Text 73"/>
          <p:cNvSpPr/>
          <p:nvPr/>
        </p:nvSpPr>
        <p:spPr>
          <a:xfrm>
            <a:off x="457200" y="3401568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normatização de DTPs - WHP Polvo-A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US$ 419,8 mil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3657600" y="3401568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3281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99872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66928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33984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01040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6809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35152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02208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69264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36320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0337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026152" y="3483864"/>
            <a:ext cx="6650736" cy="274320"/>
          </a:xfrm>
          <a:prstGeom prst="roundRect">
            <a:avLst>
              <a:gd name="adj" fmla="val 13333"/>
            </a:avLst>
          </a:prstGeom>
          <a:solidFill>
            <a:srgbClr val="A67C3D"/>
          </a:solidFill>
          <a:ln/>
        </p:spPr>
      </p:sp>
      <p:sp>
        <p:nvSpPr>
          <p:cNvPr id="89" name="Text 87"/>
          <p:cNvSpPr/>
          <p:nvPr/>
        </p:nvSpPr>
        <p:spPr>
          <a:xfrm>
            <a:off x="457200" y="3840480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QUINQUENAL DE GUINDASTE NORTE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US$ 372,5 mil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3657600" y="3840480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3281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99872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66928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3984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01040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6809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35152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02208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9264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036320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0337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037832" y="3922776"/>
            <a:ext cx="615696" cy="274320"/>
          </a:xfrm>
          <a:prstGeom prst="roundRect">
            <a:avLst>
              <a:gd name="adj" fmla="val 13333"/>
            </a:avLst>
          </a:prstGeom>
          <a:solidFill>
            <a:srgbClr val="A67C3D"/>
          </a:solidFill>
          <a:ln/>
        </p:spPr>
      </p:sp>
      <p:sp>
        <p:nvSpPr>
          <p:cNvPr id="103" name="Text 101"/>
          <p:cNvSpPr/>
          <p:nvPr/>
        </p:nvSpPr>
        <p:spPr>
          <a:xfrm>
            <a:off x="457200" y="4279392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QUINQUENAL DE GUINDASTE SUL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US$ 372,5 mil</a:t>
            </a:r>
            <a:endParaRPr lang="en-US" sz="950" dirty="0"/>
          </a:p>
        </p:txBody>
      </p:sp>
      <p:sp>
        <p:nvSpPr>
          <p:cNvPr id="104" name="Shape 102"/>
          <p:cNvSpPr/>
          <p:nvPr/>
        </p:nvSpPr>
        <p:spPr>
          <a:xfrm>
            <a:off x="3657600" y="4279392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43281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99872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66928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33984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01040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6809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5152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02208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69264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1036320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10337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367272" y="4361688"/>
            <a:ext cx="615696" cy="274320"/>
          </a:xfrm>
          <a:prstGeom prst="roundRect">
            <a:avLst>
              <a:gd name="adj" fmla="val 13333"/>
            </a:avLst>
          </a:prstGeom>
          <a:solidFill>
            <a:srgbClr val="A67C3D"/>
          </a:solidFill>
          <a:ln/>
        </p:spPr>
      </p:sp>
      <p:sp>
        <p:nvSpPr>
          <p:cNvPr id="117" name="Text 115"/>
          <p:cNvSpPr/>
          <p:nvPr/>
        </p:nvSpPr>
        <p:spPr>
          <a:xfrm>
            <a:off x="457200" y="4718304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 de material Elétrica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US$ 365,4 mil</a:t>
            </a:r>
            <a:endParaRPr lang="en-US" sz="950" dirty="0"/>
          </a:p>
        </p:txBody>
      </p:sp>
      <p:sp>
        <p:nvSpPr>
          <p:cNvPr id="118" name="Shape 116"/>
          <p:cNvSpPr/>
          <p:nvPr/>
        </p:nvSpPr>
        <p:spPr>
          <a:xfrm>
            <a:off x="3657600" y="4718304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43281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99872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566928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33984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1040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6809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835152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902208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969264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036320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10337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3657600" y="4718304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POB informado</a:t>
            </a:r>
            <a:endParaRPr lang="en-US" sz="850" dirty="0"/>
          </a:p>
        </p:txBody>
      </p:sp>
      <p:sp>
        <p:nvSpPr>
          <p:cNvPr id="131" name="Text 129"/>
          <p:cNvSpPr/>
          <p:nvPr/>
        </p:nvSpPr>
        <p:spPr>
          <a:xfrm>
            <a:off x="457200" y="5157216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M5 - Time de Construção - Pintura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US$ 266,0 mil</a:t>
            </a:r>
            <a:endParaRPr lang="en-US" sz="950" dirty="0"/>
          </a:p>
        </p:txBody>
      </p:sp>
      <p:sp>
        <p:nvSpPr>
          <p:cNvPr id="132" name="Shape 130"/>
          <p:cNvSpPr/>
          <p:nvPr/>
        </p:nvSpPr>
        <p:spPr>
          <a:xfrm>
            <a:off x="3657600" y="5157216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43281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499872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66928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633984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701040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76809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835152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02208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969264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1036320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10337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3685032" y="5239512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A67C3D"/>
          </a:solidFill>
          <a:ln/>
        </p:spPr>
      </p:sp>
      <p:sp>
        <p:nvSpPr>
          <p:cNvPr id="145" name="Text 143"/>
          <p:cNvSpPr/>
          <p:nvPr/>
        </p:nvSpPr>
        <p:spPr>
          <a:xfrm>
            <a:off x="457200" y="5596128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Apoio à Manutenção - Time de Construção - Pintura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US$ 180,0 mil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3657600" y="5596128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3281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99872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566928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33984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1040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6809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835152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02208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69264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1036320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110337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3685032" y="5678424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A67C3D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OPEX, status 'Contar'/'TA', áreas priorizadas. Barra = 1º ao último mês com POB Qtd &gt; 0; sem POB = sem cronograma na base.</a:t>
            </a:r>
            <a:endParaRPr lang="en-US" sz="800" dirty="0"/>
          </a:p>
        </p:txBody>
      </p:sp>
      <p:sp>
        <p:nvSpPr>
          <p:cNvPr id="160" name="Text 158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61" name="Text 159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Gantt · Top 10 OPEX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OPEX nas áreas priorizadas (Manutenção, Suporte Técnico, Confiabilidade, Integridade, Naval, Construção, Projetos) · barra = meses com POB lançado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25880"/>
            <a:ext cx="3200400" cy="274320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(TOP 10 OPEX)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325880"/>
            <a:ext cx="670560" cy="274320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328160" y="1325880"/>
            <a:ext cx="670560" cy="274320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998720" y="1325880"/>
            <a:ext cx="670560" cy="274320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1325880"/>
            <a:ext cx="670560" cy="274320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339840" y="1325880"/>
            <a:ext cx="670560" cy="274320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010400" y="1325880"/>
            <a:ext cx="670560" cy="274320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325880"/>
            <a:ext cx="670560" cy="274320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351520" y="1325880"/>
            <a:ext cx="670560" cy="274320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022080" y="1325880"/>
            <a:ext cx="670560" cy="274320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0" y="1325880"/>
            <a:ext cx="670560" cy="274320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363200" y="1325880"/>
            <a:ext cx="670560" cy="274320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033760" y="1325880"/>
            <a:ext cx="670560" cy="274320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1645920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RTI M5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US$ 2,2 mi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57600" y="1645920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281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9872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3984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1040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809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152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2208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9264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36320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033760" y="164592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85032" y="1728216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7A2E2E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2084832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Preservação - Pintura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US$ 1,4 mi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657600" y="2084832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281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9872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3984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1040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809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5152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02208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69264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36320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033760" y="208483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685032" y="2167128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7A2E2E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2523744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Reparos Definitivos - Compósito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US$ 1,3 mi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657600" y="2523744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3281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9872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33984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01040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6809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5152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02208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69264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36320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33760" y="252374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685032" y="2606040"/>
            <a:ext cx="7321296" cy="274320"/>
          </a:xfrm>
          <a:prstGeom prst="roundRect">
            <a:avLst>
              <a:gd name="adj" fmla="val 13333"/>
            </a:avLst>
          </a:prstGeom>
          <a:solidFill>
            <a:srgbClr val="7A2E2E"/>
          </a:solidFill>
          <a:ln/>
        </p:spPr>
      </p:sp>
      <p:sp>
        <p:nvSpPr>
          <p:cNvPr id="61" name="Text 59"/>
          <p:cNvSpPr/>
          <p:nvPr/>
        </p:nvSpPr>
        <p:spPr>
          <a:xfrm>
            <a:off x="457200" y="2962656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Preservação de Costado - Pintura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US$ 1,1 mi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3657600" y="2962656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3281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99872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66928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33984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01040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6809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35152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02208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69264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36320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1033760" y="296265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685032" y="3044952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7A2E2E"/>
          </a:solidFill>
          <a:ln/>
        </p:spPr>
      </p:sp>
      <p:sp>
        <p:nvSpPr>
          <p:cNvPr id="75" name="Text 73"/>
          <p:cNvSpPr/>
          <p:nvPr/>
        </p:nvSpPr>
        <p:spPr>
          <a:xfrm>
            <a:off x="457200" y="3401568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OSs CORRETIVAS - 307 Oss COM PEDIDO E VALOR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US$ 848,4 mil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3657600" y="3401568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3281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99872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66928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33984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01040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6809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35152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02208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69264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36320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033760" y="340156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3657600" y="3401568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POB informado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457200" y="3840480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CUI - Remoção, inspeção e Reinstalação do Isolamento térmico de 26 vasos.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US$ 576,0 mil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3657600" y="3840480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3281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99872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66928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3984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01040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6809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35152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02208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9264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036320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033760" y="3840480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708392" y="3922776"/>
            <a:ext cx="3968496" cy="274320"/>
          </a:xfrm>
          <a:prstGeom prst="roundRect">
            <a:avLst>
              <a:gd name="adj" fmla="val 13333"/>
            </a:avLst>
          </a:prstGeom>
          <a:solidFill>
            <a:srgbClr val="7A2E2E"/>
          </a:solidFill>
          <a:ln/>
        </p:spPr>
      </p:sp>
      <p:sp>
        <p:nvSpPr>
          <p:cNvPr id="103" name="Text 101"/>
          <p:cNvSpPr/>
          <p:nvPr/>
        </p:nvSpPr>
        <p:spPr>
          <a:xfrm>
            <a:off x="457200" y="4279392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FPSO FRADE 2027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US$ 550,0 mil</a:t>
            </a:r>
            <a:endParaRPr lang="en-US" sz="950" dirty="0"/>
          </a:p>
        </p:txBody>
      </p:sp>
      <p:sp>
        <p:nvSpPr>
          <p:cNvPr id="104" name="Shape 102"/>
          <p:cNvSpPr/>
          <p:nvPr/>
        </p:nvSpPr>
        <p:spPr>
          <a:xfrm>
            <a:off x="3657600" y="4279392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43281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99872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66928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33984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01040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6809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5152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02208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69264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1036320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1033760" y="4279392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720072" y="4361688"/>
            <a:ext cx="1956816" cy="274320"/>
          </a:xfrm>
          <a:prstGeom prst="roundRect">
            <a:avLst>
              <a:gd name="adj" fmla="val 13333"/>
            </a:avLst>
          </a:prstGeom>
          <a:solidFill>
            <a:srgbClr val="7A2E2E"/>
          </a:solidFill>
          <a:ln/>
        </p:spPr>
      </p:sp>
      <p:sp>
        <p:nvSpPr>
          <p:cNvPr id="117" name="Text 115"/>
          <p:cNvSpPr/>
          <p:nvPr/>
        </p:nvSpPr>
        <p:spPr>
          <a:xfrm>
            <a:off x="457200" y="4718304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NR-10 INSPEÇÃO - PREVENTIVA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US$ 547,8 mil</a:t>
            </a:r>
            <a:endParaRPr lang="en-US" sz="950" dirty="0"/>
          </a:p>
        </p:txBody>
      </p:sp>
      <p:sp>
        <p:nvSpPr>
          <p:cNvPr id="118" name="Shape 116"/>
          <p:cNvSpPr/>
          <p:nvPr/>
        </p:nvSpPr>
        <p:spPr>
          <a:xfrm>
            <a:off x="3657600" y="4718304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43281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99872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566928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33984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1040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6809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835152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902208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969264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036320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1033760" y="4718304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3685032" y="4800600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7A2E2E"/>
          </a:solidFill>
          <a:ln/>
        </p:spPr>
      </p:sp>
      <p:sp>
        <p:nvSpPr>
          <p:cNvPr id="131" name="Text 129"/>
          <p:cNvSpPr/>
          <p:nvPr/>
        </p:nvSpPr>
        <p:spPr>
          <a:xfrm>
            <a:off x="457200" y="5157216"/>
            <a:ext cx="32004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RTI - Andaime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US$ 505,5 mil</a:t>
            </a:r>
            <a:endParaRPr lang="en-US" sz="950" dirty="0"/>
          </a:p>
        </p:txBody>
      </p:sp>
      <p:sp>
        <p:nvSpPr>
          <p:cNvPr id="132" name="Shape 130"/>
          <p:cNvSpPr/>
          <p:nvPr/>
        </p:nvSpPr>
        <p:spPr>
          <a:xfrm>
            <a:off x="3657600" y="5157216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43281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499872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66928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633984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701040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76809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835152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02208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969264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1036320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1033760" y="5157216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3685032" y="5239512"/>
            <a:ext cx="7991856" cy="274320"/>
          </a:xfrm>
          <a:prstGeom prst="roundRect">
            <a:avLst>
              <a:gd name="adj" fmla="val 13333"/>
            </a:avLst>
          </a:prstGeom>
          <a:solidFill>
            <a:srgbClr val="7A2E2E"/>
          </a:solidFill>
          <a:ln/>
        </p:spPr>
      </p:sp>
      <p:sp>
        <p:nvSpPr>
          <p:cNvPr id="145" name="Text 143"/>
          <p:cNvSpPr/>
          <p:nvPr/>
        </p:nvSpPr>
        <p:spPr>
          <a:xfrm>
            <a:off x="457200" y="5596128"/>
            <a:ext cx="3200400" cy="438912"/>
          </a:xfrm>
          <a:prstGeom prst="rect">
            <a:avLst/>
          </a:prstGeom>
          <a:solidFill>
            <a:srgbClr val="F0F4F5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ESTUDOS DE REASSESSMENT - TANQUES E LIFTING PLAN</a:t>
            </a:r>
            <a:pPr indent="0" marL="0">
              <a:buNone/>
            </a:pPr>
            <a:r>
              <a:rPr lang="en-US" sz="9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US$ 375,0 mil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3657600" y="5596128"/>
            <a:ext cx="8046720" cy="438912"/>
          </a:xfrm>
          <a:prstGeom prst="rect">
            <a:avLst/>
          </a:prstGeom>
          <a:solidFill>
            <a:srgbClr val="F0F4F5"/>
          </a:solidFill>
          <a:ln w="6350">
            <a:solidFill>
              <a:srgbClr val="E3E8E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3281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99872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566928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33984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1040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6809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835152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02208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69264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1036320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11033760" y="5596128"/>
            <a:ext cx="0" cy="438912"/>
          </a:xfrm>
          <a:prstGeom prst="line">
            <a:avLst/>
          </a:prstGeom>
          <a:noFill/>
          <a:ln w="6350">
            <a:solidFill>
              <a:srgbClr val="E3E8E9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3657600" y="5596128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POB informado</a:t>
            </a:r>
            <a:endParaRPr lang="en-US" sz="850" dirty="0"/>
          </a:p>
        </p:txBody>
      </p:sp>
      <p:sp>
        <p:nvSpPr>
          <p:cNvPr id="159" name="Text 157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OPEX, status 'Contar'/'TA', áreas priorizadas. Barra = 1º ao último mês com POB Qtd &gt; 0; sem POB = sem cronograma na base.</a:t>
            </a:r>
            <a:endParaRPr lang="en-US" sz="800" dirty="0"/>
          </a:p>
        </p:txBody>
      </p:sp>
      <p:sp>
        <p:nvSpPr>
          <p:cNvPr id="160" name="Text 158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61" name="Text 159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2026-10-06T18:24:51Z</dcterms:created>
  <dcterms:modified xsi:type="dcterms:W3CDTF">2026-10-06T18:24:51Z</dcterms:modified>
</cp:coreProperties>
</file>